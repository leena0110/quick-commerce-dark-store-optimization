
<file path=[Content_Types].xml><?xml version="1.0" encoding="utf-8"?>
<Types xmlns="http://schemas.openxmlformats.org/package/2006/content-types">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officeDocument/2006/relationships/extended-properties" Target="docProps/app.xml"/><Relationship Id="rId2" Type="http://schemas.openxmlformats.org/package/2006/relationships/metadata/core-properties" Target="docProps/core.xml"/><Relationship Id="rId1"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p="http://schemas.openxmlformats.org/presentationml/2006/main">
  <p:sldMasterIdLst>
    <p:sldMasterId id="2147483648" r:id="rId1"/>
  </p:sldMasterIdLst>
  <p:notesMasterIdLst>
    <p:notesMasterId r:id="rId19"/>
  </p:notesMasterIdLst>
  <p:sldIdLst>
    <p:sldId id="256" r:id="rId2"/>
    <p:sldId id="257" r:id="rId3"/>
    <p:sldId id="258" r:id="rId4"/>
    <p:sldId id="259" r:id="rId5"/>
    <p:sldId id="260" r:id="rId6"/>
    <p:sldId id="261" r:id="rId7"/>
    <p:sldId id="262" r:id="rId8"/>
    <p:sldId id="263" r:id="rId9"/>
    <p:sldId id="264" r:id="rId10"/>
    <p:sldId id="265" r:id="rId11"/>
    <p:sldId id="266" r:id="rId12"/>
    <p:sldId id="267" r:id="rId13"/>
    <p:sldId id="268" r:id="rId14"/>
    <p:sldId id="269" r:id="rId15"/>
    <p:sldId id="270" r:id="rId16"/>
    <p:sldId id="271" r:id="rId17"/>
    <p:sldId id="272" r:id="rId18"/>
  </p:sldIdLst>
  <p:sldSz cx="12192000" cy="6858000"/>
  <p:notesSz cx="6858000" cy="9144000"/>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p:restoredLeft sz="15620"/>
    <p:restoredTop sz="94660"/>
  </p:normalViewPr>
  <p:slideViewPr>
    <p:cSldViewPr snapToGrid="0">
      <p:cViewPr varScale="1">
        <p:scale>
          <a:sx n="75" d="100"/>
          <a:sy n="75" d="100"/>
        </p:scale>
        <p:origin x="946" y="58"/>
      </p:cViewPr>
      <p:guideLst/>
    </p:cSldViewPr>
  </p:slideViewPr>
  <p:notesTextViewPr>
    <p:cViewPr>
      <p:scale>
        <a:sx n="1" d="1"/>
        <a:sy n="1" d="1"/>
      </p:scale>
      <p:origin x="0" y="0"/>
    </p:cViewPr>
  </p:notesTextViewPr>
  <p:gridSpacing cx="72008" cy="72008"/>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slide" Target="slides/slide12.xml"/><Relationship Id="rId18" Type="http://schemas.openxmlformats.org/officeDocument/2006/relationships/slide" Target="slides/slide17.xml"/><Relationship Id="rId3" Type="http://schemas.openxmlformats.org/officeDocument/2006/relationships/slide" Target="slides/slide2.xml"/><Relationship Id="rId21" Type="http://schemas.openxmlformats.org/officeDocument/2006/relationships/viewProps" Target="viewProps.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slide" Target="slides/slide16.xml"/><Relationship Id="rId2" Type="http://schemas.openxmlformats.org/officeDocument/2006/relationships/slide" Target="slides/slide1.xml"/><Relationship Id="rId16" Type="http://schemas.openxmlformats.org/officeDocument/2006/relationships/slide" Target="slides/slide15.xml"/><Relationship Id="rId20" Type="http://schemas.openxmlformats.org/officeDocument/2006/relationships/presProps" Target="presProps.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5" Type="http://schemas.openxmlformats.org/officeDocument/2006/relationships/slide" Target="slides/slide4.xml"/><Relationship Id="rId15" Type="http://schemas.openxmlformats.org/officeDocument/2006/relationships/slide" Target="slides/slide14.xml"/><Relationship Id="rId23" Type="http://schemas.openxmlformats.org/officeDocument/2006/relationships/tableStyles" Target="tableStyles.xml"/><Relationship Id="rId10" Type="http://schemas.openxmlformats.org/officeDocument/2006/relationships/slide" Target="slides/slide9.xml"/><Relationship Id="rId19" Type="http://schemas.openxmlformats.org/officeDocument/2006/relationships/notesMaster" Target="notesMasters/notesMaster1.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theme" Target="theme/theme1.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p:cNvSpPr>
            <a:spLocks noGrp="1"/>
          </p:cNvSpPr>
          <p:nvPr>
            <p:ph type="hdr" sz="quarter"/>
          </p:nvPr>
        </p:nvSpPr>
        <p:spPr>
          <a:prstGeom prst="rect">
            <a:avLst/>
          </a:prstGeom>
        </p:spPr>
        <p:txBody>
          <a:bodyPr/>
          <a:lstStyle/>
          <a:p>
            <a:endParaRPr/>
          </a:p>
        </p:txBody>
      </p:sp>
      <p:sp>
        <p:nvSpPr>
          <p:cNvPr id="3" name="Date Placeholder"/>
          <p:cNvSpPr>
            <a:spLocks noGrp="1"/>
          </p:cNvSpPr>
          <p:nvPr>
            <p:ph type="dt" sz="quarter" idx="1"/>
          </p:nvPr>
        </p:nvSpPr>
        <p:spPr>
          <a:prstGeom prst="rect">
            <a:avLst/>
          </a:prstGeom>
        </p:spPr>
        <p:txBody>
          <a:bodyPr/>
          <a:lstStyle/>
          <a:p>
            <a:endParaRPr/>
          </a:p>
        </p:txBody>
      </p:sp>
      <p:sp>
        <p:nvSpPr>
          <p:cNvPr id="4" name="Slide Image Placeholder"/>
          <p:cNvSpPr>
            <a:spLocks noGrp="1" noRot="1" noChangeAspect="1"/>
          </p:cNvSpPr>
          <p:nvPr>
            <p:ph type="sldImg" idx="2"/>
          </p:nvPr>
        </p:nvSpPr>
        <p:spPr>
          <a:prstGeom prst="rect">
            <a:avLst/>
          </a:prstGeom>
        </p:spPr>
        <p:txBody>
          <a:bodyPr/>
          <a:lstStyle/>
          <a:p>
            <a:endParaRPr/>
          </a:p>
        </p:txBody>
      </p:sp>
      <p:sp>
        <p:nvSpPr>
          <p:cNvPr id="5" name="Notes Placeholder"/>
          <p:cNvSpPr>
            <a:spLocks noGrp="1"/>
          </p:cNvSpPr>
          <p:nvPr>
            <p:ph type="body" sz="quarter" idx="3"/>
          </p:nvPr>
        </p:nvSpPr>
        <p:spPr>
          <a:prstGeom prst="rect">
            <a:avLst/>
          </a:prstGeom>
        </p:spPr>
        <p:txBody>
          <a:bodyPr/>
          <a:lstStyle/>
          <a:p>
            <a:endParaRPr/>
          </a:p>
        </p:txBody>
      </p:sp>
      <p:sp>
        <p:nvSpPr>
          <p:cNvPr id="6" name="Footer Placeholder"/>
          <p:cNvSpPr>
            <a:spLocks noGrp="1"/>
          </p:cNvSpPr>
          <p:nvPr>
            <p:ph type="ftr" sz="quarter" idx="4"/>
          </p:nvPr>
        </p:nvSpPr>
        <p:spPr>
          <a:prstGeom prst="rect">
            <a:avLst/>
          </a:prstGeom>
        </p:spPr>
        <p:txBody>
          <a:bodyPr/>
          <a:lstStyle/>
          <a:p>
            <a:endParaRPr/>
          </a:p>
        </p:txBody>
      </p:sp>
      <p:sp>
        <p:nvSpPr>
          <p:cNvPr id="7" name="Slide Number Placeholder"/>
          <p:cNvSpPr>
            <a:spLocks noGrp="1"/>
          </p:cNvSpPr>
          <p:nvPr>
            <p:ph type="sldNum" sz="quarter" idx="5"/>
          </p:nvPr>
        </p:nvSpPr>
        <p:spPr>
          <a:prstGeom prst="rect">
            <a:avLst/>
          </a:prstGeom>
        </p:spPr>
        <p:txBody>
          <a:bodyPr/>
          <a:lstStyle/>
          <a:p>
            <a:endParaRPr/>
          </a:p>
        </p:txBody>
      </p:sp>
    </p:spTree>
  </p:cSld>
  <p:clrMap bg1="lt1" tx1="dk1" bg2="lt2" tx2="dk2" accent1="accent1" accent2="accent2" accent3="accent3" accent4="accent4" accent5="accent5" accent6="accent6" hlink="hlink" folHlink="folHlink"/>
  <p:notesStyle>
    <a:lvl1pPr marL="0" algn="l" defTabSz="914400" rtl="0" eaLnBrk="1" latinLnBrk="0" hangingPunct="1">
      <a:defRPr sz="1200" kern="1200"/>
    </a:lvl1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10.xml"/><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2" Type="http://schemas.openxmlformats.org/officeDocument/2006/relationships/slide" Target="../slides/slide11.xml"/><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2" Type="http://schemas.openxmlformats.org/officeDocument/2006/relationships/slide" Target="../slides/slide12.xml"/><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2" Type="http://schemas.openxmlformats.org/officeDocument/2006/relationships/slide" Target="../slides/slide13.xml"/><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2" Type="http://schemas.openxmlformats.org/officeDocument/2006/relationships/slide" Target="../slides/slide14.xml"/><Relationship Id="rId1" Type="http://schemas.openxmlformats.org/officeDocument/2006/relationships/notesMaster" Target="../notesMasters/notesMaster1.xml"/></Relationships>
</file>

<file path=ppt/notesSlides/_rels/notesSlide15.xml.rels><?xml version="1.0" encoding="UTF-8" standalone="yes"?>
<Relationships xmlns="http://schemas.openxmlformats.org/package/2006/relationships"><Relationship Id="rId2" Type="http://schemas.openxmlformats.org/officeDocument/2006/relationships/slide" Target="../slides/slide15.xml"/><Relationship Id="rId1" Type="http://schemas.openxmlformats.org/officeDocument/2006/relationships/notesMaster" Target="../notesMasters/notesMaster1.xml"/></Relationships>
</file>

<file path=ppt/notesSlides/_rels/notesSlide16.xml.rels><?xml version="1.0" encoding="UTF-8" standalone="yes"?>
<Relationships xmlns="http://schemas.openxmlformats.org/package/2006/relationships"><Relationship Id="rId2" Type="http://schemas.openxmlformats.org/officeDocument/2006/relationships/slide" Target="../slides/slide16.xml"/><Relationship Id="rId1" Type="http://schemas.openxmlformats.org/officeDocument/2006/relationships/notesMaster" Target="../notesMasters/notesMaster1.xml"/></Relationships>
</file>

<file path=ppt/notesSlides/_rels/notesSlide17.xml.rels><?xml version="1.0" encoding="UTF-8" standalone="yes"?>
<Relationships xmlns="http://schemas.openxmlformats.org/package/2006/relationships"><Relationship Id="rId2" Type="http://schemas.openxmlformats.org/officeDocument/2006/relationships/slide" Target="../slides/slide17.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Suggested time: 20 seconds. Replace bracketed prompts with your project evidence. Present actual results only. Target 15 minutes including the live demonstration. Cover the whole project. Review 2 assessment primarily focuses on two Unit 3 methods.</a:t>
            </a:r>
          </a:p>
        </p:txBody>
      </p:sp>
      <p:sp>
        <p:nvSpPr>
          <p:cNvPr id="4" name="Slide Number Placeholder 3"/>
          <p:cNvSpPr>
            <a:spLocks noGrp="1"/>
          </p:cNvSpPr>
          <p:nvPr>
            <p:ph type="sldNum" idx="5"/>
          </p:nvPr>
        </p:nvSpPr>
        <p:spPr/>
        <p:txBody>
          <a:bodyPr/>
          <a:lstStyle/>
          <a:p>
            <a:endParaRPr/>
          </a:p>
        </p:txBody>
      </p:sp>
    </p:spTree>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Suggested time: 40 seconds. Replace bracketed prompts with your project evidence. Present actual results only.</a:t>
            </a:r>
          </a:p>
        </p:txBody>
      </p:sp>
      <p:sp>
        <p:nvSpPr>
          <p:cNvPr id="4" name="Slide Number Placeholder 3"/>
          <p:cNvSpPr>
            <a:spLocks noGrp="1"/>
          </p:cNvSpPr>
          <p:nvPr>
            <p:ph type="sldNum" idx="5"/>
          </p:nvPr>
        </p:nvSpPr>
        <p:spPr/>
        <p:txBody>
          <a:bodyPr/>
          <a:lstStyle/>
          <a:p>
            <a:endParaRPr/>
          </a:p>
        </p:txBody>
      </p:sp>
    </p:spTree>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Suggested time: 30 seconds. Replace bracketed prompts with your project evidence. Present actual results only.</a:t>
            </a:r>
          </a:p>
        </p:txBody>
      </p:sp>
      <p:sp>
        <p:nvSpPr>
          <p:cNvPr id="4" name="Slide Number Placeholder 3"/>
          <p:cNvSpPr>
            <a:spLocks noGrp="1"/>
          </p:cNvSpPr>
          <p:nvPr>
            <p:ph type="sldNum" idx="5"/>
          </p:nvPr>
        </p:nvSpPr>
        <p:spPr/>
        <p:txBody>
          <a:bodyPr/>
          <a:lstStyle/>
          <a:p>
            <a:endParaRPr/>
          </a:p>
        </p:txBody>
      </p:sp>
    </p:spTree>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Suggested time: 45 seconds. Replace bracketed prompts with your project evidence. Present actual results only. Document original collection or generation. Pre-built datasets from Kaggle, UCI, GitHub or similar repositories are not permitted under the project requirements.</a:t>
            </a:r>
          </a:p>
        </p:txBody>
      </p:sp>
      <p:sp>
        <p:nvSpPr>
          <p:cNvPr id="4" name="Slide Number Placeholder 3"/>
          <p:cNvSpPr>
            <a:spLocks noGrp="1"/>
          </p:cNvSpPr>
          <p:nvPr>
            <p:ph type="sldNum" idx="5"/>
          </p:nvPr>
        </p:nvSpPr>
        <p:spPr/>
        <p:txBody>
          <a:bodyPr/>
          <a:lstStyle/>
          <a:p>
            <a:endParaRPr/>
          </a:p>
        </p:txBody>
      </p:sp>
    </p:spTree>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Suggested time: 35 seconds. Replace bracketed prompts with your project evidence. Present actual results only.</a:t>
            </a:r>
          </a:p>
        </p:txBody>
      </p:sp>
      <p:sp>
        <p:nvSpPr>
          <p:cNvPr id="4" name="Slide Number Placeholder 3"/>
          <p:cNvSpPr>
            <a:spLocks noGrp="1"/>
          </p:cNvSpPr>
          <p:nvPr>
            <p:ph type="sldNum" idx="5"/>
          </p:nvPr>
        </p:nvSpPr>
        <p:spPr/>
        <p:txBody>
          <a:bodyPr/>
          <a:lstStyle/>
          <a:p>
            <a:endParaRPr/>
          </a:p>
        </p:txBody>
      </p:sp>
    </p:spTree>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Suggested time: 45 seconds. Replace bracketed prompts with your project evidence. Present actual results only.</a:t>
            </a:r>
          </a:p>
        </p:txBody>
      </p:sp>
      <p:sp>
        <p:nvSpPr>
          <p:cNvPr id="4" name="Slide Number Placeholder 3"/>
          <p:cNvSpPr>
            <a:spLocks noGrp="1"/>
          </p:cNvSpPr>
          <p:nvPr>
            <p:ph type="sldNum" idx="5"/>
          </p:nvPr>
        </p:nvSpPr>
        <p:spPr/>
        <p:txBody>
          <a:bodyPr/>
          <a:lstStyle/>
          <a:p>
            <a:endParaRPr/>
          </a:p>
        </p:txBody>
      </p:sp>
    </p:spTree>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Suggested time: 55 seconds. Replace bracketed prompts with your project evidence. Present actual results only. Replace the chart prompt with actual charts. Explain what changed after preprocessing and connect findings to the business objective.</a:t>
            </a:r>
          </a:p>
        </p:txBody>
      </p:sp>
      <p:sp>
        <p:nvSpPr>
          <p:cNvPr id="4" name="Slide Number Placeholder 3"/>
          <p:cNvSpPr>
            <a:spLocks noGrp="1"/>
          </p:cNvSpPr>
          <p:nvPr>
            <p:ph type="sldNum" idx="5"/>
          </p:nvPr>
        </p:nvSpPr>
        <p:spPr/>
        <p:txBody>
          <a:bodyPr/>
          <a:lstStyle/>
          <a:p>
            <a:endParaRPr/>
          </a:p>
        </p:txBody>
      </p:sp>
    </p:spTree>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Suggested time: 65 seconds. Replace bracketed prompts with your project evidence. Present actual results only. Evaluate predictive models on held-out records from the final validated project dataset. Fit preprocessing only on training data. Compare models on the same test records. Choose task-appropriate metrics.</a:t>
            </a:r>
          </a:p>
        </p:txBody>
      </p:sp>
      <p:sp>
        <p:nvSpPr>
          <p:cNvPr id="4" name="Slide Number Placeholder 3"/>
          <p:cNvSpPr>
            <a:spLocks noGrp="1"/>
          </p:cNvSpPr>
          <p:nvPr>
            <p:ph type="sldNum" idx="5"/>
          </p:nvPr>
        </p:nvSpPr>
        <p:spPr/>
        <p:txBody>
          <a:bodyPr/>
          <a:lstStyle/>
          <a:p>
            <a:endParaRPr/>
          </a:p>
        </p:txBody>
      </p:sp>
    </p:spTree>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Suggested time: 30 seconds. Replace bracketed prompts with your project evidence. Present actual results only.</a:t>
            </a:r>
          </a:p>
        </p:txBody>
      </p:sp>
      <p:sp>
        <p:nvSpPr>
          <p:cNvPr id="4" name="Slide Number Placeholder 3"/>
          <p:cNvSpPr>
            <a:spLocks noGrp="1"/>
          </p:cNvSpPr>
          <p:nvPr>
            <p:ph type="sldNum" idx="5"/>
          </p:nvPr>
        </p:nvSpPr>
        <p:spPr/>
        <p:txBody>
          <a:bodyPr/>
          <a:lstStyle/>
          <a:p>
            <a:endParaRPr/>
          </a:p>
        </p:txBody>
      </p:sp>
    </p:spTree>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Suggested time: 45 seconds. Replace bracketed prompts with your project evidence. Present actual results only. For time series, explain frequency and time split. For text, explain cleaning and representation. For association rules, explain transactions and thresholds.</a:t>
            </a:r>
          </a:p>
        </p:txBody>
      </p:sp>
      <p:sp>
        <p:nvSpPr>
          <p:cNvPr id="4" name="Slide Number Placeholder 3"/>
          <p:cNvSpPr>
            <a:spLocks noGrp="1"/>
          </p:cNvSpPr>
          <p:nvPr>
            <p:ph type="sldNum" idx="5"/>
          </p:nvPr>
        </p:nvSpPr>
        <p:spPr/>
        <p:txBody>
          <a:bodyPr/>
          <a:lstStyle/>
          <a:p>
            <a:endParaRPr/>
          </a:p>
        </p:txBody>
      </p:sp>
    </p:spTree>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Suggested time: 65 seconds. Replace bracketed prompts with your project evidence. Present actual results only. Compare alternatives within the same task using consistent data and conditions. Forecasting: MAE / RMSE on future held-out periods. Text classification: precision, recall, F1 and confusion matrix on test messages. Association rules: support, confidence and lift on final transaction data. Explain any threshold comparison. Do not compare unrelated tasks directly.</a:t>
            </a:r>
          </a:p>
        </p:txBody>
      </p:sp>
      <p:sp>
        <p:nvSpPr>
          <p:cNvPr id="4" name="Slide Number Placeholder 3"/>
          <p:cNvSpPr>
            <a:spLocks noGrp="1"/>
          </p:cNvSpPr>
          <p:nvPr>
            <p:ph type="sldNum" idx="5"/>
          </p:nvPr>
        </p:nvSpPr>
        <p:spPr/>
        <p:txBody>
          <a:bodyPr/>
          <a:lstStyle/>
          <a:p>
            <a:endParaRPr/>
          </a:p>
        </p:txBody>
      </p:sp>
    </p:spTree>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Suggested time: 45 seconds. Replace bracketed prompts with your project evidence. Present actual results only. For time series, explain frequency and time split. For text, explain cleaning and representation. For association rules, explain transactions and thresholds.</a:t>
            </a:r>
          </a:p>
        </p:txBody>
      </p:sp>
      <p:sp>
        <p:nvSpPr>
          <p:cNvPr id="4" name="Slide Number Placeholder 3"/>
          <p:cNvSpPr>
            <a:spLocks noGrp="1"/>
          </p:cNvSpPr>
          <p:nvPr>
            <p:ph type="sldNum" idx="5"/>
          </p:nvPr>
        </p:nvSpPr>
        <p:spPr/>
        <p:txBody>
          <a:bodyPr/>
          <a:lstStyle/>
          <a:p>
            <a:endParaRPr/>
          </a:p>
        </p:txBody>
      </p:sp>
    </p:spTree>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Suggested time: 65 seconds. Replace bracketed prompts with your project evidence. Present actual results only. Compare alternatives within the same task using consistent data and conditions. Forecasting: MAE / RMSE on future held-out periods. Text classification: precision, recall, F1 and confusion matrix on test messages. Association rules: support, confidence and lift on final transaction data. Explain any threshold comparison. Do not compare unrelated tasks directly.</a:t>
            </a:r>
          </a:p>
        </p:txBody>
      </p:sp>
      <p:sp>
        <p:nvSpPr>
          <p:cNvPr id="4" name="Slide Number Placeholder 3"/>
          <p:cNvSpPr>
            <a:spLocks noGrp="1"/>
          </p:cNvSpPr>
          <p:nvPr>
            <p:ph type="sldNum" idx="5"/>
          </p:nvPr>
        </p:nvSpPr>
        <p:spPr/>
        <p:txBody>
          <a:bodyPr/>
          <a:lstStyle/>
          <a:p>
            <a:endParaRPr/>
          </a:p>
        </p:txBody>
      </p:sp>
    </p:spTree>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Suggested time: 55 seconds. Replace bracketed prompts with your project evidence. Present actual results only.</a:t>
            </a:r>
          </a:p>
        </p:txBody>
      </p:sp>
      <p:sp>
        <p:nvSpPr>
          <p:cNvPr id="4" name="Slide Number Placeholder 3"/>
          <p:cNvSpPr>
            <a:spLocks noGrp="1"/>
          </p:cNvSpPr>
          <p:nvPr>
            <p:ph type="sldNum" idx="5"/>
          </p:nvPr>
        </p:nvSpPr>
        <p:spPr/>
        <p:txBody>
          <a:bodyPr/>
          <a:lstStyle/>
          <a:p>
            <a:endParaRPr/>
          </a:p>
        </p:txBody>
      </p:sp>
    </p:spTree>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Suggested time: 120 seconds. Replace bracketed prompts with your project evidence. Present actual results only. Switch to the working application. Demonstrate meaningful interaction using the final project data and results. Show relevant findings from the complete project. A screenshot supports the presentation but does not replace the live demonstration. Test the application before the panel.</a:t>
            </a:r>
          </a:p>
        </p:txBody>
      </p:sp>
      <p:sp>
        <p:nvSpPr>
          <p:cNvPr id="4" name="Slide Number Placeholder 3"/>
          <p:cNvSpPr>
            <a:spLocks noGrp="1"/>
          </p:cNvSpPr>
          <p:nvPr>
            <p:ph type="sldNum" idx="5"/>
          </p:nvPr>
        </p:nvSpPr>
        <p:spPr/>
        <p:txBody>
          <a:bodyPr/>
          <a:lstStyle/>
          <a:p>
            <a:endParaRPr/>
          </a:p>
        </p:txBody>
      </p:sp>
    </p:spTree>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Suggested time: 45 seconds. Replace bracketed prompts with your project evidence. Present actual results only. Delete the fifth member row for a four-member team. Confirm all Units 1–3 components, final evaluation and interactive application are complete. Use activity history and task evidence to support individual contribution.</a:t>
            </a:r>
          </a:p>
        </p:txBody>
      </p:sp>
      <p:sp>
        <p:nvSpPr>
          <p:cNvPr id="4" name="Slide Number Placeholder 3"/>
          <p:cNvSpPr>
            <a:spLocks noGrp="1"/>
          </p:cNvSpPr>
          <p:nvPr>
            <p:ph type="sldNum" idx="5"/>
          </p:nvPr>
        </p:nvSpPr>
        <p:spPr/>
        <p:txBody>
          <a:bodyPr/>
          <a:lstStyle/>
          <a:p>
            <a:endParaRPr/>
          </a:p>
        </p:txBody>
      </p:sp>
    </p:spTree>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Suggested time: 40 seconds. Replace bracketed prompts with your project evidence. Present actual results only. Core implementation must be complete. Future scope should describe extensions, not unfinished mandatory components. Keep detailed references, additional charts and code explanations in optional backup slides. Reserve panel questions for after the presentation.</a:t>
            </a:r>
          </a:p>
        </p:txBody>
      </p:sp>
      <p:sp>
        <p:nvSpPr>
          <p:cNvPr id="4" name="Slide Number Placeholder 3"/>
          <p:cNvSpPr>
            <a:spLocks noGrp="1"/>
          </p:cNvSpPr>
          <p:nvPr>
            <p:ph type="sldNum" idx="5"/>
          </p:nvPr>
        </p:nvSpPr>
        <p:spPr/>
        <p:txBody>
          <a:bodyPr/>
          <a:lstStyle/>
          <a:p>
            <a:endParaRPr/>
          </a:p>
        </p:txBody>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cSld name="Title Slide">
    <p:spTree>
      <p:nvGrpSpPr>
        <p:cNvPr id="1" name=""/>
        <p:cNvGrpSpPr/>
        <p:nvPr/>
      </p:nvGrpSpPr>
      <p:grpSpPr>
        <a:xfrm>
          <a:off x="0" y="0"/>
          <a:ext cx="0" cy="0"/>
          <a:chOff x="0" y="0"/>
          <a:chExt cx="0" cy="0"/>
        </a:xfrm>
      </p:grpSpPr>
      <p:sp>
        <p:nvSpPr>
          <p:cNvPr id="3" name="Title">
            <a:extLst>
              <a:ext uri="{FF2B5EF4-FFF2-40B4-BE49-F238E27FC236}">
                <a16:creationId xmlns:a16="http://schemas.microsoft.com/office/drawing/2014/main" id="{F3C7C01F-B57D-44F3-8FAC-15DC9FB8E3B0}"/>
              </a:ext>
            </a:extLst>
          </p:cNvPr>
          <p:cNvSpPr>
            <a:spLocks noGrp="1"/>
          </p:cNvSpPr>
          <p:nvPr>
            <p:ph type="title"/>
          </p:nvPr>
        </p:nvSpPr>
        <p:spPr>
          <a:xfrm>
            <a:off x="1219200" y="2590800"/>
            <a:ext cx="9753600" cy="990600"/>
          </a:xfrm>
          <a:prstGeom prst="rect">
            <a:avLst/>
          </a:prstGeom>
          <a:noFill/>
          <a:ln>
            <a:noFill/>
            <a:prstDash val="solid"/>
          </a:ln>
        </p:spPr>
        <p:txBody>
          <a:bodyPr wrap="square" lIns="0" tIns="0" rIns="0" bIns="0" anchor="ctr">
            <a:normAutofit/>
          </a:bodyPr>
          <a:lstStyle>
            <a:defPPr algn="ctr">
              <a:defRPr sz="4800" b="1">
                <a:solidFill>
                  <a:schemeClr val="tx1"/>
                </a:solidFill>
                <a:latin typeface="+mj-lt"/>
                <a:ea typeface="+mj-lt"/>
                <a:cs typeface="+mj-lt"/>
              </a:defRPr>
            </a:defPPr>
            <a:lvl1pPr marL="0" indent="0">
              <a:lnSpc>
                <a:spcPct val="110000"/>
              </a:lnSpc>
              <a:spcBef>
                <a:spcPts val="0"/>
              </a:spcBef>
              <a:spcAft>
                <a:spcPts val="0"/>
              </a:spcAft>
              <a:buNone/>
            </a:lvl1pPr>
            <a:lvl2pPr marL="0" indent="0">
              <a:lnSpc>
                <a:spcPct val="110000"/>
              </a:lnSpc>
              <a:spcBef>
                <a:spcPts val="0"/>
              </a:spcBef>
              <a:spcAft>
                <a:spcPts val="0"/>
              </a:spcAft>
              <a:buNone/>
            </a:lvl2pPr>
            <a:lvl3pPr marL="0" indent="0">
              <a:lnSpc>
                <a:spcPct val="110000"/>
              </a:lnSpc>
              <a:spcBef>
                <a:spcPts val="0"/>
              </a:spcBef>
              <a:spcAft>
                <a:spcPts val="0"/>
              </a:spcAft>
              <a:buNone/>
            </a:lvl3pPr>
            <a:lvl4pPr marL="0" indent="0">
              <a:lnSpc>
                <a:spcPct val="110000"/>
              </a:lnSpc>
              <a:spcBef>
                <a:spcPts val="0"/>
              </a:spcBef>
              <a:spcAft>
                <a:spcPts val="0"/>
              </a:spcAft>
              <a:buNone/>
            </a:lvl4pPr>
            <a:lvl5pPr marL="0" indent="0">
              <a:lnSpc>
                <a:spcPct val="110000"/>
              </a:lnSpc>
              <a:spcBef>
                <a:spcPts val="0"/>
              </a:spcBef>
              <a:spcAft>
                <a:spcPts val="0"/>
              </a:spcAft>
              <a:buNone/>
            </a:lvl5pPr>
            <a:lvl6pPr marL="0" indent="0">
              <a:lnSpc>
                <a:spcPct val="110000"/>
              </a:lnSpc>
              <a:spcBef>
                <a:spcPts val="0"/>
              </a:spcBef>
              <a:spcAft>
                <a:spcPts val="0"/>
              </a:spcAft>
              <a:buNone/>
            </a:lvl6pPr>
            <a:lvl7pPr marL="0" indent="0">
              <a:lnSpc>
                <a:spcPct val="110000"/>
              </a:lnSpc>
              <a:spcBef>
                <a:spcPts val="0"/>
              </a:spcBef>
              <a:spcAft>
                <a:spcPts val="0"/>
              </a:spcAft>
              <a:buNone/>
            </a:lvl7pPr>
            <a:lvl8pPr marL="0" indent="0">
              <a:lnSpc>
                <a:spcPct val="110000"/>
              </a:lnSpc>
              <a:spcBef>
                <a:spcPts val="0"/>
              </a:spcBef>
              <a:spcAft>
                <a:spcPts val="0"/>
              </a:spcAft>
              <a:buNone/>
            </a:lvl8pPr>
            <a:lvl9pPr marL="0" indent="0">
              <a:lnSpc>
                <a:spcPct val="110000"/>
              </a:lnSpc>
              <a:spcBef>
                <a:spcPts val="0"/>
              </a:spcBef>
              <a:spcAft>
                <a:spcPts val="0"/>
              </a:spcAft>
              <a:buNone/>
            </a:lvl9pPr>
          </a:lstStyle>
          <a:p>
            <a:endParaRPr/>
          </a:p>
        </p:txBody>
      </p:sp>
      <p:sp>
        <p:nvSpPr>
          <p:cNvPr id="2" name="Subtitle">
            <a:extLst>
              <a:ext uri="{FF2B5EF4-FFF2-40B4-BE49-F238E27FC236}">
                <a16:creationId xmlns:a16="http://schemas.microsoft.com/office/drawing/2014/main" id="{0E680C61-2321-44D1-978C-C3A3D47FBD3D}"/>
              </a:ext>
            </a:extLst>
          </p:cNvPr>
          <p:cNvSpPr>
            <a:spLocks noGrp="1"/>
          </p:cNvSpPr>
          <p:nvPr>
            <p:ph type="subTitle" idx="1"/>
          </p:nvPr>
        </p:nvSpPr>
        <p:spPr>
          <a:xfrm>
            <a:off x="1828800" y="3771900"/>
            <a:ext cx="8534400" cy="762000"/>
          </a:xfrm>
          <a:prstGeom prst="rect">
            <a:avLst/>
          </a:prstGeom>
          <a:noFill/>
          <a:ln>
            <a:noFill/>
            <a:prstDash val="solid"/>
          </a:ln>
        </p:spPr>
        <p:txBody>
          <a:bodyPr wrap="square" lIns="0" tIns="0" rIns="0" bIns="0" anchor="ctr">
            <a:normAutofit/>
          </a:bodyPr>
          <a:lstStyle>
            <a:defPPr algn="ctr">
              <a:defRPr sz="2100" b="0">
                <a:solidFill>
                  <a:schemeClr val="tx1"/>
                </a:solidFill>
                <a:latin typeface="+mn-lt"/>
                <a:ea typeface="+mn-lt"/>
                <a:cs typeface="+mn-lt"/>
              </a:defRPr>
            </a:defPPr>
            <a:lvl1pPr marL="0" indent="0">
              <a:lnSpc>
                <a:spcPct val="110000"/>
              </a:lnSpc>
              <a:spcBef>
                <a:spcPts val="0"/>
              </a:spcBef>
              <a:spcAft>
                <a:spcPts val="0"/>
              </a:spcAft>
              <a:buNone/>
            </a:lvl1pPr>
            <a:lvl2pPr marL="0" indent="0">
              <a:lnSpc>
                <a:spcPct val="110000"/>
              </a:lnSpc>
              <a:spcBef>
                <a:spcPts val="0"/>
              </a:spcBef>
              <a:spcAft>
                <a:spcPts val="0"/>
              </a:spcAft>
              <a:buNone/>
            </a:lvl2pPr>
            <a:lvl3pPr marL="0" indent="0">
              <a:lnSpc>
                <a:spcPct val="110000"/>
              </a:lnSpc>
              <a:spcBef>
                <a:spcPts val="0"/>
              </a:spcBef>
              <a:spcAft>
                <a:spcPts val="0"/>
              </a:spcAft>
              <a:buNone/>
            </a:lvl3pPr>
            <a:lvl4pPr marL="0" indent="0">
              <a:lnSpc>
                <a:spcPct val="110000"/>
              </a:lnSpc>
              <a:spcBef>
                <a:spcPts val="0"/>
              </a:spcBef>
              <a:spcAft>
                <a:spcPts val="0"/>
              </a:spcAft>
              <a:buNone/>
            </a:lvl4pPr>
            <a:lvl5pPr marL="0" indent="0">
              <a:lnSpc>
                <a:spcPct val="110000"/>
              </a:lnSpc>
              <a:spcBef>
                <a:spcPts val="0"/>
              </a:spcBef>
              <a:spcAft>
                <a:spcPts val="0"/>
              </a:spcAft>
              <a:buNone/>
            </a:lvl5pPr>
            <a:lvl6pPr marL="0" indent="0">
              <a:lnSpc>
                <a:spcPct val="110000"/>
              </a:lnSpc>
              <a:spcBef>
                <a:spcPts val="0"/>
              </a:spcBef>
              <a:spcAft>
                <a:spcPts val="0"/>
              </a:spcAft>
              <a:buNone/>
            </a:lvl6pPr>
            <a:lvl7pPr marL="0" indent="0">
              <a:lnSpc>
                <a:spcPct val="110000"/>
              </a:lnSpc>
              <a:spcBef>
                <a:spcPts val="0"/>
              </a:spcBef>
              <a:spcAft>
                <a:spcPts val="0"/>
              </a:spcAft>
              <a:buNone/>
            </a:lvl7pPr>
            <a:lvl8pPr marL="0" indent="0">
              <a:lnSpc>
                <a:spcPct val="110000"/>
              </a:lnSpc>
              <a:spcBef>
                <a:spcPts val="0"/>
              </a:spcBef>
              <a:spcAft>
                <a:spcPts val="0"/>
              </a:spcAft>
              <a:buNone/>
            </a:lvl8pPr>
            <a:lvl9pPr marL="0" indent="0">
              <a:lnSpc>
                <a:spcPct val="110000"/>
              </a:lnSpc>
              <a:spcBef>
                <a:spcPts val="0"/>
              </a:spcBef>
              <a:spcAft>
                <a:spcPts val="0"/>
              </a:spcAft>
              <a:buNone/>
            </a:lvl9pPr>
          </a:lstStyle>
          <a:p>
            <a:endParaRPr/>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p:cSld name="Section Header">
    <p:spTree>
      <p:nvGrpSpPr>
        <p:cNvPr id="1" name=""/>
        <p:cNvGrpSpPr/>
        <p:nvPr/>
      </p:nvGrpSpPr>
      <p:grpSpPr>
        <a:xfrm>
          <a:off x="0" y="0"/>
          <a:ext cx="0" cy="0"/>
          <a:chOff x="0" y="0"/>
          <a:chExt cx="0" cy="0"/>
        </a:xfrm>
      </p:grpSpPr>
      <p:sp>
        <p:nvSpPr>
          <p:cNvPr id="2" name="Section title">
            <a:extLst>
              <a:ext uri="{FF2B5EF4-FFF2-40B4-BE49-F238E27FC236}">
                <a16:creationId xmlns:a16="http://schemas.microsoft.com/office/drawing/2014/main" id="{17F49B2A-3E42-4857-B789-03C280FD8F43}"/>
              </a:ext>
            </a:extLst>
          </p:cNvPr>
          <p:cNvSpPr>
            <a:spLocks noGrp="1"/>
          </p:cNvSpPr>
          <p:nvPr>
            <p:ph type="title"/>
          </p:nvPr>
        </p:nvSpPr>
        <p:spPr>
          <a:xfrm>
            <a:off x="1219200" y="2857500"/>
            <a:ext cx="9753600" cy="1143000"/>
          </a:xfrm>
          <a:prstGeom prst="rect">
            <a:avLst/>
          </a:prstGeom>
          <a:noFill/>
          <a:ln>
            <a:noFill/>
            <a:prstDash val="solid"/>
          </a:ln>
        </p:spPr>
        <p:txBody>
          <a:bodyPr wrap="square" lIns="0" tIns="0" rIns="0" bIns="0" anchor="ctr">
            <a:normAutofit/>
          </a:bodyPr>
          <a:lstStyle>
            <a:defPPr algn="ctr">
              <a:defRPr sz="4200" b="1">
                <a:solidFill>
                  <a:schemeClr val="tx1"/>
                </a:solidFill>
                <a:latin typeface="+mj-lt"/>
                <a:ea typeface="+mj-lt"/>
                <a:cs typeface="+mj-lt"/>
              </a:defRPr>
            </a:defPPr>
            <a:lvl1pPr marL="0" indent="0">
              <a:lnSpc>
                <a:spcPct val="110000"/>
              </a:lnSpc>
              <a:spcBef>
                <a:spcPts val="0"/>
              </a:spcBef>
              <a:spcAft>
                <a:spcPts val="0"/>
              </a:spcAft>
              <a:buNone/>
            </a:lvl1pPr>
            <a:lvl2pPr marL="0" indent="0">
              <a:lnSpc>
                <a:spcPct val="110000"/>
              </a:lnSpc>
              <a:spcBef>
                <a:spcPts val="0"/>
              </a:spcBef>
              <a:spcAft>
                <a:spcPts val="0"/>
              </a:spcAft>
              <a:buNone/>
            </a:lvl2pPr>
            <a:lvl3pPr marL="0" indent="0">
              <a:lnSpc>
                <a:spcPct val="110000"/>
              </a:lnSpc>
              <a:spcBef>
                <a:spcPts val="0"/>
              </a:spcBef>
              <a:spcAft>
                <a:spcPts val="0"/>
              </a:spcAft>
              <a:buNone/>
            </a:lvl3pPr>
            <a:lvl4pPr marL="0" indent="0">
              <a:lnSpc>
                <a:spcPct val="110000"/>
              </a:lnSpc>
              <a:spcBef>
                <a:spcPts val="0"/>
              </a:spcBef>
              <a:spcAft>
                <a:spcPts val="0"/>
              </a:spcAft>
              <a:buNone/>
            </a:lvl4pPr>
            <a:lvl5pPr marL="0" indent="0">
              <a:lnSpc>
                <a:spcPct val="110000"/>
              </a:lnSpc>
              <a:spcBef>
                <a:spcPts val="0"/>
              </a:spcBef>
              <a:spcAft>
                <a:spcPts val="0"/>
              </a:spcAft>
              <a:buNone/>
            </a:lvl5pPr>
            <a:lvl6pPr marL="0" indent="0">
              <a:lnSpc>
                <a:spcPct val="110000"/>
              </a:lnSpc>
              <a:spcBef>
                <a:spcPts val="0"/>
              </a:spcBef>
              <a:spcAft>
                <a:spcPts val="0"/>
              </a:spcAft>
              <a:buNone/>
            </a:lvl6pPr>
            <a:lvl7pPr marL="0" indent="0">
              <a:lnSpc>
                <a:spcPct val="110000"/>
              </a:lnSpc>
              <a:spcBef>
                <a:spcPts val="0"/>
              </a:spcBef>
              <a:spcAft>
                <a:spcPts val="0"/>
              </a:spcAft>
              <a:buNone/>
            </a:lvl7pPr>
            <a:lvl8pPr marL="0" indent="0">
              <a:lnSpc>
                <a:spcPct val="110000"/>
              </a:lnSpc>
              <a:spcBef>
                <a:spcPts val="0"/>
              </a:spcBef>
              <a:spcAft>
                <a:spcPts val="0"/>
              </a:spcAft>
              <a:buNone/>
            </a:lvl8pPr>
            <a:lvl9pPr marL="0" indent="0">
              <a:lnSpc>
                <a:spcPct val="110000"/>
              </a:lnSpc>
              <a:spcBef>
                <a:spcPts val="0"/>
              </a:spcBef>
              <a:spcAft>
                <a:spcPts val="0"/>
              </a:spcAft>
              <a:buNone/>
            </a:lvl9pPr>
          </a:lstStyle>
          <a:p>
            <a:endParaRPr/>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p:cSld name="Title and Body">
    <p:spTree>
      <p:nvGrpSpPr>
        <p:cNvPr id="1" name=""/>
        <p:cNvGrpSpPr/>
        <p:nvPr/>
      </p:nvGrpSpPr>
      <p:grpSpPr>
        <a:xfrm>
          <a:off x="0" y="0"/>
          <a:ext cx="0" cy="0"/>
          <a:chOff x="0" y="0"/>
          <a:chExt cx="0" cy="0"/>
        </a:xfrm>
      </p:grpSpPr>
      <p:sp>
        <p:nvSpPr>
          <p:cNvPr id="3" name="Title">
            <a:extLst>
              <a:ext uri="{FF2B5EF4-FFF2-40B4-BE49-F238E27FC236}">
                <a16:creationId xmlns:a16="http://schemas.microsoft.com/office/drawing/2014/main" id="{C5E0E629-5117-4A73-86AF-8C85277847D7}"/>
              </a:ext>
            </a:extLst>
          </p:cNvPr>
          <p:cNvSpPr>
            <a:spLocks noGrp="1"/>
          </p:cNvSpPr>
          <p:nvPr>
            <p:ph type="title"/>
          </p:nvPr>
        </p:nvSpPr>
        <p:spPr>
          <a:xfrm>
            <a:off x="685800" y="533400"/>
            <a:ext cx="10820400" cy="838200"/>
          </a:xfrm>
          <a:prstGeom prst="rect">
            <a:avLst/>
          </a:prstGeom>
          <a:noFill/>
          <a:ln>
            <a:noFill/>
            <a:prstDash val="solid"/>
          </a:ln>
        </p:spPr>
        <p:txBody>
          <a:bodyPr wrap="square" lIns="0" tIns="0" rIns="0" bIns="0" anchor="t">
            <a:normAutofit/>
          </a:bodyPr>
          <a:lstStyle>
            <a:defPPr algn="l">
              <a:defRPr sz="3300" b="1">
                <a:solidFill>
                  <a:schemeClr val="tx1"/>
                </a:solidFill>
                <a:latin typeface="+mj-lt"/>
                <a:ea typeface="+mj-lt"/>
                <a:cs typeface="+mj-lt"/>
              </a:defRPr>
            </a:defPPr>
            <a:lvl1pPr marL="0" indent="0">
              <a:lnSpc>
                <a:spcPct val="110000"/>
              </a:lnSpc>
              <a:spcBef>
                <a:spcPts val="0"/>
              </a:spcBef>
              <a:spcAft>
                <a:spcPts val="0"/>
              </a:spcAft>
              <a:buNone/>
            </a:lvl1pPr>
            <a:lvl2pPr marL="0" indent="0">
              <a:lnSpc>
                <a:spcPct val="110000"/>
              </a:lnSpc>
              <a:spcBef>
                <a:spcPts val="0"/>
              </a:spcBef>
              <a:spcAft>
                <a:spcPts val="0"/>
              </a:spcAft>
              <a:buNone/>
            </a:lvl2pPr>
            <a:lvl3pPr marL="0" indent="0">
              <a:lnSpc>
                <a:spcPct val="110000"/>
              </a:lnSpc>
              <a:spcBef>
                <a:spcPts val="0"/>
              </a:spcBef>
              <a:spcAft>
                <a:spcPts val="0"/>
              </a:spcAft>
              <a:buNone/>
            </a:lvl3pPr>
            <a:lvl4pPr marL="0" indent="0">
              <a:lnSpc>
                <a:spcPct val="110000"/>
              </a:lnSpc>
              <a:spcBef>
                <a:spcPts val="0"/>
              </a:spcBef>
              <a:spcAft>
                <a:spcPts val="0"/>
              </a:spcAft>
              <a:buNone/>
            </a:lvl4pPr>
            <a:lvl5pPr marL="0" indent="0">
              <a:lnSpc>
                <a:spcPct val="110000"/>
              </a:lnSpc>
              <a:spcBef>
                <a:spcPts val="0"/>
              </a:spcBef>
              <a:spcAft>
                <a:spcPts val="0"/>
              </a:spcAft>
              <a:buNone/>
            </a:lvl5pPr>
            <a:lvl6pPr marL="0" indent="0">
              <a:lnSpc>
                <a:spcPct val="110000"/>
              </a:lnSpc>
              <a:spcBef>
                <a:spcPts val="0"/>
              </a:spcBef>
              <a:spcAft>
                <a:spcPts val="0"/>
              </a:spcAft>
              <a:buNone/>
            </a:lvl6pPr>
            <a:lvl7pPr marL="0" indent="0">
              <a:lnSpc>
                <a:spcPct val="110000"/>
              </a:lnSpc>
              <a:spcBef>
                <a:spcPts val="0"/>
              </a:spcBef>
              <a:spcAft>
                <a:spcPts val="0"/>
              </a:spcAft>
              <a:buNone/>
            </a:lvl7pPr>
            <a:lvl8pPr marL="0" indent="0">
              <a:lnSpc>
                <a:spcPct val="110000"/>
              </a:lnSpc>
              <a:spcBef>
                <a:spcPts val="0"/>
              </a:spcBef>
              <a:spcAft>
                <a:spcPts val="0"/>
              </a:spcAft>
              <a:buNone/>
            </a:lvl8pPr>
            <a:lvl9pPr marL="0" indent="0">
              <a:lnSpc>
                <a:spcPct val="110000"/>
              </a:lnSpc>
              <a:spcBef>
                <a:spcPts val="0"/>
              </a:spcBef>
              <a:spcAft>
                <a:spcPts val="0"/>
              </a:spcAft>
              <a:buNone/>
            </a:lvl9pPr>
          </a:lstStyle>
          <a:p>
            <a:endParaRPr/>
          </a:p>
        </p:txBody>
      </p:sp>
      <p:sp>
        <p:nvSpPr>
          <p:cNvPr id="2" name="Body">
            <a:extLst>
              <a:ext uri="{FF2B5EF4-FFF2-40B4-BE49-F238E27FC236}">
                <a16:creationId xmlns:a16="http://schemas.microsoft.com/office/drawing/2014/main" id="{CEFB44AE-6C6B-4962-8488-921E00208FFB}"/>
              </a:ext>
            </a:extLst>
          </p:cNvPr>
          <p:cNvSpPr>
            <a:spLocks noGrp="1"/>
          </p:cNvSpPr>
          <p:nvPr>
            <p:ph type="body" idx="1"/>
          </p:nvPr>
        </p:nvSpPr>
        <p:spPr>
          <a:xfrm>
            <a:off x="685800" y="1905000"/>
            <a:ext cx="10820400" cy="4267200"/>
          </a:xfrm>
          <a:prstGeom prst="rect">
            <a:avLst/>
          </a:prstGeom>
          <a:noFill/>
          <a:ln>
            <a:noFill/>
            <a:prstDash val="solid"/>
          </a:ln>
        </p:spPr>
        <p:txBody>
          <a:bodyPr wrap="square" lIns="0" tIns="0" rIns="0" bIns="0" anchor="t">
            <a:normAutofit/>
          </a:bodyPr>
          <a:lstStyle>
            <a:defPPr algn="l">
              <a:defRPr sz="2250" b="0">
                <a:solidFill>
                  <a:schemeClr val="tx1"/>
                </a:solidFill>
                <a:latin typeface="+mn-lt"/>
                <a:ea typeface="+mn-lt"/>
                <a:cs typeface="+mn-lt"/>
              </a:defRPr>
            </a:defPPr>
            <a:lvl1pPr marL="228600" indent="-228600">
              <a:lnSpc>
                <a:spcPct val="110000"/>
              </a:lnSpc>
              <a:spcBef>
                <a:spcPts val="0"/>
              </a:spcBef>
              <a:spcAft>
                <a:spcPts val="1200"/>
              </a:spcAft>
              <a:buChar char="•"/>
            </a:lvl1pPr>
            <a:lvl2pPr marL="533400" indent="-228600">
              <a:lnSpc>
                <a:spcPct val="110000"/>
              </a:lnSpc>
              <a:spcBef>
                <a:spcPts val="0"/>
              </a:spcBef>
              <a:spcAft>
                <a:spcPts val="1200"/>
              </a:spcAft>
              <a:buChar char="•"/>
            </a:lvl2pPr>
            <a:lvl3pPr marL="838200" indent="-228600">
              <a:lnSpc>
                <a:spcPct val="110000"/>
              </a:lnSpc>
              <a:spcBef>
                <a:spcPts val="0"/>
              </a:spcBef>
              <a:spcAft>
                <a:spcPts val="1200"/>
              </a:spcAft>
              <a:buChar char="•"/>
            </a:lvl3pPr>
            <a:lvl4pPr marL="1143000" indent="-228600">
              <a:lnSpc>
                <a:spcPct val="110000"/>
              </a:lnSpc>
              <a:spcBef>
                <a:spcPts val="0"/>
              </a:spcBef>
              <a:spcAft>
                <a:spcPts val="1200"/>
              </a:spcAft>
              <a:buChar char="•"/>
            </a:lvl4pPr>
            <a:lvl5pPr marL="1447800" indent="-228600">
              <a:lnSpc>
                <a:spcPct val="110000"/>
              </a:lnSpc>
              <a:spcBef>
                <a:spcPts val="0"/>
              </a:spcBef>
              <a:spcAft>
                <a:spcPts val="1200"/>
              </a:spcAft>
              <a:buChar char="•"/>
            </a:lvl5pPr>
            <a:lvl6pPr marL="1752600" indent="-228600">
              <a:lnSpc>
                <a:spcPct val="110000"/>
              </a:lnSpc>
              <a:spcBef>
                <a:spcPts val="0"/>
              </a:spcBef>
              <a:spcAft>
                <a:spcPts val="1200"/>
              </a:spcAft>
              <a:buChar char="•"/>
            </a:lvl6pPr>
            <a:lvl7pPr marL="2057400" indent="-228600">
              <a:lnSpc>
                <a:spcPct val="110000"/>
              </a:lnSpc>
              <a:spcBef>
                <a:spcPts val="0"/>
              </a:spcBef>
              <a:spcAft>
                <a:spcPts val="1200"/>
              </a:spcAft>
              <a:buChar char="•"/>
            </a:lvl7pPr>
            <a:lvl8pPr marL="2362200" indent="-228600">
              <a:lnSpc>
                <a:spcPct val="110000"/>
              </a:lnSpc>
              <a:spcBef>
                <a:spcPts val="0"/>
              </a:spcBef>
              <a:spcAft>
                <a:spcPts val="1200"/>
              </a:spcAft>
              <a:buChar char="•"/>
            </a:lvl8pPr>
            <a:lvl9pPr marL="2667000" indent="-228600">
              <a:lnSpc>
                <a:spcPct val="110000"/>
              </a:lnSpc>
              <a:spcBef>
                <a:spcPts val="0"/>
              </a:spcBef>
              <a:spcAft>
                <a:spcPts val="1200"/>
              </a:spcAft>
              <a:buChar char="•"/>
            </a:lvl9pPr>
          </a:lstStyle>
          <a:p>
            <a:endParaRPr/>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p:cSld name="Title and Two Column">
    <p:spTree>
      <p:nvGrpSpPr>
        <p:cNvPr id="1" name=""/>
        <p:cNvGrpSpPr/>
        <p:nvPr/>
      </p:nvGrpSpPr>
      <p:grpSpPr>
        <a:xfrm>
          <a:off x="0" y="0"/>
          <a:ext cx="0" cy="0"/>
          <a:chOff x="0" y="0"/>
          <a:chExt cx="0" cy="0"/>
        </a:xfrm>
      </p:grpSpPr>
      <p:sp>
        <p:nvSpPr>
          <p:cNvPr id="4" name="Title">
            <a:extLst>
              <a:ext uri="{FF2B5EF4-FFF2-40B4-BE49-F238E27FC236}">
                <a16:creationId xmlns:a16="http://schemas.microsoft.com/office/drawing/2014/main" id="{C848ED88-4CFD-4979-86CC-188CAAAB8796}"/>
              </a:ext>
            </a:extLst>
          </p:cNvPr>
          <p:cNvSpPr>
            <a:spLocks noGrp="1"/>
          </p:cNvSpPr>
          <p:nvPr>
            <p:ph type="title"/>
          </p:nvPr>
        </p:nvSpPr>
        <p:spPr>
          <a:xfrm>
            <a:off x="685800" y="533400"/>
            <a:ext cx="10820400" cy="838200"/>
          </a:xfrm>
          <a:prstGeom prst="rect">
            <a:avLst/>
          </a:prstGeom>
          <a:noFill/>
          <a:ln>
            <a:noFill/>
            <a:prstDash val="solid"/>
          </a:ln>
        </p:spPr>
        <p:txBody>
          <a:bodyPr wrap="square" lIns="0" tIns="0" rIns="0" bIns="0" anchor="t">
            <a:normAutofit/>
          </a:bodyPr>
          <a:lstStyle>
            <a:defPPr algn="l">
              <a:defRPr sz="3300" b="1">
                <a:solidFill>
                  <a:schemeClr val="tx1"/>
                </a:solidFill>
                <a:latin typeface="+mj-lt"/>
                <a:ea typeface="+mj-lt"/>
                <a:cs typeface="+mj-lt"/>
              </a:defRPr>
            </a:defPPr>
            <a:lvl1pPr marL="0" indent="0">
              <a:lnSpc>
                <a:spcPct val="110000"/>
              </a:lnSpc>
              <a:spcBef>
                <a:spcPts val="0"/>
              </a:spcBef>
              <a:spcAft>
                <a:spcPts val="0"/>
              </a:spcAft>
              <a:buNone/>
            </a:lvl1pPr>
            <a:lvl2pPr marL="0" indent="0">
              <a:lnSpc>
                <a:spcPct val="110000"/>
              </a:lnSpc>
              <a:spcBef>
                <a:spcPts val="0"/>
              </a:spcBef>
              <a:spcAft>
                <a:spcPts val="0"/>
              </a:spcAft>
              <a:buNone/>
            </a:lvl2pPr>
            <a:lvl3pPr marL="0" indent="0">
              <a:lnSpc>
                <a:spcPct val="110000"/>
              </a:lnSpc>
              <a:spcBef>
                <a:spcPts val="0"/>
              </a:spcBef>
              <a:spcAft>
                <a:spcPts val="0"/>
              </a:spcAft>
              <a:buNone/>
            </a:lvl3pPr>
            <a:lvl4pPr marL="0" indent="0">
              <a:lnSpc>
                <a:spcPct val="110000"/>
              </a:lnSpc>
              <a:spcBef>
                <a:spcPts val="0"/>
              </a:spcBef>
              <a:spcAft>
                <a:spcPts val="0"/>
              </a:spcAft>
              <a:buNone/>
            </a:lvl4pPr>
            <a:lvl5pPr marL="0" indent="0">
              <a:lnSpc>
                <a:spcPct val="110000"/>
              </a:lnSpc>
              <a:spcBef>
                <a:spcPts val="0"/>
              </a:spcBef>
              <a:spcAft>
                <a:spcPts val="0"/>
              </a:spcAft>
              <a:buNone/>
            </a:lvl5pPr>
            <a:lvl6pPr marL="0" indent="0">
              <a:lnSpc>
                <a:spcPct val="110000"/>
              </a:lnSpc>
              <a:spcBef>
                <a:spcPts val="0"/>
              </a:spcBef>
              <a:spcAft>
                <a:spcPts val="0"/>
              </a:spcAft>
              <a:buNone/>
            </a:lvl6pPr>
            <a:lvl7pPr marL="0" indent="0">
              <a:lnSpc>
                <a:spcPct val="110000"/>
              </a:lnSpc>
              <a:spcBef>
                <a:spcPts val="0"/>
              </a:spcBef>
              <a:spcAft>
                <a:spcPts val="0"/>
              </a:spcAft>
              <a:buNone/>
            </a:lvl7pPr>
            <a:lvl8pPr marL="0" indent="0">
              <a:lnSpc>
                <a:spcPct val="110000"/>
              </a:lnSpc>
              <a:spcBef>
                <a:spcPts val="0"/>
              </a:spcBef>
              <a:spcAft>
                <a:spcPts val="0"/>
              </a:spcAft>
              <a:buNone/>
            </a:lvl8pPr>
            <a:lvl9pPr marL="0" indent="0">
              <a:lnSpc>
                <a:spcPct val="110000"/>
              </a:lnSpc>
              <a:spcBef>
                <a:spcPts val="0"/>
              </a:spcBef>
              <a:spcAft>
                <a:spcPts val="0"/>
              </a:spcAft>
              <a:buNone/>
            </a:lvl9pPr>
          </a:lstStyle>
          <a:p>
            <a:endParaRPr/>
          </a:p>
        </p:txBody>
      </p:sp>
      <p:sp>
        <p:nvSpPr>
          <p:cNvPr id="2" name="Left column">
            <a:extLst>
              <a:ext uri="{FF2B5EF4-FFF2-40B4-BE49-F238E27FC236}">
                <a16:creationId xmlns:a16="http://schemas.microsoft.com/office/drawing/2014/main" id="{CEF1CC07-64B5-4319-AD0C-752262F69ED8}"/>
              </a:ext>
            </a:extLst>
          </p:cNvPr>
          <p:cNvSpPr>
            <a:spLocks noGrp="1"/>
          </p:cNvSpPr>
          <p:nvPr>
            <p:ph type="body" idx="1"/>
          </p:nvPr>
        </p:nvSpPr>
        <p:spPr>
          <a:xfrm>
            <a:off x="685800" y="1905000"/>
            <a:ext cx="5029200" cy="4267200"/>
          </a:xfrm>
          <a:prstGeom prst="rect">
            <a:avLst/>
          </a:prstGeom>
          <a:noFill/>
          <a:ln>
            <a:noFill/>
            <a:prstDash val="solid"/>
          </a:ln>
        </p:spPr>
        <p:txBody>
          <a:bodyPr wrap="square" lIns="0" tIns="0" rIns="0" bIns="0" anchor="t">
            <a:normAutofit/>
          </a:bodyPr>
          <a:lstStyle>
            <a:defPPr algn="l">
              <a:defRPr sz="2100" b="0">
                <a:solidFill>
                  <a:schemeClr val="tx1"/>
                </a:solidFill>
                <a:latin typeface="+mn-lt"/>
                <a:ea typeface="+mn-lt"/>
                <a:cs typeface="+mn-lt"/>
              </a:defRPr>
            </a:defPPr>
            <a:lvl1pPr marL="228600" indent="-228600">
              <a:lnSpc>
                <a:spcPct val="110000"/>
              </a:lnSpc>
              <a:spcBef>
                <a:spcPts val="0"/>
              </a:spcBef>
              <a:spcAft>
                <a:spcPts val="1200"/>
              </a:spcAft>
              <a:buChar char="•"/>
            </a:lvl1pPr>
            <a:lvl2pPr marL="533400" indent="-228600">
              <a:lnSpc>
                <a:spcPct val="110000"/>
              </a:lnSpc>
              <a:spcBef>
                <a:spcPts val="0"/>
              </a:spcBef>
              <a:spcAft>
                <a:spcPts val="1200"/>
              </a:spcAft>
              <a:buChar char="•"/>
            </a:lvl2pPr>
            <a:lvl3pPr marL="838200" indent="-228600">
              <a:lnSpc>
                <a:spcPct val="110000"/>
              </a:lnSpc>
              <a:spcBef>
                <a:spcPts val="0"/>
              </a:spcBef>
              <a:spcAft>
                <a:spcPts val="1200"/>
              </a:spcAft>
              <a:buChar char="•"/>
            </a:lvl3pPr>
            <a:lvl4pPr marL="1143000" indent="-228600">
              <a:lnSpc>
                <a:spcPct val="110000"/>
              </a:lnSpc>
              <a:spcBef>
                <a:spcPts val="0"/>
              </a:spcBef>
              <a:spcAft>
                <a:spcPts val="1200"/>
              </a:spcAft>
              <a:buChar char="•"/>
            </a:lvl4pPr>
            <a:lvl5pPr marL="1447800" indent="-228600">
              <a:lnSpc>
                <a:spcPct val="110000"/>
              </a:lnSpc>
              <a:spcBef>
                <a:spcPts val="0"/>
              </a:spcBef>
              <a:spcAft>
                <a:spcPts val="1200"/>
              </a:spcAft>
              <a:buChar char="•"/>
            </a:lvl5pPr>
            <a:lvl6pPr marL="1752600" indent="-228600">
              <a:lnSpc>
                <a:spcPct val="110000"/>
              </a:lnSpc>
              <a:spcBef>
                <a:spcPts val="0"/>
              </a:spcBef>
              <a:spcAft>
                <a:spcPts val="1200"/>
              </a:spcAft>
              <a:buChar char="•"/>
            </a:lvl6pPr>
            <a:lvl7pPr marL="2057400" indent="-228600">
              <a:lnSpc>
                <a:spcPct val="110000"/>
              </a:lnSpc>
              <a:spcBef>
                <a:spcPts val="0"/>
              </a:spcBef>
              <a:spcAft>
                <a:spcPts val="1200"/>
              </a:spcAft>
              <a:buChar char="•"/>
            </a:lvl7pPr>
            <a:lvl8pPr marL="2362200" indent="-228600">
              <a:lnSpc>
                <a:spcPct val="110000"/>
              </a:lnSpc>
              <a:spcBef>
                <a:spcPts val="0"/>
              </a:spcBef>
              <a:spcAft>
                <a:spcPts val="1200"/>
              </a:spcAft>
              <a:buChar char="•"/>
            </a:lvl8pPr>
            <a:lvl9pPr marL="2667000" indent="-228600">
              <a:lnSpc>
                <a:spcPct val="110000"/>
              </a:lnSpc>
              <a:spcBef>
                <a:spcPts val="0"/>
              </a:spcBef>
              <a:spcAft>
                <a:spcPts val="1200"/>
              </a:spcAft>
              <a:buChar char="•"/>
            </a:lvl9pPr>
          </a:lstStyle>
          <a:p>
            <a:endParaRPr/>
          </a:p>
        </p:txBody>
      </p:sp>
      <p:sp>
        <p:nvSpPr>
          <p:cNvPr id="3" name="Right column">
            <a:extLst>
              <a:ext uri="{FF2B5EF4-FFF2-40B4-BE49-F238E27FC236}">
                <a16:creationId xmlns:a16="http://schemas.microsoft.com/office/drawing/2014/main" id="{59EC947F-2793-4E6A-B45C-99105680566E}"/>
              </a:ext>
            </a:extLst>
          </p:cNvPr>
          <p:cNvSpPr>
            <a:spLocks noGrp="1"/>
          </p:cNvSpPr>
          <p:nvPr>
            <p:ph type="body" idx="2"/>
          </p:nvPr>
        </p:nvSpPr>
        <p:spPr>
          <a:xfrm>
            <a:off x="6477000" y="1905000"/>
            <a:ext cx="5029200" cy="4267200"/>
          </a:xfrm>
          <a:prstGeom prst="rect">
            <a:avLst/>
          </a:prstGeom>
          <a:noFill/>
          <a:ln>
            <a:noFill/>
            <a:prstDash val="solid"/>
          </a:ln>
        </p:spPr>
        <p:txBody>
          <a:bodyPr wrap="square" lIns="0" tIns="0" rIns="0" bIns="0" anchor="t">
            <a:normAutofit/>
          </a:bodyPr>
          <a:lstStyle>
            <a:defPPr algn="l">
              <a:defRPr sz="2100" b="0">
                <a:solidFill>
                  <a:schemeClr val="tx1"/>
                </a:solidFill>
                <a:latin typeface="+mn-lt"/>
                <a:ea typeface="+mn-lt"/>
                <a:cs typeface="+mn-lt"/>
              </a:defRPr>
            </a:defPPr>
            <a:lvl1pPr marL="228600" indent="-228600">
              <a:lnSpc>
                <a:spcPct val="110000"/>
              </a:lnSpc>
              <a:spcBef>
                <a:spcPts val="0"/>
              </a:spcBef>
              <a:spcAft>
                <a:spcPts val="1200"/>
              </a:spcAft>
              <a:buChar char="•"/>
            </a:lvl1pPr>
            <a:lvl2pPr marL="533400" indent="-228600">
              <a:lnSpc>
                <a:spcPct val="110000"/>
              </a:lnSpc>
              <a:spcBef>
                <a:spcPts val="0"/>
              </a:spcBef>
              <a:spcAft>
                <a:spcPts val="1200"/>
              </a:spcAft>
              <a:buChar char="•"/>
            </a:lvl2pPr>
            <a:lvl3pPr marL="838200" indent="-228600">
              <a:lnSpc>
                <a:spcPct val="110000"/>
              </a:lnSpc>
              <a:spcBef>
                <a:spcPts val="0"/>
              </a:spcBef>
              <a:spcAft>
                <a:spcPts val="1200"/>
              </a:spcAft>
              <a:buChar char="•"/>
            </a:lvl3pPr>
            <a:lvl4pPr marL="1143000" indent="-228600">
              <a:lnSpc>
                <a:spcPct val="110000"/>
              </a:lnSpc>
              <a:spcBef>
                <a:spcPts val="0"/>
              </a:spcBef>
              <a:spcAft>
                <a:spcPts val="1200"/>
              </a:spcAft>
              <a:buChar char="•"/>
            </a:lvl4pPr>
            <a:lvl5pPr marL="1447800" indent="-228600">
              <a:lnSpc>
                <a:spcPct val="110000"/>
              </a:lnSpc>
              <a:spcBef>
                <a:spcPts val="0"/>
              </a:spcBef>
              <a:spcAft>
                <a:spcPts val="1200"/>
              </a:spcAft>
              <a:buChar char="•"/>
            </a:lvl5pPr>
            <a:lvl6pPr marL="1752600" indent="-228600">
              <a:lnSpc>
                <a:spcPct val="110000"/>
              </a:lnSpc>
              <a:spcBef>
                <a:spcPts val="0"/>
              </a:spcBef>
              <a:spcAft>
                <a:spcPts val="1200"/>
              </a:spcAft>
              <a:buChar char="•"/>
            </a:lvl6pPr>
            <a:lvl7pPr marL="2057400" indent="-228600">
              <a:lnSpc>
                <a:spcPct val="110000"/>
              </a:lnSpc>
              <a:spcBef>
                <a:spcPts val="0"/>
              </a:spcBef>
              <a:spcAft>
                <a:spcPts val="1200"/>
              </a:spcAft>
              <a:buChar char="•"/>
            </a:lvl7pPr>
            <a:lvl8pPr marL="2362200" indent="-228600">
              <a:lnSpc>
                <a:spcPct val="110000"/>
              </a:lnSpc>
              <a:spcBef>
                <a:spcPts val="0"/>
              </a:spcBef>
              <a:spcAft>
                <a:spcPts val="1200"/>
              </a:spcAft>
              <a:buChar char="•"/>
            </a:lvl8pPr>
            <a:lvl9pPr marL="2667000" indent="-228600">
              <a:lnSpc>
                <a:spcPct val="110000"/>
              </a:lnSpc>
              <a:spcBef>
                <a:spcPts val="0"/>
              </a:spcBef>
              <a:spcAft>
                <a:spcPts val="1200"/>
              </a:spcAft>
              <a:buChar char="•"/>
            </a:lvl9pPr>
          </a:lstStyle>
          <a:p>
            <a:endParaRPr/>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p:cSld name="Title and One Column">
    <p:spTree>
      <p:nvGrpSpPr>
        <p:cNvPr id="1" name=""/>
        <p:cNvGrpSpPr/>
        <p:nvPr/>
      </p:nvGrpSpPr>
      <p:grpSpPr>
        <a:xfrm>
          <a:off x="0" y="0"/>
          <a:ext cx="0" cy="0"/>
          <a:chOff x="0" y="0"/>
          <a:chExt cx="0" cy="0"/>
        </a:xfrm>
      </p:grpSpPr>
      <p:sp>
        <p:nvSpPr>
          <p:cNvPr id="3" name="Title">
            <a:extLst>
              <a:ext uri="{FF2B5EF4-FFF2-40B4-BE49-F238E27FC236}">
                <a16:creationId xmlns:a16="http://schemas.microsoft.com/office/drawing/2014/main" id="{763BE2C0-EB59-4049-88F4-F46671882875}"/>
              </a:ext>
            </a:extLst>
          </p:cNvPr>
          <p:cNvSpPr>
            <a:spLocks noGrp="1"/>
          </p:cNvSpPr>
          <p:nvPr>
            <p:ph type="title"/>
          </p:nvPr>
        </p:nvSpPr>
        <p:spPr>
          <a:xfrm>
            <a:off x="685800" y="533400"/>
            <a:ext cx="10820400" cy="838200"/>
          </a:xfrm>
          <a:prstGeom prst="rect">
            <a:avLst/>
          </a:prstGeom>
          <a:noFill/>
          <a:ln>
            <a:noFill/>
            <a:prstDash val="solid"/>
          </a:ln>
        </p:spPr>
        <p:txBody>
          <a:bodyPr wrap="square" lIns="0" tIns="0" rIns="0" bIns="0" anchor="t">
            <a:normAutofit/>
          </a:bodyPr>
          <a:lstStyle>
            <a:defPPr algn="l">
              <a:defRPr sz="3300" b="1">
                <a:solidFill>
                  <a:schemeClr val="tx1"/>
                </a:solidFill>
                <a:latin typeface="+mj-lt"/>
                <a:ea typeface="+mj-lt"/>
                <a:cs typeface="+mj-lt"/>
              </a:defRPr>
            </a:defPPr>
            <a:lvl1pPr marL="0" indent="0">
              <a:lnSpc>
                <a:spcPct val="110000"/>
              </a:lnSpc>
              <a:spcBef>
                <a:spcPts val="0"/>
              </a:spcBef>
              <a:spcAft>
                <a:spcPts val="0"/>
              </a:spcAft>
              <a:buNone/>
            </a:lvl1pPr>
            <a:lvl2pPr marL="0" indent="0">
              <a:lnSpc>
                <a:spcPct val="110000"/>
              </a:lnSpc>
              <a:spcBef>
                <a:spcPts val="0"/>
              </a:spcBef>
              <a:spcAft>
                <a:spcPts val="0"/>
              </a:spcAft>
              <a:buNone/>
            </a:lvl2pPr>
            <a:lvl3pPr marL="0" indent="0">
              <a:lnSpc>
                <a:spcPct val="110000"/>
              </a:lnSpc>
              <a:spcBef>
                <a:spcPts val="0"/>
              </a:spcBef>
              <a:spcAft>
                <a:spcPts val="0"/>
              </a:spcAft>
              <a:buNone/>
            </a:lvl3pPr>
            <a:lvl4pPr marL="0" indent="0">
              <a:lnSpc>
                <a:spcPct val="110000"/>
              </a:lnSpc>
              <a:spcBef>
                <a:spcPts val="0"/>
              </a:spcBef>
              <a:spcAft>
                <a:spcPts val="0"/>
              </a:spcAft>
              <a:buNone/>
            </a:lvl4pPr>
            <a:lvl5pPr marL="0" indent="0">
              <a:lnSpc>
                <a:spcPct val="110000"/>
              </a:lnSpc>
              <a:spcBef>
                <a:spcPts val="0"/>
              </a:spcBef>
              <a:spcAft>
                <a:spcPts val="0"/>
              </a:spcAft>
              <a:buNone/>
            </a:lvl5pPr>
            <a:lvl6pPr marL="0" indent="0">
              <a:lnSpc>
                <a:spcPct val="110000"/>
              </a:lnSpc>
              <a:spcBef>
                <a:spcPts val="0"/>
              </a:spcBef>
              <a:spcAft>
                <a:spcPts val="0"/>
              </a:spcAft>
              <a:buNone/>
            </a:lvl6pPr>
            <a:lvl7pPr marL="0" indent="0">
              <a:lnSpc>
                <a:spcPct val="110000"/>
              </a:lnSpc>
              <a:spcBef>
                <a:spcPts val="0"/>
              </a:spcBef>
              <a:spcAft>
                <a:spcPts val="0"/>
              </a:spcAft>
              <a:buNone/>
            </a:lvl7pPr>
            <a:lvl8pPr marL="0" indent="0">
              <a:lnSpc>
                <a:spcPct val="110000"/>
              </a:lnSpc>
              <a:spcBef>
                <a:spcPts val="0"/>
              </a:spcBef>
              <a:spcAft>
                <a:spcPts val="0"/>
              </a:spcAft>
              <a:buNone/>
            </a:lvl8pPr>
            <a:lvl9pPr marL="0" indent="0">
              <a:lnSpc>
                <a:spcPct val="110000"/>
              </a:lnSpc>
              <a:spcBef>
                <a:spcPts val="0"/>
              </a:spcBef>
              <a:spcAft>
                <a:spcPts val="0"/>
              </a:spcAft>
              <a:buNone/>
            </a:lvl9pPr>
          </a:lstStyle>
          <a:p>
            <a:endParaRPr/>
          </a:p>
        </p:txBody>
      </p:sp>
      <p:sp>
        <p:nvSpPr>
          <p:cNvPr id="2" name="Left column">
            <a:extLst>
              <a:ext uri="{FF2B5EF4-FFF2-40B4-BE49-F238E27FC236}">
                <a16:creationId xmlns:a16="http://schemas.microsoft.com/office/drawing/2014/main" id="{549BDD25-6828-4F8F-9ADE-78224F8403AC}"/>
              </a:ext>
            </a:extLst>
          </p:cNvPr>
          <p:cNvSpPr>
            <a:spLocks noGrp="1"/>
          </p:cNvSpPr>
          <p:nvPr>
            <p:ph type="body" idx="1"/>
          </p:nvPr>
        </p:nvSpPr>
        <p:spPr>
          <a:xfrm>
            <a:off x="685800" y="1905000"/>
            <a:ext cx="5029200" cy="4267200"/>
          </a:xfrm>
          <a:prstGeom prst="rect">
            <a:avLst/>
          </a:prstGeom>
          <a:noFill/>
          <a:ln>
            <a:noFill/>
            <a:prstDash val="solid"/>
          </a:ln>
        </p:spPr>
        <p:txBody>
          <a:bodyPr wrap="square" lIns="0" tIns="0" rIns="0" bIns="0" anchor="t">
            <a:normAutofit/>
          </a:bodyPr>
          <a:lstStyle>
            <a:defPPr algn="l">
              <a:defRPr sz="2250" b="0">
                <a:solidFill>
                  <a:schemeClr val="tx1"/>
                </a:solidFill>
                <a:latin typeface="+mn-lt"/>
                <a:ea typeface="+mn-lt"/>
                <a:cs typeface="+mn-lt"/>
              </a:defRPr>
            </a:defPPr>
            <a:lvl1pPr marL="228600" indent="-228600">
              <a:lnSpc>
                <a:spcPct val="110000"/>
              </a:lnSpc>
              <a:spcBef>
                <a:spcPts val="0"/>
              </a:spcBef>
              <a:spcAft>
                <a:spcPts val="1200"/>
              </a:spcAft>
              <a:buChar char="•"/>
            </a:lvl1pPr>
            <a:lvl2pPr marL="533400" indent="-228600">
              <a:lnSpc>
                <a:spcPct val="110000"/>
              </a:lnSpc>
              <a:spcBef>
                <a:spcPts val="0"/>
              </a:spcBef>
              <a:spcAft>
                <a:spcPts val="1200"/>
              </a:spcAft>
              <a:buChar char="•"/>
            </a:lvl2pPr>
            <a:lvl3pPr marL="838200" indent="-228600">
              <a:lnSpc>
                <a:spcPct val="110000"/>
              </a:lnSpc>
              <a:spcBef>
                <a:spcPts val="0"/>
              </a:spcBef>
              <a:spcAft>
                <a:spcPts val="1200"/>
              </a:spcAft>
              <a:buChar char="•"/>
            </a:lvl3pPr>
            <a:lvl4pPr marL="1143000" indent="-228600">
              <a:lnSpc>
                <a:spcPct val="110000"/>
              </a:lnSpc>
              <a:spcBef>
                <a:spcPts val="0"/>
              </a:spcBef>
              <a:spcAft>
                <a:spcPts val="1200"/>
              </a:spcAft>
              <a:buChar char="•"/>
            </a:lvl4pPr>
            <a:lvl5pPr marL="1447800" indent="-228600">
              <a:lnSpc>
                <a:spcPct val="110000"/>
              </a:lnSpc>
              <a:spcBef>
                <a:spcPts val="0"/>
              </a:spcBef>
              <a:spcAft>
                <a:spcPts val="1200"/>
              </a:spcAft>
              <a:buChar char="•"/>
            </a:lvl5pPr>
            <a:lvl6pPr marL="1752600" indent="-228600">
              <a:lnSpc>
                <a:spcPct val="110000"/>
              </a:lnSpc>
              <a:spcBef>
                <a:spcPts val="0"/>
              </a:spcBef>
              <a:spcAft>
                <a:spcPts val="1200"/>
              </a:spcAft>
              <a:buChar char="•"/>
            </a:lvl6pPr>
            <a:lvl7pPr marL="2057400" indent="-228600">
              <a:lnSpc>
                <a:spcPct val="110000"/>
              </a:lnSpc>
              <a:spcBef>
                <a:spcPts val="0"/>
              </a:spcBef>
              <a:spcAft>
                <a:spcPts val="1200"/>
              </a:spcAft>
              <a:buChar char="•"/>
            </a:lvl7pPr>
            <a:lvl8pPr marL="2362200" indent="-228600">
              <a:lnSpc>
                <a:spcPct val="110000"/>
              </a:lnSpc>
              <a:spcBef>
                <a:spcPts val="0"/>
              </a:spcBef>
              <a:spcAft>
                <a:spcPts val="1200"/>
              </a:spcAft>
              <a:buChar char="•"/>
            </a:lvl8pPr>
            <a:lvl9pPr marL="2667000" indent="-228600">
              <a:lnSpc>
                <a:spcPct val="110000"/>
              </a:lnSpc>
              <a:spcBef>
                <a:spcPts val="0"/>
              </a:spcBef>
              <a:spcAft>
                <a:spcPts val="1200"/>
              </a:spcAft>
              <a:buChar char="•"/>
            </a:lvl9pPr>
          </a:lstStyle>
          <a:p>
            <a:endParaRPr/>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blank">
  <p:cSld name="Blank">
    <p:spTree>
      <p:nvGrpSpPr>
        <p:cNvPr id="1" name=""/>
        <p:cNvGrpSpPr/>
        <p:nvPr/>
      </p:nvGrpSpPr>
      <p:grpSpPr>
        <a:xfrm>
          <a:off x="0" y="0"/>
          <a:ext cx="0" cy="0"/>
          <a:chOff x="0" y="0"/>
          <a:chExt cx="0" cy="0"/>
        </a:xfrm>
      </p:grpSpPr>
    </p:spTree>
  </p:cSld>
  <p:clrMapOvr>
    <a:masterClrMapping/>
  </p:clrMapOvr>
</p:sldLayout>
</file>

<file path=ppt/slideMasters/_rels/slideMaster1.xml.rels><?xml version="1.0" encoding="UTF-8" standalone="yes"?>
<Relationships xmlns="http://schemas.openxmlformats.org/package/2006/relationships"><Relationship Id="rId3" Type="http://schemas.openxmlformats.org/officeDocument/2006/relationships/slideLayout" Target="../slideLayouts/slideLayout3.xml"/><Relationship Id="rId7"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5" Type="http://schemas.openxmlformats.org/officeDocument/2006/relationships/slideLayout" Target="../slideLayouts/slideLayout5.xml"/><Relationship Id="rId4" Type="http://schemas.openxmlformats.org/officeDocument/2006/relationships/slideLayout" Target="../slideLayouts/slideLayout4.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name="Master">
    <p:bg>
      <p:bgRef idx="1001">
        <a:schemeClr val="bg1"/>
      </p:bgRef>
    </p:bg>
    <p:spTree>
      <p:nvGrpSpPr>
        <p:cNvPr id="1" name=""/>
        <p:cNvGrpSpPr/>
        <p:nvPr/>
      </p:nvGrpSpPr>
      <p:grpSpPr>
        <a:xfrm>
          <a:off x="0" y="0"/>
          <a:ext cx="0" cy="0"/>
          <a:chOff x="0" y="0"/>
          <a:chExt cx="0" cy="0"/>
        </a:xfrm>
      </p:grpSpPr>
    </p:spTree>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Lst>
  <p:txStyles>
    <p:titleStyle>
      <a:lvl1pPr algn="l">
        <a:lnSpc>
          <a:spcPct val="90000"/>
        </a:lnSpc>
        <a:spcBef>
          <a:spcPts val="0"/>
        </a:spcBef>
        <a:buNone/>
        <a:defRPr sz="4400">
          <a:solidFill>
            <a:schemeClr val="tx1"/>
          </a:solidFill>
          <a:latin typeface="+mj-lt"/>
          <a:ea typeface="+mj-lt"/>
          <a:cs typeface="+mj-lt"/>
        </a:defRPr>
      </a:lvl1pPr>
    </p:titleStyle>
    <p:bodyStyle>
      <a:lvl1pPr marL="228600" indent="-228600" algn="l">
        <a:lnSpc>
          <a:spcPct val="90000"/>
        </a:lnSpc>
        <a:spcBef>
          <a:spcPts val="1000"/>
        </a:spcBef>
        <a:buChar char="•"/>
        <a:defRPr sz="2800">
          <a:solidFill>
            <a:schemeClr val="tx1"/>
          </a:solidFill>
          <a:latin typeface="+mn-lt"/>
          <a:ea typeface="+mn-lt"/>
          <a:cs typeface="+mn-lt"/>
        </a:defRPr>
      </a:lvl1pPr>
      <a:lvl2pPr marL="685800" indent="-228600" algn="l">
        <a:lnSpc>
          <a:spcPct val="90000"/>
        </a:lnSpc>
        <a:spcBef>
          <a:spcPts val="500"/>
        </a:spcBef>
        <a:buChar char="•"/>
        <a:defRPr sz="2400">
          <a:solidFill>
            <a:schemeClr val="tx1"/>
          </a:solidFill>
          <a:latin typeface="+mn-lt"/>
          <a:ea typeface="+mn-lt"/>
          <a:cs typeface="+mn-lt"/>
        </a:defRPr>
      </a:lvl2pPr>
      <a:lvl3pPr marL="1143000" indent="-228600" algn="l">
        <a:lnSpc>
          <a:spcPct val="90000"/>
        </a:lnSpc>
        <a:spcBef>
          <a:spcPts val="500"/>
        </a:spcBef>
        <a:buChar char="•"/>
        <a:defRPr sz="2000">
          <a:solidFill>
            <a:schemeClr val="tx1"/>
          </a:solidFill>
          <a:latin typeface="+mn-lt"/>
          <a:ea typeface="+mn-lt"/>
          <a:cs typeface="+mn-lt"/>
        </a:defRPr>
      </a:lvl3pPr>
      <a:lvl4pPr marL="1600200" indent="-228600" algn="l">
        <a:lnSpc>
          <a:spcPct val="90000"/>
        </a:lnSpc>
        <a:spcBef>
          <a:spcPts val="500"/>
        </a:spcBef>
        <a:buChar char="•"/>
        <a:defRPr sz="1800">
          <a:solidFill>
            <a:schemeClr val="tx1"/>
          </a:solidFill>
          <a:latin typeface="+mn-lt"/>
          <a:ea typeface="+mn-lt"/>
          <a:cs typeface="+mn-lt"/>
        </a:defRPr>
      </a:lvl4pPr>
      <a:lvl5pPr marL="2057400" indent="-228600" algn="l">
        <a:lnSpc>
          <a:spcPct val="90000"/>
        </a:lnSpc>
        <a:spcBef>
          <a:spcPts val="500"/>
        </a:spcBef>
        <a:buChar char="•"/>
        <a:defRPr sz="1800">
          <a:solidFill>
            <a:schemeClr val="tx1"/>
          </a:solidFill>
          <a:latin typeface="+mn-lt"/>
          <a:ea typeface="+mn-lt"/>
          <a:cs typeface="+mn-lt"/>
        </a:defRPr>
      </a:lvl5pPr>
      <a:lvl6pPr marL="2514600" indent="-228600" algn="l">
        <a:lnSpc>
          <a:spcPct val="90000"/>
        </a:lnSpc>
        <a:spcBef>
          <a:spcPts val="500"/>
        </a:spcBef>
        <a:buChar char="•"/>
        <a:defRPr sz="1800">
          <a:solidFill>
            <a:schemeClr val="tx1"/>
          </a:solidFill>
          <a:latin typeface="+mn-lt"/>
          <a:ea typeface="+mn-lt"/>
          <a:cs typeface="+mn-lt"/>
        </a:defRPr>
      </a:lvl6pPr>
      <a:lvl7pPr marL="2971800" indent="-228600" algn="l">
        <a:lnSpc>
          <a:spcPct val="90000"/>
        </a:lnSpc>
        <a:spcBef>
          <a:spcPts val="500"/>
        </a:spcBef>
        <a:buChar char="•"/>
        <a:defRPr sz="1800">
          <a:solidFill>
            <a:schemeClr val="tx1"/>
          </a:solidFill>
          <a:latin typeface="+mn-lt"/>
          <a:ea typeface="+mn-lt"/>
          <a:cs typeface="+mn-lt"/>
        </a:defRPr>
      </a:lvl7pPr>
      <a:lvl8pPr marL="3429000" indent="-228600" algn="l">
        <a:lnSpc>
          <a:spcPct val="90000"/>
        </a:lnSpc>
        <a:spcBef>
          <a:spcPts val="500"/>
        </a:spcBef>
        <a:buChar char="•"/>
        <a:defRPr sz="1800">
          <a:solidFill>
            <a:schemeClr val="tx1"/>
          </a:solidFill>
          <a:latin typeface="+mn-lt"/>
          <a:ea typeface="+mn-lt"/>
          <a:cs typeface="+mn-lt"/>
        </a:defRPr>
      </a:lvl8pPr>
      <a:lvl9pPr marL="3886200" indent="-228600" algn="l">
        <a:lnSpc>
          <a:spcPct val="90000"/>
        </a:lnSpc>
        <a:spcBef>
          <a:spcPts val="500"/>
        </a:spcBef>
        <a:buChar char="•"/>
        <a:defRPr sz="1800">
          <a:solidFill>
            <a:schemeClr val="tx1"/>
          </a:solidFill>
          <a:latin typeface="+mn-lt"/>
          <a:ea typeface="+mn-lt"/>
          <a:cs typeface="+mn-lt"/>
        </a:defRPr>
      </a:lvl9pPr>
    </p:bodyStyle>
    <p:otherStyle>
      <a:lvl1pPr marL="0" algn="l">
        <a:buNone/>
        <a:defRPr sz="1800">
          <a:solidFill>
            <a:schemeClr val="tx1"/>
          </a:solidFill>
          <a:latin typeface="+mn-lt"/>
          <a:ea typeface="+mn-lt"/>
          <a:cs typeface="+mn-lt"/>
        </a:defRPr>
      </a:lvl1pPr>
      <a:lvl2pPr marL="457200" algn="l">
        <a:buNone/>
        <a:defRPr sz="1800">
          <a:solidFill>
            <a:schemeClr val="tx1"/>
          </a:solidFill>
          <a:latin typeface="+mn-lt"/>
          <a:ea typeface="+mn-lt"/>
          <a:cs typeface="+mn-lt"/>
        </a:defRPr>
      </a:lvl2pPr>
      <a:lvl3pPr marL="914400" algn="l">
        <a:buNone/>
        <a:defRPr sz="1800">
          <a:solidFill>
            <a:schemeClr val="tx1"/>
          </a:solidFill>
          <a:latin typeface="+mn-lt"/>
          <a:ea typeface="+mn-lt"/>
          <a:cs typeface="+mn-lt"/>
        </a:defRPr>
      </a:lvl3pPr>
      <a:lvl4pPr marL="1371600" algn="l">
        <a:buNone/>
        <a:defRPr sz="1800">
          <a:solidFill>
            <a:schemeClr val="tx1"/>
          </a:solidFill>
          <a:latin typeface="+mn-lt"/>
          <a:ea typeface="+mn-lt"/>
          <a:cs typeface="+mn-lt"/>
        </a:defRPr>
      </a:lvl4pPr>
      <a:lvl5pPr marL="1828800" algn="l">
        <a:buNone/>
        <a:defRPr sz="1800">
          <a:solidFill>
            <a:schemeClr val="tx1"/>
          </a:solidFill>
          <a:latin typeface="+mn-lt"/>
          <a:ea typeface="+mn-lt"/>
          <a:cs typeface="+mn-lt"/>
        </a:defRPr>
      </a:lvl5pPr>
      <a:lvl6pPr marL="2286000" algn="l">
        <a:buNone/>
        <a:defRPr sz="1800">
          <a:solidFill>
            <a:schemeClr val="tx1"/>
          </a:solidFill>
          <a:latin typeface="+mn-lt"/>
          <a:ea typeface="+mn-lt"/>
          <a:cs typeface="+mn-lt"/>
        </a:defRPr>
      </a:lvl6pPr>
      <a:lvl7pPr marL="2743200" algn="l">
        <a:buNone/>
        <a:defRPr sz="1800">
          <a:solidFill>
            <a:schemeClr val="tx1"/>
          </a:solidFill>
          <a:latin typeface="+mn-lt"/>
          <a:ea typeface="+mn-lt"/>
          <a:cs typeface="+mn-lt"/>
        </a:defRPr>
      </a:lvl7pPr>
      <a:lvl8pPr marL="3200400" algn="l">
        <a:buNone/>
        <a:defRPr sz="1800">
          <a:solidFill>
            <a:schemeClr val="tx1"/>
          </a:solidFill>
          <a:latin typeface="+mn-lt"/>
          <a:ea typeface="+mn-lt"/>
          <a:cs typeface="+mn-lt"/>
        </a:defRPr>
      </a:lvl8pPr>
      <a:lvl9pPr marL="3657600" algn="l">
        <a:buNone/>
        <a:defRPr sz="1800">
          <a:solidFill>
            <a:schemeClr val="tx1"/>
          </a:solidFill>
          <a:latin typeface="+mn-lt"/>
          <a:ea typeface="+mn-lt"/>
          <a:cs typeface="+mn-lt"/>
        </a:defRPr>
      </a:lvl9pPr>
    </p:otherStyle>
  </p:txStyles>
</p:sldMaster>
</file>

<file path=ppt/slides/_rels/slide1.xml.rels><?xml version="1.0" encoding="UTF-8" standalone="yes"?>
<Relationships xmlns="http://schemas.openxmlformats.org/package/2006/relationships"><Relationship Id="rId2" Type="http://schemas.openxmlformats.org/officeDocument/2006/relationships/notesSlide" Target="../notesSlides/notesSlide1.xml"/><Relationship Id="rId1" Type="http://schemas.openxmlformats.org/officeDocument/2006/relationships/slideLayout" Target="../slideLayouts/slideLayout6.xml"/></Relationships>
</file>

<file path=ppt/slides/_rels/slide2.xml.rels><?xml version="1.0" encoding="UTF-8" standalone="yes"?>
<Relationships xmlns="http://schemas.openxmlformats.org/package/2006/relationships"><Relationship Id="rId2" Type="http://schemas.openxmlformats.org/officeDocument/2006/relationships/notesSlide" Target="../notesSlides/notesSlide2.xml"/><Relationship Id="rId1" Type="http://schemas.openxmlformats.org/officeDocument/2006/relationships/slideLayout" Target="../slideLayouts/slideLayout6.xml"/></Relationships>
</file>

<file path=ppt/slides/_rels/slide3.xml.rels><?xml version="1.0" encoding="UTF-8" standalone="yes"?>
<Relationships xmlns="http://schemas.openxmlformats.org/package/2006/relationships"><Relationship Id="rId2" Type="http://schemas.openxmlformats.org/officeDocument/2006/relationships/notesSlide" Target="../notesSlides/notesSlide3.xml"/><Relationship Id="rId1" Type="http://schemas.openxmlformats.org/officeDocument/2006/relationships/slideLayout" Target="../slideLayouts/slideLayout6.xml"/></Relationships>
</file>

<file path=ppt/slides/_rels/slide4.xml.rels><?xml version="1.0" encoding="UTF-8" standalone="yes"?>
<Relationships xmlns="http://schemas.openxmlformats.org/package/2006/relationships"><Relationship Id="rId2" Type="http://schemas.openxmlformats.org/officeDocument/2006/relationships/notesSlide" Target="../notesSlides/notesSlide4.xml"/><Relationship Id="rId1" Type="http://schemas.openxmlformats.org/officeDocument/2006/relationships/slideLayout" Target="../slideLayouts/slideLayout6.xml"/></Relationships>
</file>

<file path=ppt/slides/_rels/slide5.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5.xml"/><Relationship Id="rId1" Type="http://schemas.openxmlformats.org/officeDocument/2006/relationships/slideLayout" Target="../slideLayouts/slideLayout6.xml"/><Relationship Id="rId4" Type="http://schemas.openxmlformats.org/officeDocument/2006/relationships/image" Target="../media/image2.png"/></Relationships>
</file>

<file path=ppt/slides/_rels/slide6.xml.rels><?xml version="1.0" encoding="UTF-8" standalone="yes"?>
<Relationships xmlns="http://schemas.openxmlformats.org/package/2006/relationships"><Relationship Id="rId2" Type="http://schemas.openxmlformats.org/officeDocument/2006/relationships/notesSlide" Target="../notesSlides/notesSlide6.xml"/><Relationship Id="rId1" Type="http://schemas.openxmlformats.org/officeDocument/2006/relationships/slideLayout" Target="../slideLayouts/slideLayout6.xml"/></Relationships>
</file>

<file path=ppt/slides/_rels/slide7.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notesSlide" Target="../notesSlides/notesSlide7.xml"/><Relationship Id="rId1" Type="http://schemas.openxmlformats.org/officeDocument/2006/relationships/slideLayout" Target="../slideLayouts/slideLayout6.xml"/><Relationship Id="rId4" Type="http://schemas.openxmlformats.org/officeDocument/2006/relationships/image" Target="../media/image2.png"/></Relationships>
</file>

<file path=ppt/slides/_rels/slide8.xml.rels><?xml version="1.0" encoding="UTF-8" standalone="yes"?>
<Relationships xmlns="http://schemas.openxmlformats.org/package/2006/relationships"><Relationship Id="rId3" Type="http://schemas.openxmlformats.org/officeDocument/2006/relationships/image" Target="../media/image4.png"/><Relationship Id="rId2" Type="http://schemas.openxmlformats.org/officeDocument/2006/relationships/notesSlide" Target="../notesSlides/notesSlide8.xml"/><Relationship Id="rId1" Type="http://schemas.openxmlformats.org/officeDocument/2006/relationships/slideLayout" Target="../slideLayouts/slideLayout6.xml"/><Relationship Id="rId5" Type="http://schemas.openxmlformats.org/officeDocument/2006/relationships/image" Target="../media/image6.png"/><Relationship Id="rId4" Type="http://schemas.openxmlformats.org/officeDocument/2006/relationships/image" Target="../media/image5.png"/></Relationships>
</file>

<file path=ppt/slides/_rels/slide9.xml.rels><?xml version="1.0" encoding="UTF-8" standalone="yes"?>
<Relationships xmlns="http://schemas.openxmlformats.org/package/2006/relationships"><Relationship Id="rId3" Type="http://schemas.openxmlformats.org/officeDocument/2006/relationships/image" Target="../media/image5.png"/><Relationship Id="rId2" Type="http://schemas.openxmlformats.org/officeDocument/2006/relationships/notesSlide" Target="../notesSlides/notesSlide9.xml"/><Relationship Id="rId1" Type="http://schemas.openxmlformats.org/officeDocument/2006/relationships/slideLayout" Target="../slideLayouts/slideLayout6.xml"/><Relationship Id="rId4" Type="http://schemas.openxmlformats.org/officeDocument/2006/relationships/image" Target="../media/image7.png"/></Relationships>
</file>

<file path=ppt/slides/_rels/slide10.xml.rels><?xml version="1.0" encoding="UTF-8" standalone="yes"?>
<Relationships xmlns="http://schemas.openxmlformats.org/package/2006/relationships"><Relationship Id="rId2" Type="http://schemas.openxmlformats.org/officeDocument/2006/relationships/notesSlide" Target="../notesSlides/notesSlide10.xml"/><Relationship Id="rId1" Type="http://schemas.openxmlformats.org/officeDocument/2006/relationships/slideLayout" Target="../slideLayouts/slideLayout6.xml"/></Relationships>
</file>

<file path=ppt/slides/_rels/slide11.xml.rels><?xml version="1.0" encoding="UTF-8" standalone="yes"?>
<Relationships xmlns="http://schemas.openxmlformats.org/package/2006/relationships"><Relationship Id="rId3" Type="http://schemas.openxmlformats.org/officeDocument/2006/relationships/image" Target="../media/image4.png"/><Relationship Id="rId2" Type="http://schemas.openxmlformats.org/officeDocument/2006/relationships/notesSlide" Target="../notesSlides/notesSlide11.xml"/><Relationship Id="rId1" Type="http://schemas.openxmlformats.org/officeDocument/2006/relationships/slideLayout" Target="../slideLayouts/slideLayout6.xml"/><Relationship Id="rId4" Type="http://schemas.openxmlformats.org/officeDocument/2006/relationships/image" Target="../media/image6.png"/></Relationships>
</file>

<file path=ppt/slides/_rels/slide12.xml.rels><?xml version="1.0" encoding="UTF-8" standalone="yes"?>
<Relationships xmlns="http://schemas.openxmlformats.org/package/2006/relationships"><Relationship Id="rId2" Type="http://schemas.openxmlformats.org/officeDocument/2006/relationships/notesSlide" Target="../notesSlides/notesSlide12.xml"/><Relationship Id="rId1" Type="http://schemas.openxmlformats.org/officeDocument/2006/relationships/slideLayout" Target="../slideLayouts/slideLayout6.xml"/></Relationships>
</file>

<file path=ppt/slides/_rels/slide13.xml.rels><?xml version="1.0" encoding="UTF-8" standalone="yes"?>
<Relationships xmlns="http://schemas.openxmlformats.org/package/2006/relationships"><Relationship Id="rId3" Type="http://schemas.openxmlformats.org/officeDocument/2006/relationships/image" Target="../media/image8.png"/><Relationship Id="rId2" Type="http://schemas.openxmlformats.org/officeDocument/2006/relationships/notesSlide" Target="../notesSlides/notesSlide13.xml"/><Relationship Id="rId1" Type="http://schemas.openxmlformats.org/officeDocument/2006/relationships/slideLayout" Target="../slideLayouts/slideLayout6.xml"/><Relationship Id="rId5" Type="http://schemas.openxmlformats.org/officeDocument/2006/relationships/image" Target="../media/image7.png"/><Relationship Id="rId4" Type="http://schemas.openxmlformats.org/officeDocument/2006/relationships/image" Target="../media/image9.png"/></Relationships>
</file>

<file path=ppt/slides/_rels/slide14.xml.rels><?xml version="1.0" encoding="UTF-8" standalone="yes"?>
<Relationships xmlns="http://schemas.openxmlformats.org/package/2006/relationships"><Relationship Id="rId2" Type="http://schemas.openxmlformats.org/officeDocument/2006/relationships/notesSlide" Target="../notesSlides/notesSlide14.xml"/><Relationship Id="rId1" Type="http://schemas.openxmlformats.org/officeDocument/2006/relationships/slideLayout" Target="../slideLayouts/slideLayout6.xml"/></Relationships>
</file>

<file path=ppt/slides/_rels/slide15.xml.rels><?xml version="1.0" encoding="UTF-8" standalone="yes"?>
<Relationships xmlns="http://schemas.openxmlformats.org/package/2006/relationships"><Relationship Id="rId2" Type="http://schemas.openxmlformats.org/officeDocument/2006/relationships/notesSlide" Target="../notesSlides/notesSlide15.xml"/><Relationship Id="rId1" Type="http://schemas.openxmlformats.org/officeDocument/2006/relationships/slideLayout" Target="../slideLayouts/slideLayout6.xml"/></Relationships>
</file>

<file path=ppt/slides/_rels/slide16.xml.rels><?xml version="1.0" encoding="UTF-8" standalone="yes"?>
<Relationships xmlns="http://schemas.openxmlformats.org/package/2006/relationships"><Relationship Id="rId2" Type="http://schemas.openxmlformats.org/officeDocument/2006/relationships/notesSlide" Target="../notesSlides/notesSlide16.xml"/><Relationship Id="rId1" Type="http://schemas.openxmlformats.org/officeDocument/2006/relationships/slideLayout" Target="../slideLayouts/slideLayout6.xml"/></Relationships>
</file>

<file path=ppt/slides/_rels/slide17.xml.rels><?xml version="1.0" encoding="UTF-8" standalone="yes"?>
<Relationships xmlns="http://schemas.openxmlformats.org/package/2006/relationships"><Relationship Id="rId2" Type="http://schemas.openxmlformats.org/officeDocument/2006/relationships/notesSlide" Target="../notesSlides/notesSlide17.xml"/><Relationship Id="rId1" Type="http://schemas.openxmlformats.org/officeDocument/2006/relationships/slideLayout" Target="../slideLayouts/slideLayout6.xml"/></Relationships>
</file>

<file path=ppt/slides/slide1.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sp>
        <p:nvSpPr>
          <p:cNvPr id="7" name="Rectangle 6">
            <a:extLst>
              <a:ext uri="{FF2B5EF4-FFF2-40B4-BE49-F238E27FC236}">
                <a16:creationId xmlns:a16="http://schemas.microsoft.com/office/drawing/2014/main" id="{8F7ADEF8-AADF-43D1-90C1-50A9B95F509B}"/>
              </a:ext>
            </a:extLst>
          </p:cNvPr>
          <p:cNvSpPr>
            <a:spLocks noGrp="1"/>
          </p:cNvSpPr>
          <p:nvPr/>
        </p:nvSpPr>
        <p:spPr>
          <a:xfrm>
            <a:off x="609600" y="342900"/>
            <a:ext cx="10477500" cy="285750"/>
          </a:xfrm>
          <a:prstGeom prst="rect">
            <a:avLst/>
          </a:prstGeom>
          <a:noFill/>
          <a:ln w="0">
            <a:noFill/>
            <a:prstDash val="solid"/>
          </a:ln>
        </p:spPr>
        <p:txBody>
          <a:bodyPr/>
          <a:lstStyle>
            <a:defPPr>
              <a:defRPr sz="1350" b="1">
                <a:solidFill>
                  <a:srgbClr val="157A80"/>
                </a:solidFill>
                <a:latin typeface="Arial"/>
                <a:ea typeface="Arial"/>
                <a:cs typeface="Arial"/>
              </a:defRPr>
            </a:defPPr>
          </a:lstStyle>
          <a:p>
            <a:pPr>
              <a:defRPr sz="1350" b="1">
                <a:solidFill>
                  <a:srgbClr val="157A80"/>
                </a:solidFill>
                <a:latin typeface="Arial"/>
                <a:ea typeface="Arial"/>
                <a:cs typeface="Arial"/>
              </a:defRPr>
            </a:pPr>
            <a:r>
              <a:rPr sz="1350" b="1">
                <a:solidFill>
                  <a:srgbClr val="157A80"/>
                </a:solidFill>
                <a:latin typeface="Arial"/>
                <a:ea typeface="Arial"/>
                <a:cs typeface="Arial"/>
              </a:rPr>
              <a:t>23CSE452 BUSINESS ANALYTICS</a:t>
            </a:r>
          </a:p>
        </p:txBody>
      </p:sp>
      <p:sp>
        <p:nvSpPr>
          <p:cNvPr id="2" name="Rectangle 1">
            <a:extLst>
              <a:ext uri="{FF2B5EF4-FFF2-40B4-BE49-F238E27FC236}">
                <a16:creationId xmlns:a16="http://schemas.microsoft.com/office/drawing/2014/main" id="{09218575-EBAC-4868-A588-E275AEEAF9CE}"/>
              </a:ext>
            </a:extLst>
          </p:cNvPr>
          <p:cNvSpPr>
            <a:spLocks noGrp="1"/>
          </p:cNvSpPr>
          <p:nvPr/>
        </p:nvSpPr>
        <p:spPr>
          <a:xfrm>
            <a:off x="609600" y="838200"/>
            <a:ext cx="10972800" cy="857250"/>
          </a:xfrm>
          <a:prstGeom prst="rect">
            <a:avLst/>
          </a:prstGeom>
          <a:noFill/>
          <a:ln w="0">
            <a:noFill/>
            <a:prstDash val="solid"/>
          </a:ln>
        </p:spPr>
        <p:txBody>
          <a:bodyPr/>
          <a:lstStyle>
            <a:defPPr>
              <a:defRPr sz="3150" b="1">
                <a:solidFill>
                  <a:srgbClr val="142D4E"/>
                </a:solidFill>
                <a:latin typeface="Arial"/>
                <a:ea typeface="Arial"/>
                <a:cs typeface="Arial"/>
              </a:defRPr>
            </a:defPPr>
          </a:lstStyle>
          <a:p>
            <a:pPr>
              <a:defRPr sz="3150" b="1">
                <a:solidFill>
                  <a:srgbClr val="142D4E"/>
                </a:solidFill>
                <a:latin typeface="Arial"/>
                <a:ea typeface="Arial"/>
                <a:cs typeface="Arial"/>
              </a:defRPr>
            </a:pPr>
            <a:r>
              <a:rPr sz="3150" b="1">
                <a:solidFill>
                  <a:srgbClr val="142D4E"/>
                </a:solidFill>
                <a:latin typeface="Arial"/>
                <a:ea typeface="Arial"/>
                <a:cs typeface="Arial"/>
              </a:rPr>
              <a:t>Quick-Commerce Dark Store Optimization:
Product Demand Forecasting &amp; Purchase Bundle Analysis</a:t>
            </a:r>
          </a:p>
        </p:txBody>
      </p:sp>
      <p:sp>
        <p:nvSpPr>
          <p:cNvPr id="3" name="Rectangle 2">
            <a:extLst>
              <a:ext uri="{FF2B5EF4-FFF2-40B4-BE49-F238E27FC236}">
                <a16:creationId xmlns:a16="http://schemas.microsoft.com/office/drawing/2014/main" id="{6AA5BF02-5CA2-4B87-B873-2B3DCFC07F92}"/>
              </a:ext>
            </a:extLst>
          </p:cNvPr>
          <p:cNvSpPr>
            <a:spLocks noGrp="1"/>
          </p:cNvSpPr>
          <p:nvPr/>
        </p:nvSpPr>
        <p:spPr>
          <a:xfrm>
            <a:off x="10953750" y="6343650"/>
            <a:ext cx="619125" cy="238125"/>
          </a:xfrm>
          <a:prstGeom prst="rect">
            <a:avLst/>
          </a:prstGeom>
          <a:noFill/>
          <a:ln w="0">
            <a:noFill/>
            <a:prstDash val="solid"/>
          </a:ln>
        </p:spPr>
        <p:txBody>
          <a:bodyPr/>
          <a:lstStyle>
            <a:defPPr>
              <a:defRPr sz="1200" b="0">
                <a:solidFill>
                  <a:srgbClr val="66758A"/>
                </a:solidFill>
                <a:latin typeface="Arial"/>
                <a:ea typeface="Arial"/>
                <a:cs typeface="Arial"/>
              </a:defRPr>
            </a:defPPr>
          </a:lstStyle>
          <a:p>
            <a:pPr>
              <a:defRPr sz="1200" b="0">
                <a:solidFill>
                  <a:srgbClr val="66758A"/>
                </a:solidFill>
                <a:latin typeface="Arial"/>
                <a:ea typeface="Arial"/>
                <a:cs typeface="Arial"/>
              </a:defRPr>
            </a:pPr>
            <a:r>
              <a:rPr sz="1200" b="0">
                <a:solidFill>
                  <a:srgbClr val="66758A"/>
                </a:solidFill>
                <a:latin typeface="Arial"/>
                <a:ea typeface="Arial"/>
                <a:cs typeface="Arial"/>
              </a:rPr>
              <a:t>01</a:t>
            </a:r>
          </a:p>
        </p:txBody>
      </p:sp>
      <p:sp>
        <p:nvSpPr>
          <p:cNvPr id="4" name="Rectangle 3">
            <a:extLst>
              <a:ext uri="{FF2B5EF4-FFF2-40B4-BE49-F238E27FC236}">
                <a16:creationId xmlns:a16="http://schemas.microsoft.com/office/drawing/2014/main" id="{00A8C83C-B788-4B95-AE05-315E57A05BAB}"/>
              </a:ext>
            </a:extLst>
          </p:cNvPr>
          <p:cNvSpPr>
            <a:spLocks noGrp="1"/>
          </p:cNvSpPr>
          <p:nvPr/>
        </p:nvSpPr>
        <p:spPr>
          <a:xfrm>
            <a:off x="685800" y="2428875"/>
            <a:ext cx="10477500" cy="666750"/>
          </a:xfrm>
          <a:prstGeom prst="rect">
            <a:avLst/>
          </a:prstGeom>
          <a:noFill/>
          <a:ln w="0">
            <a:noFill/>
            <a:prstDash val="solid"/>
          </a:ln>
        </p:spPr>
        <p:txBody>
          <a:bodyPr/>
          <a:lstStyle>
            <a:defPPr>
              <a:defRPr sz="2850" b="0">
                <a:solidFill>
                  <a:srgbClr val="233247"/>
                </a:solidFill>
                <a:latin typeface="Arial"/>
                <a:ea typeface="Arial"/>
                <a:cs typeface="Arial"/>
              </a:defRPr>
            </a:defPPr>
          </a:lstStyle>
          <a:p>
            <a:pPr>
              <a:defRPr sz="2850" b="0">
                <a:solidFill>
                  <a:srgbClr val="233247"/>
                </a:solidFill>
                <a:latin typeface="Arial"/>
                <a:ea typeface="Arial"/>
                <a:cs typeface="Arial"/>
              </a:defRPr>
            </a:pPr>
            <a:r>
              <a:rPr sz="2850" b="0">
                <a:solidFill>
                  <a:srgbClr val="233247"/>
                </a:solidFill>
                <a:latin typeface="Arial"/>
                <a:ea typeface="Arial"/>
                <a:cs typeface="Arial"/>
              </a:rPr>
              <a:t>Final Project Presentation</a:t>
            </a:r>
          </a:p>
        </p:txBody>
      </p:sp>
      <p:sp>
        <p:nvSpPr>
          <p:cNvPr id="5" name="Rectangle 4">
            <a:extLst>
              <a:ext uri="{FF2B5EF4-FFF2-40B4-BE49-F238E27FC236}">
                <a16:creationId xmlns:a16="http://schemas.microsoft.com/office/drawing/2014/main" id="{E7D801F1-C77E-469A-8C72-B5012D040C8C}"/>
              </a:ext>
            </a:extLst>
          </p:cNvPr>
          <p:cNvSpPr>
            <a:spLocks noGrp="1"/>
          </p:cNvSpPr>
          <p:nvPr/>
        </p:nvSpPr>
        <p:spPr>
          <a:xfrm>
            <a:off x="685800" y="3476625"/>
            <a:ext cx="10477500" cy="857250"/>
          </a:xfrm>
          <a:prstGeom prst="rect">
            <a:avLst/>
          </a:prstGeom>
          <a:noFill/>
          <a:ln w="0">
            <a:noFill/>
            <a:prstDash val="solid"/>
          </a:ln>
        </p:spPr>
        <p:txBody>
          <a:bodyPr/>
          <a:lstStyle>
            <a:defPPr>
              <a:defRPr sz="1875" b="0">
                <a:solidFill>
                  <a:srgbClr val="233247"/>
                </a:solidFill>
                <a:latin typeface="Arial"/>
                <a:ea typeface="Arial"/>
                <a:cs typeface="Arial"/>
              </a:defRPr>
            </a:defPPr>
          </a:lstStyle>
          <a:p>
            <a:pPr>
              <a:defRPr sz="1875" b="0">
                <a:solidFill>
                  <a:srgbClr val="233247"/>
                </a:solidFill>
                <a:latin typeface="Arial"/>
                <a:ea typeface="Arial"/>
                <a:cs typeface="Arial"/>
              </a:defRPr>
            </a:pPr>
            <a:r>
              <a:rPr sz="1875" b="0">
                <a:solidFill>
                  <a:srgbClr val="233247"/>
                </a:solidFill>
                <a:latin typeface="Arial"/>
                <a:ea typeface="Arial"/>
                <a:cs typeface="Arial"/>
              </a:rPr>
              <a:t>Team 1   |   Leena Sri K (CB.SC.U4CSE23526)   A.C. Sanhitha Reddy (CB.SC.U4CSE23206)   Kanish Kumaran M (CB.SC.U4CSE23424)   Ande Taraka Srinivas (CB.SC.U4CSE23212)   Ajay N Mukunth (CB.SC.U4CSE23006)</a:t>
            </a:r>
          </a:p>
        </p:txBody>
      </p:sp>
      <p:sp>
        <p:nvSpPr>
          <p:cNvPr id="6" name="Rectangle 5">
            <a:extLst>
              <a:ext uri="{FF2B5EF4-FFF2-40B4-BE49-F238E27FC236}">
                <a16:creationId xmlns:a16="http://schemas.microsoft.com/office/drawing/2014/main" id="{CFE96CFB-B7A0-4733-A4C1-915426594AEC}"/>
              </a:ext>
            </a:extLst>
          </p:cNvPr>
          <p:cNvSpPr>
            <a:spLocks noGrp="1"/>
          </p:cNvSpPr>
          <p:nvPr/>
        </p:nvSpPr>
        <p:spPr>
          <a:xfrm>
            <a:off x="685800" y="4619625"/>
            <a:ext cx="10477500" cy="571500"/>
          </a:xfrm>
          <a:prstGeom prst="rect">
            <a:avLst/>
          </a:prstGeom>
          <a:noFill/>
          <a:ln w="0">
            <a:noFill/>
            <a:prstDash val="solid"/>
          </a:ln>
        </p:spPr>
        <p:txBody>
          <a:bodyPr/>
          <a:lstStyle>
            <a:defPPr>
              <a:defRPr sz="1800" b="0">
                <a:solidFill>
                  <a:srgbClr val="233247"/>
                </a:solidFill>
                <a:latin typeface="Arial"/>
                <a:ea typeface="Arial"/>
                <a:cs typeface="Arial"/>
              </a:defRPr>
            </a:defPPr>
          </a:lstStyle>
          <a:p>
            <a:pPr>
              <a:defRPr sz="1800" b="0">
                <a:solidFill>
                  <a:srgbClr val="233247"/>
                </a:solidFill>
                <a:latin typeface="Arial"/>
                <a:ea typeface="Arial"/>
                <a:cs typeface="Arial"/>
              </a:defRPr>
            </a:pPr>
            <a:r>
              <a:rPr sz="1800" b="0">
                <a:solidFill>
                  <a:srgbClr val="233247"/>
                </a:solidFill>
                <a:latin typeface="Arial"/>
                <a:ea typeface="Arial"/>
                <a:cs typeface="Arial"/>
              </a:rPr>
              <a:t>Guide: Faculty, Dept. of CSE     |     Date: October 2026</a:t>
            </a:r>
          </a:p>
        </p:txBody>
      </p:sp>
    </p:spTree>
    <p:extLst>
      <p:ext uri="{BB962C8B-B14F-4D97-AF65-F5344CB8AC3E}">
        <p14:creationId xmlns:p14="http://schemas.microsoft.com/office/powerpoint/2010/main" val="1396529671"/>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sp>
        <p:nvSpPr>
          <p:cNvPr id="8" name="Rectangle 7">
            <a:extLst>
              <a:ext uri="{FF2B5EF4-FFF2-40B4-BE49-F238E27FC236}">
                <a16:creationId xmlns:a16="http://schemas.microsoft.com/office/drawing/2014/main" id="{6E7343E7-897E-4DAC-BDC5-EAE42CCBBA13}"/>
              </a:ext>
            </a:extLst>
          </p:cNvPr>
          <p:cNvSpPr>
            <a:spLocks noGrp="1"/>
          </p:cNvSpPr>
          <p:nvPr/>
        </p:nvSpPr>
        <p:spPr>
          <a:xfrm>
            <a:off x="609600" y="342900"/>
            <a:ext cx="10477500" cy="285750"/>
          </a:xfrm>
          <a:prstGeom prst="rect">
            <a:avLst/>
          </a:prstGeom>
          <a:noFill/>
          <a:ln w="0">
            <a:noFill/>
            <a:prstDash val="solid"/>
          </a:ln>
        </p:spPr>
        <p:txBody>
          <a:bodyPr/>
          <a:lstStyle>
            <a:defPPr>
              <a:defRPr sz="1350" b="1">
                <a:solidFill>
                  <a:srgbClr val="157A80"/>
                </a:solidFill>
                <a:latin typeface="Arial"/>
                <a:ea typeface="Arial"/>
                <a:cs typeface="Arial"/>
              </a:defRPr>
            </a:defPPr>
          </a:lstStyle>
          <a:p>
            <a:pPr>
              <a:defRPr sz="1350" b="1">
                <a:solidFill>
                  <a:srgbClr val="157A80"/>
                </a:solidFill>
                <a:latin typeface="Arial"/>
                <a:ea typeface="Arial"/>
                <a:cs typeface="Arial"/>
              </a:defRPr>
            </a:pPr>
            <a:r>
              <a:rPr sz="1350" b="1">
                <a:solidFill>
                  <a:srgbClr val="157A80"/>
                </a:solidFill>
                <a:latin typeface="Arial"/>
                <a:ea typeface="Arial"/>
                <a:cs typeface="Arial"/>
              </a:rPr>
              <a:t>PROJECT OVERVIEW</a:t>
            </a:r>
          </a:p>
        </p:txBody>
      </p:sp>
      <p:sp>
        <p:nvSpPr>
          <p:cNvPr id="2" name="Rectangle 1">
            <a:extLst>
              <a:ext uri="{FF2B5EF4-FFF2-40B4-BE49-F238E27FC236}">
                <a16:creationId xmlns:a16="http://schemas.microsoft.com/office/drawing/2014/main" id="{FED1F470-9F33-4ECE-9801-5FEC2B16012C}"/>
              </a:ext>
            </a:extLst>
          </p:cNvPr>
          <p:cNvSpPr>
            <a:spLocks noGrp="1"/>
          </p:cNvSpPr>
          <p:nvPr/>
        </p:nvSpPr>
        <p:spPr>
          <a:xfrm>
            <a:off x="609600" y="838200"/>
            <a:ext cx="10972800" cy="857250"/>
          </a:xfrm>
          <a:prstGeom prst="rect">
            <a:avLst/>
          </a:prstGeom>
          <a:noFill/>
          <a:ln w="0">
            <a:noFill/>
            <a:prstDash val="solid"/>
          </a:ln>
        </p:spPr>
        <p:txBody>
          <a:bodyPr/>
          <a:lstStyle>
            <a:defPPr>
              <a:defRPr sz="3150" b="1">
                <a:solidFill>
                  <a:srgbClr val="142D4E"/>
                </a:solidFill>
                <a:latin typeface="Arial"/>
                <a:ea typeface="Arial"/>
                <a:cs typeface="Arial"/>
              </a:defRPr>
            </a:defPPr>
          </a:lstStyle>
          <a:p>
            <a:pPr>
              <a:defRPr sz="3150" b="1">
                <a:solidFill>
                  <a:srgbClr val="142D4E"/>
                </a:solidFill>
                <a:latin typeface="Arial"/>
                <a:ea typeface="Arial"/>
                <a:cs typeface="Arial"/>
              </a:defRPr>
            </a:pPr>
            <a:r>
              <a:rPr sz="3150" b="1">
                <a:solidFill>
                  <a:srgbClr val="142D4E"/>
                </a:solidFill>
                <a:latin typeface="Arial"/>
                <a:ea typeface="Arial"/>
                <a:cs typeface="Arial"/>
              </a:rPr>
              <a:t>Business problem and objectives</a:t>
            </a:r>
          </a:p>
        </p:txBody>
      </p:sp>
      <p:sp>
        <p:nvSpPr>
          <p:cNvPr id="3" name="Rectangle 2">
            <a:extLst>
              <a:ext uri="{FF2B5EF4-FFF2-40B4-BE49-F238E27FC236}">
                <a16:creationId xmlns:a16="http://schemas.microsoft.com/office/drawing/2014/main" id="{1C59113F-EFA7-4894-9DAC-CFF6316D49B3}"/>
              </a:ext>
            </a:extLst>
          </p:cNvPr>
          <p:cNvSpPr>
            <a:spLocks noGrp="1"/>
          </p:cNvSpPr>
          <p:nvPr/>
        </p:nvSpPr>
        <p:spPr>
          <a:xfrm>
            <a:off x="10953750" y="6343650"/>
            <a:ext cx="619125" cy="238125"/>
          </a:xfrm>
          <a:prstGeom prst="rect">
            <a:avLst/>
          </a:prstGeom>
          <a:noFill/>
          <a:ln w="0">
            <a:noFill/>
            <a:prstDash val="solid"/>
          </a:ln>
        </p:spPr>
        <p:txBody>
          <a:bodyPr/>
          <a:lstStyle>
            <a:defPPr>
              <a:defRPr sz="1200" b="0">
                <a:solidFill>
                  <a:srgbClr val="66758A"/>
                </a:solidFill>
                <a:latin typeface="Arial"/>
                <a:ea typeface="Arial"/>
                <a:cs typeface="Arial"/>
              </a:defRPr>
            </a:defPPr>
          </a:lstStyle>
          <a:p>
            <a:pPr>
              <a:defRPr sz="1200" b="0">
                <a:solidFill>
                  <a:srgbClr val="66758A"/>
                </a:solidFill>
                <a:latin typeface="Arial"/>
                <a:ea typeface="Arial"/>
                <a:cs typeface="Arial"/>
              </a:defRPr>
            </a:pPr>
            <a:r>
              <a:rPr sz="1200" b="0">
                <a:solidFill>
                  <a:srgbClr val="66758A"/>
                </a:solidFill>
                <a:latin typeface="Arial"/>
                <a:ea typeface="Arial"/>
                <a:cs typeface="Arial"/>
              </a:rPr>
              <a:t>02</a:t>
            </a:r>
          </a:p>
        </p:txBody>
      </p:sp>
      <p:sp>
        <p:nvSpPr>
          <p:cNvPr id="4" name="Rectangle 3">
            <a:extLst>
              <a:ext uri="{FF2B5EF4-FFF2-40B4-BE49-F238E27FC236}">
                <a16:creationId xmlns:a16="http://schemas.microsoft.com/office/drawing/2014/main" id="{EE0745E4-06FC-4A61-A5EC-5ACBCB04D1A2}"/>
              </a:ext>
            </a:extLst>
          </p:cNvPr>
          <p:cNvSpPr>
            <a:spLocks noGrp="1"/>
          </p:cNvSpPr>
          <p:nvPr/>
        </p:nvSpPr>
        <p:spPr>
          <a:xfrm>
            <a:off x="685800" y="2019300"/>
            <a:ext cx="10668000" cy="685800"/>
          </a:xfrm>
          <a:prstGeom prst="rect">
            <a:avLst/>
          </a:prstGeom>
          <a:noFill/>
          <a:ln w="0">
            <a:noFill/>
            <a:prstDash val="solid"/>
          </a:ln>
        </p:spPr>
        <p:txBody>
          <a:bodyPr/>
          <a:lstStyle>
            <a:defPPr>
              <a:defRPr sz="2025" b="0">
                <a:solidFill>
                  <a:srgbClr val="233247"/>
                </a:solidFill>
                <a:latin typeface="Arial"/>
                <a:ea typeface="Arial"/>
                <a:cs typeface="Arial"/>
              </a:defRPr>
            </a:defPPr>
          </a:lstStyle>
          <a:p>
            <a:pPr>
              <a:defRPr sz="2025" b="0">
                <a:solidFill>
                  <a:srgbClr val="233247"/>
                </a:solidFill>
                <a:latin typeface="Arial"/>
                <a:ea typeface="Arial"/>
                <a:cs typeface="Arial"/>
              </a:defRPr>
            </a:pPr>
            <a:r>
              <a:rPr sz="2025" b="0">
                <a:solidFill>
                  <a:srgbClr val="233247"/>
                </a:solidFill>
                <a:latin typeface="Arial"/>
                <a:ea typeface="Arial"/>
                <a:cs typeface="Arial"/>
              </a:rPr>
              <a:t>Business problem: Blinkit dark store operators face demand volatility causing stockouts during peak windows and perishable write-offs during off-peak hours, while missing cross-sell revenue from unidentified product bundle affinities.</a:t>
            </a:r>
          </a:p>
        </p:txBody>
      </p:sp>
      <p:sp>
        <p:nvSpPr>
          <p:cNvPr id="5" name="Rectangle 4">
            <a:extLst>
              <a:ext uri="{FF2B5EF4-FFF2-40B4-BE49-F238E27FC236}">
                <a16:creationId xmlns:a16="http://schemas.microsoft.com/office/drawing/2014/main" id="{5B7A7B16-567A-4CE1-8454-F080C301E37C}"/>
              </a:ext>
            </a:extLst>
          </p:cNvPr>
          <p:cNvSpPr>
            <a:spLocks noGrp="1"/>
          </p:cNvSpPr>
          <p:nvPr/>
        </p:nvSpPr>
        <p:spPr>
          <a:xfrm>
            <a:off x="685800" y="2838450"/>
            <a:ext cx="10668000" cy="685800"/>
          </a:xfrm>
          <a:prstGeom prst="rect">
            <a:avLst/>
          </a:prstGeom>
          <a:noFill/>
          <a:ln w="0">
            <a:noFill/>
            <a:prstDash val="solid"/>
          </a:ln>
        </p:spPr>
        <p:txBody>
          <a:bodyPr/>
          <a:lstStyle>
            <a:defPPr>
              <a:defRPr sz="2025" b="0">
                <a:solidFill>
                  <a:srgbClr val="233247"/>
                </a:solidFill>
                <a:latin typeface="Arial"/>
                <a:ea typeface="Arial"/>
                <a:cs typeface="Arial"/>
              </a:defRPr>
            </a:defPPr>
          </a:lstStyle>
          <a:p>
            <a:pPr>
              <a:defRPr sz="2025" b="0">
                <a:solidFill>
                  <a:srgbClr val="233247"/>
                </a:solidFill>
                <a:latin typeface="Arial"/>
                <a:ea typeface="Arial"/>
                <a:cs typeface="Arial"/>
              </a:defRPr>
            </a:pPr>
            <a:r>
              <a:rPr sz="2025" b="0">
                <a:solidFill>
                  <a:srgbClr val="233247"/>
                </a:solidFill>
                <a:latin typeface="Arial"/>
                <a:ea typeface="Arial"/>
                <a:cs typeface="Arial"/>
              </a:rPr>
              <a:t>Objectives:
1. Forecast daily aggregate product demand 30 days ahead (WAPE &lt; 12%).
2. Mine statistically significant product co-purchase rules (Lift &gt; 1.5).</a:t>
            </a:r>
          </a:p>
        </p:txBody>
      </p:sp>
      <p:sp>
        <p:nvSpPr>
          <p:cNvPr id="6" name="Rectangle 5">
            <a:extLst>
              <a:ext uri="{FF2B5EF4-FFF2-40B4-BE49-F238E27FC236}">
                <a16:creationId xmlns:a16="http://schemas.microsoft.com/office/drawing/2014/main" id="{6A41A58E-E834-43D8-B9AA-B3ECB73E2FE8}"/>
              </a:ext>
            </a:extLst>
          </p:cNvPr>
          <p:cNvSpPr>
            <a:spLocks noGrp="1"/>
          </p:cNvSpPr>
          <p:nvPr/>
        </p:nvSpPr>
        <p:spPr>
          <a:xfrm>
            <a:off x="685800" y="3657600"/>
            <a:ext cx="10668000" cy="685800"/>
          </a:xfrm>
          <a:prstGeom prst="rect">
            <a:avLst/>
          </a:prstGeom>
          <a:noFill/>
          <a:ln w="0">
            <a:noFill/>
            <a:prstDash val="solid"/>
          </a:ln>
        </p:spPr>
        <p:txBody>
          <a:bodyPr/>
          <a:lstStyle>
            <a:defPPr>
              <a:defRPr sz="2025" b="0">
                <a:solidFill>
                  <a:srgbClr val="233247"/>
                </a:solidFill>
                <a:latin typeface="Arial"/>
                <a:ea typeface="Arial"/>
                <a:cs typeface="Arial"/>
              </a:defRPr>
            </a:defPPr>
          </a:lstStyle>
          <a:p>
            <a:pPr>
              <a:defRPr sz="2025" b="0">
                <a:solidFill>
                  <a:srgbClr val="233247"/>
                </a:solidFill>
                <a:latin typeface="Arial"/>
                <a:ea typeface="Arial"/>
                <a:cs typeface="Arial"/>
              </a:defRPr>
            </a:pPr>
            <a:r>
              <a:rPr sz="2025" b="0">
                <a:solidFill>
                  <a:srgbClr val="233247"/>
                </a:solidFill>
                <a:latin typeface="Arial"/>
                <a:ea typeface="Arial"/>
                <a:cs typeface="Arial"/>
              </a:rPr>
              <a:t>Business decision: Dark store replenishment scheduling and promotional bundle design.</a:t>
            </a:r>
          </a:p>
        </p:txBody>
      </p:sp>
      <p:sp>
        <p:nvSpPr>
          <p:cNvPr id="7" name="Rectangle 6">
            <a:extLst>
              <a:ext uri="{FF2B5EF4-FFF2-40B4-BE49-F238E27FC236}">
                <a16:creationId xmlns:a16="http://schemas.microsoft.com/office/drawing/2014/main" id="{A95CB975-5F85-44EA-9A3E-9E1BBD5AC1A0}"/>
              </a:ext>
            </a:extLst>
          </p:cNvPr>
          <p:cNvSpPr>
            <a:spLocks noGrp="1"/>
          </p:cNvSpPr>
          <p:nvPr/>
        </p:nvSpPr>
        <p:spPr>
          <a:xfrm>
            <a:off x="685800" y="4476750"/>
            <a:ext cx="10668000" cy="685800"/>
          </a:xfrm>
          <a:prstGeom prst="rect">
            <a:avLst/>
          </a:prstGeom>
          <a:noFill/>
          <a:ln w="0">
            <a:noFill/>
            <a:prstDash val="solid"/>
          </a:ln>
        </p:spPr>
        <p:txBody>
          <a:bodyPr/>
          <a:lstStyle>
            <a:defPPr>
              <a:defRPr sz="2025" b="0">
                <a:solidFill>
                  <a:srgbClr val="233247"/>
                </a:solidFill>
                <a:latin typeface="Arial"/>
                <a:ea typeface="Arial"/>
                <a:cs typeface="Arial"/>
              </a:defRPr>
            </a:defPPr>
          </a:lstStyle>
          <a:p>
            <a:pPr>
              <a:defRPr sz="2025" b="0">
                <a:solidFill>
                  <a:srgbClr val="233247"/>
                </a:solidFill>
                <a:latin typeface="Arial"/>
                <a:ea typeface="Arial"/>
                <a:cs typeface="Arial"/>
              </a:defRPr>
            </a:pPr>
            <a:r>
              <a:rPr sz="2025" b="0">
                <a:solidFill>
                  <a:srgbClr val="233247"/>
                </a:solidFill>
                <a:latin typeface="Arial"/>
                <a:ea typeface="Arial"/>
                <a:cs typeface="Arial"/>
              </a:rPr>
              <a:t>Expected output:
• 30-day demand forecast with RMSE/WAPE model comparison.
• 42 association rules with lift scores for bundle recommendations.
• Interactive dashboard for stakeholder exploration.</a:t>
            </a:r>
          </a:p>
        </p:txBody>
      </p:sp>
    </p:spTree>
    <p:extLst>
      <p:ext uri="{BB962C8B-B14F-4D97-AF65-F5344CB8AC3E}">
        <p14:creationId xmlns:p14="http://schemas.microsoft.com/office/powerpoint/2010/main" val="120750324"/>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sp>
        <p:nvSpPr>
          <p:cNvPr id="6" name="Rectangle 5">
            <a:extLst>
              <a:ext uri="{FF2B5EF4-FFF2-40B4-BE49-F238E27FC236}">
                <a16:creationId xmlns:a16="http://schemas.microsoft.com/office/drawing/2014/main" id="{3368A3F6-EA40-4274-A965-7B5983BD59C4}"/>
              </a:ext>
            </a:extLst>
          </p:cNvPr>
          <p:cNvSpPr>
            <a:spLocks noGrp="1"/>
          </p:cNvSpPr>
          <p:nvPr/>
        </p:nvSpPr>
        <p:spPr>
          <a:xfrm>
            <a:off x="609600" y="342900"/>
            <a:ext cx="10477500" cy="285750"/>
          </a:xfrm>
          <a:prstGeom prst="rect">
            <a:avLst/>
          </a:prstGeom>
          <a:noFill/>
          <a:ln w="0">
            <a:noFill/>
            <a:prstDash val="solid"/>
          </a:ln>
        </p:spPr>
        <p:txBody>
          <a:bodyPr/>
          <a:lstStyle>
            <a:defPPr>
              <a:defRPr sz="1350" b="1">
                <a:solidFill>
                  <a:srgbClr val="157A80"/>
                </a:solidFill>
                <a:latin typeface="Arial"/>
                <a:ea typeface="Arial"/>
                <a:cs typeface="Arial"/>
              </a:defRPr>
            </a:defPPr>
          </a:lstStyle>
          <a:p>
            <a:pPr>
              <a:defRPr sz="1350" b="1">
                <a:solidFill>
                  <a:srgbClr val="157A80"/>
                </a:solidFill>
                <a:latin typeface="Arial"/>
                <a:ea typeface="Arial"/>
                <a:cs typeface="Arial"/>
              </a:defRPr>
            </a:pPr>
            <a:r>
              <a:rPr sz="1350" b="1">
                <a:solidFill>
                  <a:srgbClr val="157A80"/>
                </a:solidFill>
                <a:latin typeface="Arial"/>
                <a:ea typeface="Arial"/>
                <a:cs typeface="Arial"/>
              </a:rPr>
              <a:t>UNITS 1 TO 3</a:t>
            </a:r>
          </a:p>
        </p:txBody>
      </p:sp>
      <p:sp>
        <p:nvSpPr>
          <p:cNvPr id="2" name="Rectangle 1">
            <a:extLst>
              <a:ext uri="{FF2B5EF4-FFF2-40B4-BE49-F238E27FC236}">
                <a16:creationId xmlns:a16="http://schemas.microsoft.com/office/drawing/2014/main" id="{240865B3-5019-438A-B46E-CB05F418C0B2}"/>
              </a:ext>
            </a:extLst>
          </p:cNvPr>
          <p:cNvSpPr>
            <a:spLocks noGrp="1"/>
          </p:cNvSpPr>
          <p:nvPr/>
        </p:nvSpPr>
        <p:spPr>
          <a:xfrm>
            <a:off x="609600" y="838200"/>
            <a:ext cx="10972800" cy="857250"/>
          </a:xfrm>
          <a:prstGeom prst="rect">
            <a:avLst/>
          </a:prstGeom>
          <a:noFill/>
          <a:ln w="0">
            <a:noFill/>
            <a:prstDash val="solid"/>
          </a:ln>
        </p:spPr>
        <p:txBody>
          <a:bodyPr/>
          <a:lstStyle>
            <a:defPPr>
              <a:defRPr sz="3150" b="1">
                <a:solidFill>
                  <a:srgbClr val="142D4E"/>
                </a:solidFill>
                <a:latin typeface="Arial"/>
                <a:ea typeface="Arial"/>
                <a:cs typeface="Arial"/>
              </a:defRPr>
            </a:defPPr>
          </a:lstStyle>
          <a:p>
            <a:pPr>
              <a:defRPr sz="3150" b="1">
                <a:solidFill>
                  <a:srgbClr val="142D4E"/>
                </a:solidFill>
                <a:latin typeface="Arial"/>
                <a:ea typeface="Arial"/>
                <a:cs typeface="Arial"/>
              </a:defRPr>
            </a:pPr>
            <a:r>
              <a:rPr sz="3150" b="1">
                <a:solidFill>
                  <a:srgbClr val="142D4E"/>
                </a:solidFill>
                <a:latin typeface="Arial"/>
                <a:ea typeface="Arial"/>
                <a:cs typeface="Arial"/>
              </a:rPr>
              <a:t>Complete project workflow</a:t>
            </a:r>
          </a:p>
        </p:txBody>
      </p:sp>
      <p:sp>
        <p:nvSpPr>
          <p:cNvPr id="3" name="Rectangle 2">
            <a:extLst>
              <a:ext uri="{FF2B5EF4-FFF2-40B4-BE49-F238E27FC236}">
                <a16:creationId xmlns:a16="http://schemas.microsoft.com/office/drawing/2014/main" id="{F816DB07-E00A-4260-A0E8-0337A7A73395}"/>
              </a:ext>
            </a:extLst>
          </p:cNvPr>
          <p:cNvSpPr>
            <a:spLocks noGrp="1"/>
          </p:cNvSpPr>
          <p:nvPr/>
        </p:nvSpPr>
        <p:spPr>
          <a:xfrm>
            <a:off x="10953750" y="6343650"/>
            <a:ext cx="619125" cy="238125"/>
          </a:xfrm>
          <a:prstGeom prst="rect">
            <a:avLst/>
          </a:prstGeom>
          <a:noFill/>
          <a:ln w="0">
            <a:noFill/>
            <a:prstDash val="solid"/>
          </a:ln>
        </p:spPr>
        <p:txBody>
          <a:bodyPr/>
          <a:lstStyle>
            <a:defPPr>
              <a:defRPr sz="1200" b="0">
                <a:solidFill>
                  <a:srgbClr val="66758A"/>
                </a:solidFill>
                <a:latin typeface="Arial"/>
                <a:ea typeface="Arial"/>
                <a:cs typeface="Arial"/>
              </a:defRPr>
            </a:defPPr>
          </a:lstStyle>
          <a:p>
            <a:pPr>
              <a:defRPr sz="1200" b="0">
                <a:solidFill>
                  <a:srgbClr val="66758A"/>
                </a:solidFill>
                <a:latin typeface="Arial"/>
                <a:ea typeface="Arial"/>
                <a:cs typeface="Arial"/>
              </a:defRPr>
            </a:pPr>
            <a:r>
              <a:rPr sz="1200" b="0">
                <a:solidFill>
                  <a:srgbClr val="66758A"/>
                </a:solidFill>
                <a:latin typeface="Arial"/>
                <a:ea typeface="Arial"/>
                <a:cs typeface="Arial"/>
              </a:rPr>
              <a:t>03</a:t>
            </a:r>
          </a:p>
        </p:txBody>
      </p:sp>
      <p:graphicFrame>
        <p:nvGraphicFramePr>
          <p:cNvPr id="4" name="Table 3">
            <a:extLst>
              <a:ext uri="{FF2B5EF4-FFF2-40B4-BE49-F238E27FC236}">
                <a16:creationId xmlns:a16="http://schemas.microsoft.com/office/drawing/2014/main" id="{F7216A9A-B30F-435A-B53B-00121FAFC2FC}"/>
              </a:ext>
            </a:extLst>
          </p:cNvPr>
          <p:cNvGraphicFramePr/>
          <p:nvPr/>
        </p:nvGraphicFramePr>
        <p:xfrm>
          <a:off x="609600" y="1952625"/>
          <a:ext cx="10972800" cy="3333750"/>
        </p:xfrm>
        <a:graphic>
          <a:graphicData uri="http://schemas.openxmlformats.org/drawingml/2006/table">
            <a:tbl>
              <a:tblPr/>
              <a:tblGrid>
                <a:gridCol w="2476500">
                  <a:extLst>
                    <a:ext uri="{9D8B030D-6E8A-4147-A177-3AD203B41FA5}">
                      <a16:colId xmlns:a16="http://schemas.microsoft.com/office/drawing/2014/main" val="20000"/>
                    </a:ext>
                  </a:extLst>
                </a:gridCol>
                <a:gridCol w="8496300">
                  <a:extLst>
                    <a:ext uri="{9D8B030D-6E8A-4147-A177-3AD203B41FA5}">
                      <a16:colId xmlns:a16="http://schemas.microsoft.com/office/drawing/2014/main" val="20001"/>
                    </a:ext>
                  </a:extLst>
                </a:gridCol>
              </a:tblGrid>
              <a:tr h="666750">
                <a:tc>
                  <a:txBody>
                    <a:bodyPr/>
                    <a:lstStyle/>
                    <a:p>
                      <a:r>
                        <a:rPr sz="1650" b="1">
                          <a:solidFill>
                            <a:srgbClr val="FFFFFF"/>
                          </a:solidFill>
                          <a:latin typeface="Arial"/>
                          <a:ea typeface="Arial"/>
                          <a:cs typeface="Arial"/>
                        </a:rPr>
                        <a:t>Stage</a:t>
                      </a:r>
                    </a:p>
                  </a:txBody>
                  <a:tcPr>
                    <a:lnL w="9525">
                      <a:solidFill>
                        <a:srgbClr val="CDD7DF"/>
                      </a:solidFill>
                      <a:prstDash val="solid"/>
                    </a:lnL>
                    <a:lnR w="9525">
                      <a:solidFill>
                        <a:srgbClr val="CDD7DF"/>
                      </a:solidFill>
                      <a:prstDash val="solid"/>
                    </a:lnR>
                    <a:lnT w="9525">
                      <a:solidFill>
                        <a:srgbClr val="CDD7DF"/>
                      </a:solidFill>
                      <a:prstDash val="solid"/>
                    </a:lnT>
                    <a:lnB w="9525">
                      <a:solidFill>
                        <a:srgbClr val="CDD7DF"/>
                      </a:solidFill>
                      <a:prstDash val="solid"/>
                    </a:lnB>
                    <a:solidFill>
                      <a:srgbClr val="142D4E"/>
                    </a:solidFill>
                  </a:tcPr>
                </a:tc>
                <a:tc>
                  <a:txBody>
                    <a:bodyPr/>
                    <a:lstStyle/>
                    <a:p>
                      <a:r>
                        <a:rPr sz="1650" b="1">
                          <a:solidFill>
                            <a:srgbClr val="FFFFFF"/>
                          </a:solidFill>
                          <a:latin typeface="Arial"/>
                          <a:ea typeface="Arial"/>
                          <a:cs typeface="Arial"/>
                        </a:rPr>
                        <a:t>Your implementation</a:t>
                      </a:r>
                    </a:p>
                  </a:txBody>
                  <a:tcPr>
                    <a:lnL w="9525" cap="flat" cmpd="sng" algn="ctr">
                      <a:solidFill>
                        <a:srgbClr val="CDD7DF"/>
                      </a:solidFill>
                      <a:prstDash val="solid"/>
                      <a:round/>
                      <a:headEnd type="none" w="med" len="med"/>
                      <a:tailEnd type="none" w="med" len="med"/>
                    </a:lnL>
                    <a:lnR w="9525">
                      <a:solidFill>
                        <a:srgbClr val="CDD7DF"/>
                      </a:solidFill>
                      <a:prstDash val="solid"/>
                    </a:lnR>
                    <a:lnT w="9525">
                      <a:solidFill>
                        <a:srgbClr val="CDD7DF"/>
                      </a:solidFill>
                      <a:prstDash val="solid"/>
                    </a:lnT>
                    <a:lnB w="9525">
                      <a:solidFill>
                        <a:srgbClr val="CDD7DF"/>
                      </a:solidFill>
                      <a:prstDash val="solid"/>
                    </a:lnB>
                    <a:solidFill>
                      <a:srgbClr val="142D4E"/>
                    </a:solidFill>
                  </a:tcPr>
                </a:tc>
                <a:extLst>
                  <a:ext uri="{0D108BD9-81ED-4DB2-BD59-A6C34878D82A}">
                    <a16:rowId xmlns:a16="http://schemas.microsoft.com/office/drawing/2014/main" val="10000"/>
                  </a:ext>
                </a:extLst>
              </a:tr>
              <a:tr h="666750">
                <a:tc>
                  <a:txBody>
                    <a:bodyPr/>
                    <a:lstStyle/>
                    <a:p>
                      <a:r>
                        <a:rPr sz="1650" b="0">
                          <a:solidFill>
                            <a:srgbClr val="233247"/>
                          </a:solidFill>
                          <a:latin typeface="Arial"/>
                          <a:ea typeface="Arial"/>
                          <a:cs typeface="Arial"/>
                        </a:rPr>
                        <a:t>Unit 1</a:t>
                      </a:r>
                    </a:p>
                  </a:txBody>
                  <a:tcPr>
                    <a:lnL w="9525">
                      <a:solidFill>
                        <a:srgbClr val="CDD7DF"/>
                      </a:solidFill>
                      <a:prstDash val="solid"/>
                    </a:lnL>
                    <a:lnR w="9525">
                      <a:solidFill>
                        <a:srgbClr val="CDD7DF"/>
                      </a:solidFill>
                      <a:prstDash val="solid"/>
                    </a:lnR>
                    <a:lnT w="9525" cap="flat" cmpd="sng" algn="ctr">
                      <a:solidFill>
                        <a:srgbClr val="CDD7DF"/>
                      </a:solidFill>
                      <a:prstDash val="solid"/>
                      <a:round/>
                      <a:headEnd type="none" w="med" len="med"/>
                      <a:tailEnd type="none" w="med" len="med"/>
                    </a:lnT>
                    <a:lnB w="9525">
                      <a:solidFill>
                        <a:srgbClr val="CDD7DF"/>
                      </a:solidFill>
                      <a:prstDash val="solid"/>
                    </a:lnB>
                    <a:solidFill>
                      <a:srgbClr val="F0F5F7"/>
                    </a:solidFill>
                  </a:tcPr>
                </a:tc>
                <a:tc>
                  <a:txBody>
                    <a:bodyPr/>
                    <a:lstStyle/>
                    <a:p>
                      <a:r>
                        <a:rPr sz="1650" b="0">
                          <a:solidFill>
                            <a:srgbClr val="233247"/>
                          </a:solidFill>
                          <a:latin typeface="Arial"/>
                          <a:ea typeface="Arial"/>
                          <a:cs typeface="Arial"/>
                        </a:rPr>
                        <a:t>[Collection, validation, preprocessing and EDA]</a:t>
                      </a:r>
                    </a:p>
                  </a:txBody>
                  <a:tcPr>
                    <a:lnL w="9525" cap="flat" cmpd="sng" algn="ctr">
                      <a:solidFill>
                        <a:srgbClr val="CDD7DF"/>
                      </a:solidFill>
                      <a:prstDash val="solid"/>
                      <a:round/>
                      <a:headEnd type="none" w="med" len="med"/>
                      <a:tailEnd type="none" w="med" len="med"/>
                    </a:lnL>
                    <a:lnR w="9525">
                      <a:solidFill>
                        <a:srgbClr val="CDD7DF"/>
                      </a:solidFill>
                      <a:prstDash val="solid"/>
                    </a:lnR>
                    <a:lnT w="9525" cap="flat" cmpd="sng" algn="ctr">
                      <a:solidFill>
                        <a:srgbClr val="CDD7DF"/>
                      </a:solidFill>
                      <a:prstDash val="solid"/>
                      <a:round/>
                      <a:headEnd type="none" w="med" len="med"/>
                      <a:tailEnd type="none" w="med" len="med"/>
                    </a:lnT>
                    <a:lnB w="9525">
                      <a:solidFill>
                        <a:srgbClr val="CDD7DF"/>
                      </a:solidFill>
                      <a:prstDash val="solid"/>
                    </a:lnB>
                    <a:solidFill>
                      <a:srgbClr val="F0F5F7"/>
                    </a:solidFill>
                  </a:tcPr>
                </a:tc>
                <a:extLst>
                  <a:ext uri="{0D108BD9-81ED-4DB2-BD59-A6C34878D82A}">
                    <a16:rowId xmlns:a16="http://schemas.microsoft.com/office/drawing/2014/main" val="10001"/>
                  </a:ext>
                </a:extLst>
              </a:tr>
              <a:tr h="666750">
                <a:tc>
                  <a:txBody>
                    <a:bodyPr/>
                    <a:lstStyle/>
                    <a:p>
                      <a:r>
                        <a:rPr sz="1650" b="0">
                          <a:solidFill>
                            <a:srgbClr val="233247"/>
                          </a:solidFill>
                          <a:latin typeface="Arial"/>
                          <a:ea typeface="Arial"/>
                          <a:cs typeface="Arial"/>
                        </a:rPr>
                        <a:t>Unit 2</a:t>
                      </a:r>
                    </a:p>
                  </a:txBody>
                  <a:tcPr>
                    <a:lnL w="9525">
                      <a:solidFill>
                        <a:srgbClr val="CDD7DF"/>
                      </a:solidFill>
                      <a:prstDash val="solid"/>
                    </a:lnL>
                    <a:lnR w="9525">
                      <a:solidFill>
                        <a:srgbClr val="CDD7DF"/>
                      </a:solidFill>
                      <a:prstDash val="solid"/>
                    </a:lnR>
                    <a:lnT w="9525" cap="flat" cmpd="sng" algn="ctr">
                      <a:solidFill>
                        <a:srgbClr val="CDD7DF"/>
                      </a:solidFill>
                      <a:prstDash val="solid"/>
                      <a:round/>
                      <a:headEnd type="none" w="med" len="med"/>
                      <a:tailEnd type="none" w="med" len="med"/>
                    </a:lnT>
                    <a:lnB w="9525">
                      <a:solidFill>
                        <a:srgbClr val="CDD7DF"/>
                      </a:solidFill>
                      <a:prstDash val="solid"/>
                    </a:lnB>
                    <a:solidFill>
                      <a:srgbClr val="FFFFFF"/>
                    </a:solidFill>
                  </a:tcPr>
                </a:tc>
                <a:tc>
                  <a:txBody>
                    <a:bodyPr/>
                    <a:lstStyle/>
                    <a:p>
                      <a:r>
                        <a:rPr sz="1650" b="0">
                          <a:solidFill>
                            <a:srgbClr val="233247"/>
                          </a:solidFill>
                          <a:latin typeface="Arial"/>
                          <a:ea typeface="Arial"/>
                          <a:cs typeface="Arial"/>
                        </a:rPr>
                        <a:t>[Predictive models and evaluation]</a:t>
                      </a:r>
                    </a:p>
                  </a:txBody>
                  <a:tcPr>
                    <a:lnL w="9525" cap="flat" cmpd="sng" algn="ctr">
                      <a:solidFill>
                        <a:srgbClr val="CDD7DF"/>
                      </a:solidFill>
                      <a:prstDash val="solid"/>
                      <a:round/>
                      <a:headEnd type="none" w="med" len="med"/>
                      <a:tailEnd type="none" w="med" len="med"/>
                    </a:lnL>
                    <a:lnR w="9525">
                      <a:solidFill>
                        <a:srgbClr val="CDD7DF"/>
                      </a:solidFill>
                      <a:prstDash val="solid"/>
                    </a:lnR>
                    <a:lnT w="9525" cap="flat" cmpd="sng" algn="ctr">
                      <a:solidFill>
                        <a:srgbClr val="CDD7DF"/>
                      </a:solidFill>
                      <a:prstDash val="solid"/>
                      <a:round/>
                      <a:headEnd type="none" w="med" len="med"/>
                      <a:tailEnd type="none" w="med" len="med"/>
                    </a:lnT>
                    <a:lnB w="9525">
                      <a:solidFill>
                        <a:srgbClr val="CDD7DF"/>
                      </a:solidFill>
                      <a:prstDash val="solid"/>
                    </a:lnB>
                    <a:solidFill>
                      <a:srgbClr val="FFFFFF"/>
                    </a:solidFill>
                  </a:tcPr>
                </a:tc>
                <a:extLst>
                  <a:ext uri="{0D108BD9-81ED-4DB2-BD59-A6C34878D82A}">
                    <a16:rowId xmlns:a16="http://schemas.microsoft.com/office/drawing/2014/main" val="10002"/>
                  </a:ext>
                </a:extLst>
              </a:tr>
              <a:tr h="666750">
                <a:tc>
                  <a:txBody>
                    <a:bodyPr/>
                    <a:lstStyle/>
                    <a:p>
                      <a:r>
                        <a:rPr sz="1650" b="0">
                          <a:solidFill>
                            <a:srgbClr val="233247"/>
                          </a:solidFill>
                          <a:latin typeface="Arial"/>
                          <a:ea typeface="Arial"/>
                          <a:cs typeface="Arial"/>
                        </a:rPr>
                        <a:t>Unit 3</a:t>
                      </a:r>
                    </a:p>
                  </a:txBody>
                  <a:tcPr>
                    <a:lnL w="9525">
                      <a:solidFill>
                        <a:srgbClr val="CDD7DF"/>
                      </a:solidFill>
                      <a:prstDash val="solid"/>
                    </a:lnL>
                    <a:lnR w="9525">
                      <a:solidFill>
                        <a:srgbClr val="CDD7DF"/>
                      </a:solidFill>
                      <a:prstDash val="solid"/>
                    </a:lnR>
                    <a:lnT w="9525" cap="flat" cmpd="sng" algn="ctr">
                      <a:solidFill>
                        <a:srgbClr val="CDD7DF"/>
                      </a:solidFill>
                      <a:prstDash val="solid"/>
                      <a:round/>
                      <a:headEnd type="none" w="med" len="med"/>
                      <a:tailEnd type="none" w="med" len="med"/>
                    </a:lnT>
                    <a:lnB w="9525">
                      <a:solidFill>
                        <a:srgbClr val="CDD7DF"/>
                      </a:solidFill>
                      <a:prstDash val="solid"/>
                    </a:lnB>
                    <a:solidFill>
                      <a:srgbClr val="F0F5F7"/>
                    </a:solidFill>
                  </a:tcPr>
                </a:tc>
                <a:tc>
                  <a:txBody>
                    <a:bodyPr/>
                    <a:lstStyle/>
                    <a:p>
                      <a:r>
                        <a:rPr sz="1650" b="0">
                          <a:solidFill>
                            <a:srgbClr val="233247"/>
                          </a:solidFill>
                          <a:latin typeface="Arial"/>
                          <a:ea typeface="Arial"/>
                          <a:cs typeface="Arial"/>
                        </a:rPr>
                        <a:t>[Selected Method 1] and [Selected Method 2]</a:t>
                      </a:r>
                    </a:p>
                  </a:txBody>
                  <a:tcPr>
                    <a:lnL w="9525" cap="flat" cmpd="sng" algn="ctr">
                      <a:solidFill>
                        <a:srgbClr val="CDD7DF"/>
                      </a:solidFill>
                      <a:prstDash val="solid"/>
                      <a:round/>
                      <a:headEnd type="none" w="med" len="med"/>
                      <a:tailEnd type="none" w="med" len="med"/>
                    </a:lnL>
                    <a:lnR w="9525">
                      <a:solidFill>
                        <a:srgbClr val="CDD7DF"/>
                      </a:solidFill>
                      <a:prstDash val="solid"/>
                    </a:lnR>
                    <a:lnT w="9525" cap="flat" cmpd="sng" algn="ctr">
                      <a:solidFill>
                        <a:srgbClr val="CDD7DF"/>
                      </a:solidFill>
                      <a:prstDash val="solid"/>
                      <a:round/>
                      <a:headEnd type="none" w="med" len="med"/>
                      <a:tailEnd type="none" w="med" len="med"/>
                    </a:lnT>
                    <a:lnB w="9525">
                      <a:solidFill>
                        <a:srgbClr val="CDD7DF"/>
                      </a:solidFill>
                      <a:prstDash val="solid"/>
                    </a:lnB>
                    <a:solidFill>
                      <a:srgbClr val="F0F5F7"/>
                    </a:solidFill>
                  </a:tcPr>
                </a:tc>
                <a:extLst>
                  <a:ext uri="{0D108BD9-81ED-4DB2-BD59-A6C34878D82A}">
                    <a16:rowId xmlns:a16="http://schemas.microsoft.com/office/drawing/2014/main" val="10003"/>
                  </a:ext>
                </a:extLst>
              </a:tr>
              <a:tr h="666750">
                <a:tc>
                  <a:txBody>
                    <a:bodyPr/>
                    <a:lstStyle/>
                    <a:p>
                      <a:r>
                        <a:rPr sz="1650" b="0">
                          <a:solidFill>
                            <a:srgbClr val="233247"/>
                          </a:solidFill>
                          <a:latin typeface="Arial"/>
                          <a:ea typeface="Arial"/>
                          <a:cs typeface="Arial"/>
                        </a:rPr>
                        <a:t>Final application</a:t>
                      </a:r>
                    </a:p>
                  </a:txBody>
                  <a:tcPr>
                    <a:lnL w="9525">
                      <a:solidFill>
                        <a:srgbClr val="CDD7DF"/>
                      </a:solidFill>
                      <a:prstDash val="solid"/>
                    </a:lnL>
                    <a:lnR w="9525">
                      <a:solidFill>
                        <a:srgbClr val="CDD7DF"/>
                      </a:solidFill>
                      <a:prstDash val="solid"/>
                    </a:lnR>
                    <a:lnT w="9525" cap="flat" cmpd="sng" algn="ctr">
                      <a:solidFill>
                        <a:srgbClr val="CDD7DF"/>
                      </a:solidFill>
                      <a:prstDash val="solid"/>
                      <a:round/>
                      <a:headEnd type="none" w="med" len="med"/>
                      <a:tailEnd type="none" w="med" len="med"/>
                    </a:lnT>
                    <a:lnB w="9525">
                      <a:solidFill>
                        <a:srgbClr val="CDD7DF"/>
                      </a:solidFill>
                      <a:prstDash val="solid"/>
                    </a:lnB>
                    <a:solidFill>
                      <a:srgbClr val="FFFFFF"/>
                    </a:solidFill>
                  </a:tcPr>
                </a:tc>
                <a:tc>
                  <a:txBody>
                    <a:bodyPr/>
                    <a:lstStyle/>
                    <a:p>
                      <a:r>
                        <a:rPr sz="1650" b="0">
                          <a:solidFill>
                            <a:srgbClr val="233247"/>
                          </a:solidFill>
                          <a:latin typeface="Arial"/>
                          <a:ea typeface="Arial"/>
                          <a:cs typeface="Arial"/>
                        </a:rPr>
                        <a:t>[Interactive dashboard or website and recommendations]</a:t>
                      </a:r>
                    </a:p>
                  </a:txBody>
                  <a:tcPr>
                    <a:lnL w="9525" cap="flat" cmpd="sng" algn="ctr">
                      <a:solidFill>
                        <a:srgbClr val="CDD7DF"/>
                      </a:solidFill>
                      <a:prstDash val="solid"/>
                      <a:round/>
                      <a:headEnd type="none" w="med" len="med"/>
                      <a:tailEnd type="none" w="med" len="med"/>
                    </a:lnL>
                    <a:lnR w="9525">
                      <a:solidFill>
                        <a:srgbClr val="CDD7DF"/>
                      </a:solidFill>
                      <a:prstDash val="solid"/>
                    </a:lnR>
                    <a:lnT w="9525" cap="flat" cmpd="sng" algn="ctr">
                      <a:solidFill>
                        <a:srgbClr val="CDD7DF"/>
                      </a:solidFill>
                      <a:prstDash val="solid"/>
                      <a:round/>
                      <a:headEnd type="none" w="med" len="med"/>
                      <a:tailEnd type="none" w="med" len="med"/>
                    </a:lnT>
                    <a:lnB w="9525">
                      <a:solidFill>
                        <a:srgbClr val="CDD7DF"/>
                      </a:solidFill>
                      <a:prstDash val="solid"/>
                    </a:lnB>
                    <a:solidFill>
                      <a:srgbClr val="FFFFFF"/>
                    </a:solidFill>
                  </a:tcPr>
                </a:tc>
                <a:extLst>
                  <a:ext uri="{0D108BD9-81ED-4DB2-BD59-A6C34878D82A}">
                    <a16:rowId xmlns:a16="http://schemas.microsoft.com/office/drawing/2014/main" val="10004"/>
                  </a:ext>
                </a:extLst>
              </a:tr>
            </a:tbl>
          </a:graphicData>
        </a:graphic>
      </p:graphicFrame>
      <p:sp>
        <p:nvSpPr>
          <p:cNvPr id="5" name="Rectangle 4">
            <a:extLst>
              <a:ext uri="{FF2B5EF4-FFF2-40B4-BE49-F238E27FC236}">
                <a16:creationId xmlns:a16="http://schemas.microsoft.com/office/drawing/2014/main" id="{4252009C-353D-4A25-B9F6-952D21AC77E0}"/>
              </a:ext>
            </a:extLst>
          </p:cNvPr>
          <p:cNvSpPr>
            <a:spLocks noGrp="1"/>
          </p:cNvSpPr>
          <p:nvPr/>
        </p:nvSpPr>
        <p:spPr>
          <a:xfrm>
            <a:off x="685800" y="5619750"/>
            <a:ext cx="10572750" cy="523875"/>
          </a:xfrm>
          <a:prstGeom prst="rect">
            <a:avLst/>
          </a:prstGeom>
          <a:noFill/>
          <a:ln w="0">
            <a:noFill/>
            <a:prstDash val="solid"/>
          </a:ln>
        </p:spPr>
        <p:txBody>
          <a:bodyPr/>
          <a:lstStyle>
            <a:defPPr>
              <a:defRPr sz="1875" b="1">
                <a:solidFill>
                  <a:srgbClr val="157A80"/>
                </a:solidFill>
                <a:latin typeface="Arial"/>
                <a:ea typeface="Arial"/>
                <a:cs typeface="Arial"/>
              </a:defRPr>
            </a:defPPr>
          </a:lstStyle>
          <a:p>
            <a:pPr>
              <a:defRPr sz="1875" b="1">
                <a:solidFill>
                  <a:srgbClr val="157A80"/>
                </a:solidFill>
                <a:latin typeface="Arial"/>
                <a:ea typeface="Arial"/>
                <a:cs typeface="Arial"/>
              </a:defRPr>
            </a:pPr>
            <a:r>
              <a:rPr sz="1875" b="1">
                <a:solidFill>
                  <a:srgbClr val="157A80"/>
                </a:solidFill>
                <a:latin typeface="Arial"/>
                <a:ea typeface="Arial"/>
                <a:cs typeface="Arial"/>
              </a:rPr>
              <a:t>Completion status: 100% implemented and integrated.
Unit 1 — EDA &amp; Preprocessing: 609 real Blinkit SKUs scraped and cleaned.
Unit 2 — Predictive Modelling: XGBoost demand regressor (RMSE 99.50).
Unit 3 — Advanced Analytics:
  Method 1: Time-Series Forecasting (6 models benchmarked)
  Method 2: Association Rule Mining (Apriori + FP-Growth, 42 rules)
All code in review2_blinkit/src/ | Charts in review2_blinkit/results/charts/
Notebooks: review2_blinkit/notebooks/ | Dashboard: review2_blinkit/website/</a:t>
            </a:r>
          </a:p>
        </p:txBody>
      </p:sp>
    </p:spTree>
    <p:extLst>
      <p:ext uri="{BB962C8B-B14F-4D97-AF65-F5344CB8AC3E}">
        <p14:creationId xmlns:p14="http://schemas.microsoft.com/office/powerpoint/2010/main" val="319533709"/>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sp>
        <p:nvSpPr>
          <p:cNvPr id="8" name="Rectangle 7">
            <a:extLst>
              <a:ext uri="{FF2B5EF4-FFF2-40B4-BE49-F238E27FC236}">
                <a16:creationId xmlns:a16="http://schemas.microsoft.com/office/drawing/2014/main" id="{FFF767BA-4106-4171-9518-41AD7DFE9F51}"/>
              </a:ext>
            </a:extLst>
          </p:cNvPr>
          <p:cNvSpPr>
            <a:spLocks noGrp="1"/>
          </p:cNvSpPr>
          <p:nvPr/>
        </p:nvSpPr>
        <p:spPr>
          <a:xfrm>
            <a:off x="609600" y="342900"/>
            <a:ext cx="10477500" cy="285750"/>
          </a:xfrm>
          <a:prstGeom prst="rect">
            <a:avLst/>
          </a:prstGeom>
          <a:noFill/>
          <a:ln w="0">
            <a:noFill/>
            <a:prstDash val="solid"/>
          </a:ln>
        </p:spPr>
        <p:txBody>
          <a:bodyPr/>
          <a:lstStyle>
            <a:defPPr>
              <a:defRPr sz="1350" b="1">
                <a:solidFill>
                  <a:srgbClr val="157A80"/>
                </a:solidFill>
                <a:latin typeface="Arial"/>
                <a:ea typeface="Arial"/>
                <a:cs typeface="Arial"/>
              </a:defRPr>
            </a:defPPr>
          </a:lstStyle>
          <a:p>
            <a:pPr>
              <a:defRPr sz="1350" b="1">
                <a:solidFill>
                  <a:srgbClr val="157A80"/>
                </a:solidFill>
                <a:latin typeface="Arial"/>
                <a:ea typeface="Arial"/>
                <a:cs typeface="Arial"/>
              </a:defRPr>
            </a:pPr>
            <a:r>
              <a:rPr sz="1350" b="1">
                <a:solidFill>
                  <a:srgbClr val="157A80"/>
                </a:solidFill>
                <a:latin typeface="Arial"/>
                <a:ea typeface="Arial"/>
                <a:cs typeface="Arial"/>
              </a:rPr>
              <a:t>DATASET ACROSS UNITS 1 TO 3</a:t>
            </a:r>
          </a:p>
        </p:txBody>
      </p:sp>
      <p:sp>
        <p:nvSpPr>
          <p:cNvPr id="2" name="Rectangle 1">
            <a:extLst>
              <a:ext uri="{FF2B5EF4-FFF2-40B4-BE49-F238E27FC236}">
                <a16:creationId xmlns:a16="http://schemas.microsoft.com/office/drawing/2014/main" id="{2B57D2C8-8458-4A56-A48E-EEAA5E1BA661}"/>
              </a:ext>
            </a:extLst>
          </p:cNvPr>
          <p:cNvSpPr>
            <a:spLocks noGrp="1"/>
          </p:cNvSpPr>
          <p:nvPr/>
        </p:nvSpPr>
        <p:spPr>
          <a:xfrm>
            <a:off x="609600" y="838200"/>
            <a:ext cx="10972800" cy="857250"/>
          </a:xfrm>
          <a:prstGeom prst="rect">
            <a:avLst/>
          </a:prstGeom>
          <a:noFill/>
          <a:ln w="0">
            <a:noFill/>
            <a:prstDash val="solid"/>
          </a:ln>
        </p:spPr>
        <p:txBody>
          <a:bodyPr/>
          <a:lstStyle>
            <a:defPPr>
              <a:defRPr sz="3150" b="1">
                <a:solidFill>
                  <a:srgbClr val="142D4E"/>
                </a:solidFill>
                <a:latin typeface="Arial"/>
                <a:ea typeface="Arial"/>
                <a:cs typeface="Arial"/>
              </a:defRPr>
            </a:defPPr>
          </a:lstStyle>
          <a:p>
            <a:pPr>
              <a:defRPr sz="3150" b="1">
                <a:solidFill>
                  <a:srgbClr val="142D4E"/>
                </a:solidFill>
                <a:latin typeface="Arial"/>
                <a:ea typeface="Arial"/>
                <a:cs typeface="Arial"/>
              </a:defRPr>
            </a:pPr>
            <a:r>
              <a:rPr sz="3150" b="1">
                <a:solidFill>
                  <a:srgbClr val="142D4E"/>
                </a:solidFill>
                <a:latin typeface="Arial"/>
                <a:ea typeface="Arial"/>
                <a:cs typeface="Arial"/>
              </a:rPr>
              <a:t>Overall dataset description</a:t>
            </a:r>
          </a:p>
        </p:txBody>
      </p:sp>
      <p:sp>
        <p:nvSpPr>
          <p:cNvPr id="3" name="Rectangle 2">
            <a:extLst>
              <a:ext uri="{FF2B5EF4-FFF2-40B4-BE49-F238E27FC236}">
                <a16:creationId xmlns:a16="http://schemas.microsoft.com/office/drawing/2014/main" id="{5A624CB5-E55B-4AC3-B472-A4236143CFAE}"/>
              </a:ext>
            </a:extLst>
          </p:cNvPr>
          <p:cNvSpPr>
            <a:spLocks noGrp="1"/>
          </p:cNvSpPr>
          <p:nvPr/>
        </p:nvSpPr>
        <p:spPr>
          <a:xfrm>
            <a:off x="10953750" y="6343650"/>
            <a:ext cx="619125" cy="238125"/>
          </a:xfrm>
          <a:prstGeom prst="rect">
            <a:avLst/>
          </a:prstGeom>
          <a:noFill/>
          <a:ln w="0">
            <a:noFill/>
            <a:prstDash val="solid"/>
          </a:ln>
        </p:spPr>
        <p:txBody>
          <a:bodyPr/>
          <a:lstStyle>
            <a:defPPr>
              <a:defRPr sz="1200" b="0">
                <a:solidFill>
                  <a:srgbClr val="66758A"/>
                </a:solidFill>
                <a:latin typeface="Arial"/>
                <a:ea typeface="Arial"/>
                <a:cs typeface="Arial"/>
              </a:defRPr>
            </a:defPPr>
          </a:lstStyle>
          <a:p>
            <a:pPr>
              <a:defRPr sz="1200" b="0">
                <a:solidFill>
                  <a:srgbClr val="66758A"/>
                </a:solidFill>
                <a:latin typeface="Arial"/>
                <a:ea typeface="Arial"/>
                <a:cs typeface="Arial"/>
              </a:defRPr>
            </a:pPr>
            <a:r>
              <a:rPr sz="1200" b="0">
                <a:solidFill>
                  <a:srgbClr val="66758A"/>
                </a:solidFill>
                <a:latin typeface="Arial"/>
                <a:ea typeface="Arial"/>
                <a:cs typeface="Arial"/>
              </a:rPr>
              <a:t>04</a:t>
            </a:r>
          </a:p>
        </p:txBody>
      </p:sp>
      <p:sp>
        <p:nvSpPr>
          <p:cNvPr id="4" name="Rectangle 3">
            <a:extLst>
              <a:ext uri="{FF2B5EF4-FFF2-40B4-BE49-F238E27FC236}">
                <a16:creationId xmlns:a16="http://schemas.microsoft.com/office/drawing/2014/main" id="{B15A6C50-D58A-4A10-9E5B-B82BE80095FC}"/>
              </a:ext>
            </a:extLst>
          </p:cNvPr>
          <p:cNvSpPr>
            <a:spLocks noGrp="1"/>
          </p:cNvSpPr>
          <p:nvPr/>
        </p:nvSpPr>
        <p:spPr>
          <a:xfrm>
            <a:off x="685800" y="2019300"/>
            <a:ext cx="10668000" cy="685800"/>
          </a:xfrm>
          <a:prstGeom prst="rect">
            <a:avLst/>
          </a:prstGeom>
          <a:noFill/>
          <a:ln w="0">
            <a:noFill/>
            <a:prstDash val="solid"/>
          </a:ln>
        </p:spPr>
        <p:txBody>
          <a:bodyPr/>
          <a:lstStyle>
            <a:defPPr>
              <a:defRPr sz="2025" b="0">
                <a:solidFill>
                  <a:srgbClr val="233247"/>
                </a:solidFill>
                <a:latin typeface="Arial"/>
                <a:ea typeface="Arial"/>
                <a:cs typeface="Arial"/>
              </a:defRPr>
            </a:defPPr>
          </a:lstStyle>
          <a:p>
            <a:pPr>
              <a:defRPr sz="2025" b="0">
                <a:solidFill>
                  <a:srgbClr val="233247"/>
                </a:solidFill>
                <a:latin typeface="Arial"/>
                <a:ea typeface="Arial"/>
                <a:cs typeface="Arial"/>
              </a:defRPr>
            </a:pPr>
            <a:r>
              <a:rPr sz="2025" b="0">
                <a:solidFill>
                  <a:srgbClr val="233247"/>
                </a:solidFill>
                <a:latin typeface="Arial"/>
                <a:ea typeface="Arial"/>
                <a:cs typeface="Arial"/>
              </a:rPr>
              <a:t>Source and collection method:
Primary — Web scraped from Blinkit.com using Python (requests + BeautifulSoup).
Secondary — Research-grounded synthetic transactions (Redseer 2022, Bain 2023).</a:t>
            </a:r>
          </a:p>
        </p:txBody>
      </p:sp>
      <p:sp>
        <p:nvSpPr>
          <p:cNvPr id="5" name="Rectangle 4">
            <a:extLst>
              <a:ext uri="{FF2B5EF4-FFF2-40B4-BE49-F238E27FC236}">
                <a16:creationId xmlns:a16="http://schemas.microsoft.com/office/drawing/2014/main" id="{AFE523C5-8491-4051-A64A-64EB0356E702}"/>
              </a:ext>
            </a:extLst>
          </p:cNvPr>
          <p:cNvSpPr>
            <a:spLocks noGrp="1"/>
          </p:cNvSpPr>
          <p:nvPr/>
        </p:nvSpPr>
        <p:spPr>
          <a:xfrm>
            <a:off x="685800" y="2838450"/>
            <a:ext cx="10668000" cy="685800"/>
          </a:xfrm>
          <a:prstGeom prst="rect">
            <a:avLst/>
          </a:prstGeom>
          <a:noFill/>
          <a:ln w="0">
            <a:noFill/>
            <a:prstDash val="solid"/>
          </a:ln>
        </p:spPr>
        <p:txBody>
          <a:bodyPr/>
          <a:lstStyle>
            <a:defPPr>
              <a:defRPr sz="2025" b="0">
                <a:solidFill>
                  <a:srgbClr val="233247"/>
                </a:solidFill>
                <a:latin typeface="Arial"/>
                <a:ea typeface="Arial"/>
                <a:cs typeface="Arial"/>
              </a:defRPr>
            </a:defPPr>
          </a:lstStyle>
          <a:p>
            <a:pPr>
              <a:defRPr sz="2025" b="0">
                <a:solidFill>
                  <a:srgbClr val="233247"/>
                </a:solidFill>
                <a:latin typeface="Arial"/>
                <a:ea typeface="Arial"/>
                <a:cs typeface="Arial"/>
              </a:defRPr>
            </a:pPr>
            <a:r>
              <a:rPr sz="2025" b="0">
                <a:solidFill>
                  <a:srgbClr val="233247"/>
                </a:solidFill>
                <a:latin typeface="Arial"/>
                <a:ea typeface="Arial"/>
                <a:cs typeface="Arial"/>
              </a:rPr>
              <a:t>Final dataset size: 609 product SKUs (primary) | 106,398 transaction records (secondary)
Variables: 8 product fields (name, category, MRP, price, discount, rating, reviews, id)</a:t>
            </a:r>
          </a:p>
        </p:txBody>
      </p:sp>
      <p:sp>
        <p:nvSpPr>
          <p:cNvPr id="6" name="Rectangle 5">
            <a:extLst>
              <a:ext uri="{FF2B5EF4-FFF2-40B4-BE49-F238E27FC236}">
                <a16:creationId xmlns:a16="http://schemas.microsoft.com/office/drawing/2014/main" id="{D7FAD4CC-294E-4C56-92E4-46386B9BF60D}"/>
              </a:ext>
            </a:extLst>
          </p:cNvPr>
          <p:cNvSpPr>
            <a:spLocks noGrp="1"/>
          </p:cNvSpPr>
          <p:nvPr/>
        </p:nvSpPr>
        <p:spPr>
          <a:xfrm>
            <a:off x="685800" y="3657600"/>
            <a:ext cx="10668000" cy="685800"/>
          </a:xfrm>
          <a:prstGeom prst="rect">
            <a:avLst/>
          </a:prstGeom>
          <a:noFill/>
          <a:ln w="0">
            <a:noFill/>
            <a:prstDash val="solid"/>
          </a:ln>
        </p:spPr>
        <p:txBody>
          <a:bodyPr/>
          <a:lstStyle>
            <a:defPPr>
              <a:defRPr sz="2025" b="0">
                <a:solidFill>
                  <a:srgbClr val="233247"/>
                </a:solidFill>
                <a:latin typeface="Arial"/>
                <a:ea typeface="Arial"/>
                <a:cs typeface="Arial"/>
              </a:defRPr>
            </a:defPPr>
          </a:lstStyle>
          <a:p>
            <a:pPr>
              <a:defRPr sz="2025" b="0">
                <a:solidFill>
                  <a:srgbClr val="233247"/>
                </a:solidFill>
                <a:latin typeface="Arial"/>
                <a:ea typeface="Arial"/>
                <a:cs typeface="Arial"/>
              </a:defRPr>
            </a:pPr>
            <a:r>
              <a:rPr sz="2025" b="0">
                <a:solidFill>
                  <a:srgbClr val="233247"/>
                </a:solidFill>
                <a:latin typeface="Arial"/>
                <a:ea typeface="Arial"/>
                <a:cs typeface="Arial"/>
              </a:rPr>
              <a:t>Coverage: Blinkit platform, India | Transactions: April–September 2026 (183 days)
16 product categories | Single dark store simulation</a:t>
            </a:r>
          </a:p>
        </p:txBody>
      </p:sp>
      <p:sp>
        <p:nvSpPr>
          <p:cNvPr id="7" name="Rectangle 6">
            <a:extLst>
              <a:ext uri="{FF2B5EF4-FFF2-40B4-BE49-F238E27FC236}">
                <a16:creationId xmlns:a16="http://schemas.microsoft.com/office/drawing/2014/main" id="{8BBB0E34-8821-4A79-AD8A-1D9A400F831C}"/>
              </a:ext>
            </a:extLst>
          </p:cNvPr>
          <p:cNvSpPr>
            <a:spLocks noGrp="1"/>
          </p:cNvSpPr>
          <p:nvPr/>
        </p:nvSpPr>
        <p:spPr>
          <a:xfrm>
            <a:off x="685800" y="4476750"/>
            <a:ext cx="10668000" cy="685800"/>
          </a:xfrm>
          <a:prstGeom prst="rect">
            <a:avLst/>
          </a:prstGeom>
          <a:noFill/>
          <a:ln w="0">
            <a:noFill/>
            <a:prstDash val="solid"/>
          </a:ln>
        </p:spPr>
        <p:txBody>
          <a:bodyPr/>
          <a:lstStyle>
            <a:defPPr>
              <a:defRPr sz="2025" b="0">
                <a:solidFill>
                  <a:srgbClr val="233247"/>
                </a:solidFill>
                <a:latin typeface="Arial"/>
                <a:ea typeface="Arial"/>
                <a:cs typeface="Arial"/>
              </a:defRPr>
            </a:defPPr>
          </a:lstStyle>
          <a:p>
            <a:pPr>
              <a:defRPr sz="2025" b="0">
                <a:solidFill>
                  <a:srgbClr val="233247"/>
                </a:solidFill>
                <a:latin typeface="Arial"/>
                <a:ea typeface="Arial"/>
                <a:cs typeface="Arial"/>
              </a:defRPr>
            </a:pPr>
            <a:r>
              <a:rPr sz="2025" b="0">
                <a:solidFill>
                  <a:srgbClr val="233247"/>
                </a:solidFill>
                <a:latin typeface="Arial"/>
                <a:ea typeface="Arial"/>
                <a:cs typeface="Arial"/>
              </a:rPr>
              <a:t>Unit mapping:
Unit 1: All 8 product variables — EDA, cleaning, discount analysis
Unit 2: daily_quantity (target), lag features, calendar features — XGBoost
Unit 3: daily_quantity time series (Method 1) | basket transactions (Method 2)</a:t>
            </a:r>
          </a:p>
        </p:txBody>
      </p:sp>
    </p:spTree>
    <p:extLst>
      <p:ext uri="{BB962C8B-B14F-4D97-AF65-F5344CB8AC3E}">
        <p14:creationId xmlns:p14="http://schemas.microsoft.com/office/powerpoint/2010/main" val="1377900939"/>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sp>
        <p:nvSpPr>
          <p:cNvPr id="7" name="Rectangle 6">
            <a:extLst>
              <a:ext uri="{FF2B5EF4-FFF2-40B4-BE49-F238E27FC236}">
                <a16:creationId xmlns:a16="http://schemas.microsoft.com/office/drawing/2014/main" id="{AA36271E-B87B-40A7-B145-EFA4C3557C35}"/>
              </a:ext>
            </a:extLst>
          </p:cNvPr>
          <p:cNvSpPr>
            <a:spLocks noGrp="1"/>
          </p:cNvSpPr>
          <p:nvPr/>
        </p:nvSpPr>
        <p:spPr>
          <a:xfrm>
            <a:off x="609600" y="342900"/>
            <a:ext cx="10477500" cy="285750"/>
          </a:xfrm>
          <a:prstGeom prst="rect">
            <a:avLst/>
          </a:prstGeom>
          <a:noFill/>
          <a:ln w="0">
            <a:noFill/>
            <a:prstDash val="solid"/>
          </a:ln>
        </p:spPr>
        <p:txBody>
          <a:bodyPr/>
          <a:lstStyle>
            <a:defPPr>
              <a:defRPr sz="1350" b="1">
                <a:solidFill>
                  <a:srgbClr val="157A80"/>
                </a:solidFill>
                <a:latin typeface="Arial"/>
                <a:ea typeface="Arial"/>
                <a:cs typeface="Arial"/>
              </a:defRPr>
            </a:defPPr>
          </a:lstStyle>
          <a:p>
            <a:pPr>
              <a:defRPr sz="1350" b="1">
                <a:solidFill>
                  <a:srgbClr val="157A80"/>
                </a:solidFill>
                <a:latin typeface="Arial"/>
                <a:ea typeface="Arial"/>
                <a:cs typeface="Arial"/>
              </a:defRPr>
            </a:pPr>
            <a:r>
              <a:rPr sz="1350" b="1">
                <a:solidFill>
                  <a:srgbClr val="157A80"/>
                </a:solidFill>
                <a:latin typeface="Arial"/>
                <a:ea typeface="Arial"/>
                <a:cs typeface="Arial"/>
              </a:rPr>
              <a:t>FINAL PROJECT DATA</a:t>
            </a:r>
          </a:p>
        </p:txBody>
      </p:sp>
      <p:sp>
        <p:nvSpPr>
          <p:cNvPr id="2" name="Rectangle 1">
            <a:extLst>
              <a:ext uri="{FF2B5EF4-FFF2-40B4-BE49-F238E27FC236}">
                <a16:creationId xmlns:a16="http://schemas.microsoft.com/office/drawing/2014/main" id="{B25BE530-386D-40FD-AF96-351BB2335BF4}"/>
              </a:ext>
            </a:extLst>
          </p:cNvPr>
          <p:cNvSpPr>
            <a:spLocks noGrp="1"/>
          </p:cNvSpPr>
          <p:nvPr/>
        </p:nvSpPr>
        <p:spPr>
          <a:xfrm>
            <a:off x="609600" y="838200"/>
            <a:ext cx="10972800" cy="857250"/>
          </a:xfrm>
          <a:prstGeom prst="rect">
            <a:avLst/>
          </a:prstGeom>
          <a:noFill/>
          <a:ln w="0">
            <a:noFill/>
            <a:prstDash val="solid"/>
          </a:ln>
        </p:spPr>
        <p:txBody>
          <a:bodyPr/>
          <a:lstStyle>
            <a:defPPr>
              <a:defRPr sz="3150" b="1">
                <a:solidFill>
                  <a:srgbClr val="142D4E"/>
                </a:solidFill>
                <a:latin typeface="Arial"/>
                <a:ea typeface="Arial"/>
                <a:cs typeface="Arial"/>
              </a:defRPr>
            </a:defPPr>
          </a:lstStyle>
          <a:p>
            <a:pPr>
              <a:defRPr sz="3150" b="1">
                <a:solidFill>
                  <a:srgbClr val="142D4E"/>
                </a:solidFill>
                <a:latin typeface="Arial"/>
                <a:ea typeface="Arial"/>
                <a:cs typeface="Arial"/>
              </a:defRPr>
            </a:pPr>
            <a:r>
              <a:rPr sz="3150" b="1">
                <a:solidFill>
                  <a:srgbClr val="142D4E"/>
                </a:solidFill>
                <a:latin typeface="Arial"/>
                <a:ea typeface="Arial"/>
                <a:cs typeface="Arial"/>
              </a:rPr>
              <a:t>Sample dataset and key variables</a:t>
            </a:r>
          </a:p>
        </p:txBody>
      </p:sp>
      <p:sp>
        <p:nvSpPr>
          <p:cNvPr id="3" name="Rectangle 2">
            <a:extLst>
              <a:ext uri="{FF2B5EF4-FFF2-40B4-BE49-F238E27FC236}">
                <a16:creationId xmlns:a16="http://schemas.microsoft.com/office/drawing/2014/main" id="{C33460FC-E867-4CD3-BCE0-2261783CA6CE}"/>
              </a:ext>
            </a:extLst>
          </p:cNvPr>
          <p:cNvSpPr>
            <a:spLocks noGrp="1"/>
          </p:cNvSpPr>
          <p:nvPr/>
        </p:nvSpPr>
        <p:spPr>
          <a:xfrm>
            <a:off x="10953750" y="6343650"/>
            <a:ext cx="619125" cy="238125"/>
          </a:xfrm>
          <a:prstGeom prst="rect">
            <a:avLst/>
          </a:prstGeom>
          <a:noFill/>
          <a:ln w="0">
            <a:noFill/>
            <a:prstDash val="solid"/>
          </a:ln>
        </p:spPr>
        <p:txBody>
          <a:bodyPr/>
          <a:lstStyle>
            <a:defPPr>
              <a:defRPr sz="1200" b="0">
                <a:solidFill>
                  <a:srgbClr val="66758A"/>
                </a:solidFill>
                <a:latin typeface="Arial"/>
                <a:ea typeface="Arial"/>
                <a:cs typeface="Arial"/>
              </a:defRPr>
            </a:defPPr>
          </a:lstStyle>
          <a:p>
            <a:pPr>
              <a:defRPr sz="1200" b="0">
                <a:solidFill>
                  <a:srgbClr val="66758A"/>
                </a:solidFill>
                <a:latin typeface="Arial"/>
                <a:ea typeface="Arial"/>
                <a:cs typeface="Arial"/>
              </a:defRPr>
            </a:pPr>
            <a:r>
              <a:rPr sz="1200" b="0">
                <a:solidFill>
                  <a:srgbClr val="66758A"/>
                </a:solidFill>
                <a:latin typeface="Arial"/>
                <a:ea typeface="Arial"/>
                <a:cs typeface="Arial"/>
              </a:rPr>
              <a:t>05</a:t>
            </a:r>
          </a:p>
        </p:txBody>
      </p:sp>
      <p:graphicFrame>
        <p:nvGraphicFramePr>
          <p:cNvPr id="4" name="Table 3">
            <a:extLst>
              <a:ext uri="{FF2B5EF4-FFF2-40B4-BE49-F238E27FC236}">
                <a16:creationId xmlns:a16="http://schemas.microsoft.com/office/drawing/2014/main" id="{5BB7FB6C-F550-44F2-8608-EFA2F74D0F59}"/>
              </a:ext>
            </a:extLst>
          </p:cNvPr>
          <p:cNvGraphicFramePr/>
          <p:nvPr/>
        </p:nvGraphicFramePr>
        <p:xfrm>
          <a:off x="609600" y="2047875"/>
          <a:ext cx="10972800" cy="2571752"/>
        </p:xfrm>
        <a:graphic>
          <a:graphicData uri="http://schemas.openxmlformats.org/drawingml/2006/table">
            <a:tbl>
              <a:tblPr/>
              <a:tblGrid>
                <a:gridCol w="2743200">
                  <a:extLst>
                    <a:ext uri="{9D8B030D-6E8A-4147-A177-3AD203B41FA5}">
                      <a16:colId xmlns:a16="http://schemas.microsoft.com/office/drawing/2014/main" val="20000"/>
                    </a:ext>
                  </a:extLst>
                </a:gridCol>
                <a:gridCol w="2743200">
                  <a:extLst>
                    <a:ext uri="{9D8B030D-6E8A-4147-A177-3AD203B41FA5}">
                      <a16:colId xmlns:a16="http://schemas.microsoft.com/office/drawing/2014/main" val="20001"/>
                    </a:ext>
                  </a:extLst>
                </a:gridCol>
                <a:gridCol w="2743200">
                  <a:extLst>
                    <a:ext uri="{9D8B030D-6E8A-4147-A177-3AD203B41FA5}">
                      <a16:colId xmlns:a16="http://schemas.microsoft.com/office/drawing/2014/main" val="20002"/>
                    </a:ext>
                  </a:extLst>
                </a:gridCol>
                <a:gridCol w="2743200">
                  <a:extLst>
                    <a:ext uri="{9D8B030D-6E8A-4147-A177-3AD203B41FA5}">
                      <a16:colId xmlns:a16="http://schemas.microsoft.com/office/drawing/2014/main" val="20003"/>
                    </a:ext>
                  </a:extLst>
                </a:gridCol>
              </a:tblGrid>
              <a:tr h="642938">
                <a:tc>
                  <a:txBody>
                    <a:bodyPr/>
                    <a:lstStyle/>
                    <a:p>
                      <a:r>
                        <a:rPr sz="1650" b="1">
                          <a:solidFill>
                            <a:srgbClr val="FFFFFF"/>
                          </a:solidFill>
                          <a:latin typeface="Arial"/>
                          <a:ea typeface="Arial"/>
                          <a:cs typeface="Arial"/>
                        </a:rPr>
                        <a:t>[Variable 1]</a:t>
                      </a:r>
                    </a:p>
                  </a:txBody>
                  <a:tcPr>
                    <a:lnL w="9525">
                      <a:solidFill>
                        <a:srgbClr val="CDD7DF"/>
                      </a:solidFill>
                      <a:prstDash val="solid"/>
                    </a:lnL>
                    <a:lnR w="9525">
                      <a:solidFill>
                        <a:srgbClr val="CDD7DF"/>
                      </a:solidFill>
                      <a:prstDash val="solid"/>
                    </a:lnR>
                    <a:lnT w="9525">
                      <a:solidFill>
                        <a:srgbClr val="CDD7DF"/>
                      </a:solidFill>
                      <a:prstDash val="solid"/>
                    </a:lnT>
                    <a:lnB w="9525">
                      <a:solidFill>
                        <a:srgbClr val="CDD7DF"/>
                      </a:solidFill>
                      <a:prstDash val="solid"/>
                    </a:lnB>
                    <a:solidFill>
                      <a:srgbClr val="142D4E"/>
                    </a:solidFill>
                  </a:tcPr>
                </a:tc>
                <a:tc>
                  <a:txBody>
                    <a:bodyPr/>
                    <a:lstStyle/>
                    <a:p>
                      <a:r>
                        <a:rPr sz="1650" b="1">
                          <a:solidFill>
                            <a:srgbClr val="FFFFFF"/>
                          </a:solidFill>
                          <a:latin typeface="Arial"/>
                          <a:ea typeface="Arial"/>
                          <a:cs typeface="Arial"/>
                        </a:rPr>
                        <a:t>[Variable 2]</a:t>
                      </a:r>
                    </a:p>
                  </a:txBody>
                  <a:tcPr>
                    <a:lnL w="9525" cap="flat" cmpd="sng" algn="ctr">
                      <a:solidFill>
                        <a:srgbClr val="CDD7DF"/>
                      </a:solidFill>
                      <a:prstDash val="solid"/>
                      <a:round/>
                      <a:headEnd type="none" w="med" len="med"/>
                      <a:tailEnd type="none" w="med" len="med"/>
                    </a:lnL>
                    <a:lnR w="9525">
                      <a:solidFill>
                        <a:srgbClr val="CDD7DF"/>
                      </a:solidFill>
                      <a:prstDash val="solid"/>
                    </a:lnR>
                    <a:lnT w="9525">
                      <a:solidFill>
                        <a:srgbClr val="CDD7DF"/>
                      </a:solidFill>
                      <a:prstDash val="solid"/>
                    </a:lnT>
                    <a:lnB w="9525">
                      <a:solidFill>
                        <a:srgbClr val="CDD7DF"/>
                      </a:solidFill>
                      <a:prstDash val="solid"/>
                    </a:lnB>
                    <a:solidFill>
                      <a:srgbClr val="142D4E"/>
                    </a:solidFill>
                  </a:tcPr>
                </a:tc>
                <a:tc>
                  <a:txBody>
                    <a:bodyPr/>
                    <a:lstStyle/>
                    <a:p>
                      <a:r>
                        <a:rPr sz="1650" b="1">
                          <a:solidFill>
                            <a:srgbClr val="FFFFFF"/>
                          </a:solidFill>
                          <a:latin typeface="Arial"/>
                          <a:ea typeface="Arial"/>
                          <a:cs typeface="Arial"/>
                        </a:rPr>
                        <a:t>[Variable 3]</a:t>
                      </a:r>
                    </a:p>
                  </a:txBody>
                  <a:tcPr>
                    <a:lnL w="9525" cap="flat" cmpd="sng" algn="ctr">
                      <a:solidFill>
                        <a:srgbClr val="CDD7DF"/>
                      </a:solidFill>
                      <a:prstDash val="solid"/>
                      <a:round/>
                      <a:headEnd type="none" w="med" len="med"/>
                      <a:tailEnd type="none" w="med" len="med"/>
                    </a:lnL>
                    <a:lnR w="9525">
                      <a:solidFill>
                        <a:srgbClr val="CDD7DF"/>
                      </a:solidFill>
                      <a:prstDash val="solid"/>
                    </a:lnR>
                    <a:lnT w="9525">
                      <a:solidFill>
                        <a:srgbClr val="CDD7DF"/>
                      </a:solidFill>
                      <a:prstDash val="solid"/>
                    </a:lnT>
                    <a:lnB w="9525">
                      <a:solidFill>
                        <a:srgbClr val="CDD7DF"/>
                      </a:solidFill>
                      <a:prstDash val="solid"/>
                    </a:lnB>
                    <a:solidFill>
                      <a:srgbClr val="142D4E"/>
                    </a:solidFill>
                  </a:tcPr>
                </a:tc>
                <a:tc>
                  <a:txBody>
                    <a:bodyPr/>
                    <a:lstStyle/>
                    <a:p>
                      <a:r>
                        <a:rPr sz="1650" b="1">
                          <a:solidFill>
                            <a:srgbClr val="FFFFFF"/>
                          </a:solidFill>
                          <a:latin typeface="Arial"/>
                          <a:ea typeface="Arial"/>
                          <a:cs typeface="Arial"/>
                        </a:rPr>
                        <a:t>[Target / outcome]</a:t>
                      </a:r>
                    </a:p>
                  </a:txBody>
                  <a:tcPr>
                    <a:lnL w="9525" cap="flat" cmpd="sng" algn="ctr">
                      <a:solidFill>
                        <a:srgbClr val="CDD7DF"/>
                      </a:solidFill>
                      <a:prstDash val="solid"/>
                      <a:round/>
                      <a:headEnd type="none" w="med" len="med"/>
                      <a:tailEnd type="none" w="med" len="med"/>
                    </a:lnL>
                    <a:lnR w="9525">
                      <a:solidFill>
                        <a:srgbClr val="CDD7DF"/>
                      </a:solidFill>
                      <a:prstDash val="solid"/>
                    </a:lnR>
                    <a:lnT w="9525">
                      <a:solidFill>
                        <a:srgbClr val="CDD7DF"/>
                      </a:solidFill>
                      <a:prstDash val="solid"/>
                    </a:lnT>
                    <a:lnB w="9525">
                      <a:solidFill>
                        <a:srgbClr val="CDD7DF"/>
                      </a:solidFill>
                      <a:prstDash val="solid"/>
                    </a:lnB>
                    <a:solidFill>
                      <a:srgbClr val="142D4E"/>
                    </a:solidFill>
                  </a:tcPr>
                </a:tc>
                <a:extLst>
                  <a:ext uri="{0D108BD9-81ED-4DB2-BD59-A6C34878D82A}">
                    <a16:rowId xmlns:a16="http://schemas.microsoft.com/office/drawing/2014/main" val="10000"/>
                  </a:ext>
                </a:extLst>
              </a:tr>
              <a:tr h="642938">
                <a:tc>
                  <a:txBody>
                    <a:bodyPr/>
                    <a:lstStyle/>
                    <a:p>
                      <a:r>
                        <a:rPr sz="1650" b="0">
                          <a:solidFill>
                            <a:srgbClr val="233247"/>
                          </a:solidFill>
                          <a:latin typeface="Arial"/>
                          <a:ea typeface="Arial"/>
                          <a:cs typeface="Arial"/>
                        </a:rPr>
                        <a:t>[Actual row 1]</a:t>
                      </a:r>
                    </a:p>
                  </a:txBody>
                  <a:tcPr>
                    <a:lnL w="9525">
                      <a:solidFill>
                        <a:srgbClr val="CDD7DF"/>
                      </a:solidFill>
                      <a:prstDash val="solid"/>
                    </a:lnL>
                    <a:lnR w="9525">
                      <a:solidFill>
                        <a:srgbClr val="CDD7DF"/>
                      </a:solidFill>
                      <a:prstDash val="solid"/>
                    </a:lnR>
                    <a:lnT w="9525" cap="flat" cmpd="sng" algn="ctr">
                      <a:solidFill>
                        <a:srgbClr val="CDD7DF"/>
                      </a:solidFill>
                      <a:prstDash val="solid"/>
                      <a:round/>
                      <a:headEnd type="none" w="med" len="med"/>
                      <a:tailEnd type="none" w="med" len="med"/>
                    </a:lnT>
                    <a:lnB w="9525">
                      <a:solidFill>
                        <a:srgbClr val="CDD7DF"/>
                      </a:solidFill>
                      <a:prstDash val="solid"/>
                    </a:lnB>
                    <a:solidFill>
                      <a:srgbClr val="F0F5F7"/>
                    </a:solidFill>
                  </a:tcPr>
                </a:tc>
                <a:tc>
                  <a:txBody>
                    <a:bodyPr/>
                    <a:lstStyle/>
                    <a:p>
                      <a:r>
                        <a:rPr sz="1650" b="0">
                          <a:solidFill>
                            <a:srgbClr val="233247"/>
                          </a:solidFill>
                          <a:latin typeface="Arial"/>
                          <a:ea typeface="Arial"/>
                          <a:cs typeface="Arial"/>
                        </a:rPr>
                        <a:t>[Value]</a:t>
                      </a:r>
                    </a:p>
                  </a:txBody>
                  <a:tcPr>
                    <a:lnL w="9525" cap="flat" cmpd="sng" algn="ctr">
                      <a:solidFill>
                        <a:srgbClr val="CDD7DF"/>
                      </a:solidFill>
                      <a:prstDash val="solid"/>
                      <a:round/>
                      <a:headEnd type="none" w="med" len="med"/>
                      <a:tailEnd type="none" w="med" len="med"/>
                    </a:lnL>
                    <a:lnR w="9525">
                      <a:solidFill>
                        <a:srgbClr val="CDD7DF"/>
                      </a:solidFill>
                      <a:prstDash val="solid"/>
                    </a:lnR>
                    <a:lnT w="9525" cap="flat" cmpd="sng" algn="ctr">
                      <a:solidFill>
                        <a:srgbClr val="CDD7DF"/>
                      </a:solidFill>
                      <a:prstDash val="solid"/>
                      <a:round/>
                      <a:headEnd type="none" w="med" len="med"/>
                      <a:tailEnd type="none" w="med" len="med"/>
                    </a:lnT>
                    <a:lnB w="9525">
                      <a:solidFill>
                        <a:srgbClr val="CDD7DF"/>
                      </a:solidFill>
                      <a:prstDash val="solid"/>
                    </a:lnB>
                    <a:solidFill>
                      <a:srgbClr val="F0F5F7"/>
                    </a:solidFill>
                  </a:tcPr>
                </a:tc>
                <a:tc>
                  <a:txBody>
                    <a:bodyPr/>
                    <a:lstStyle/>
                    <a:p>
                      <a:r>
                        <a:rPr sz="1650" b="0">
                          <a:solidFill>
                            <a:srgbClr val="233247"/>
                          </a:solidFill>
                          <a:latin typeface="Arial"/>
                          <a:ea typeface="Arial"/>
                          <a:cs typeface="Arial"/>
                        </a:rPr>
                        <a:t>[Value]</a:t>
                      </a:r>
                    </a:p>
                  </a:txBody>
                  <a:tcPr>
                    <a:lnL w="9525" cap="flat" cmpd="sng" algn="ctr">
                      <a:solidFill>
                        <a:srgbClr val="CDD7DF"/>
                      </a:solidFill>
                      <a:prstDash val="solid"/>
                      <a:round/>
                      <a:headEnd type="none" w="med" len="med"/>
                      <a:tailEnd type="none" w="med" len="med"/>
                    </a:lnL>
                    <a:lnR w="9525">
                      <a:solidFill>
                        <a:srgbClr val="CDD7DF"/>
                      </a:solidFill>
                      <a:prstDash val="solid"/>
                    </a:lnR>
                    <a:lnT w="9525" cap="flat" cmpd="sng" algn="ctr">
                      <a:solidFill>
                        <a:srgbClr val="CDD7DF"/>
                      </a:solidFill>
                      <a:prstDash val="solid"/>
                      <a:round/>
                      <a:headEnd type="none" w="med" len="med"/>
                      <a:tailEnd type="none" w="med" len="med"/>
                    </a:lnT>
                    <a:lnB w="9525">
                      <a:solidFill>
                        <a:srgbClr val="CDD7DF"/>
                      </a:solidFill>
                      <a:prstDash val="solid"/>
                    </a:lnB>
                    <a:solidFill>
                      <a:srgbClr val="F0F5F7"/>
                    </a:solidFill>
                  </a:tcPr>
                </a:tc>
                <a:tc>
                  <a:txBody>
                    <a:bodyPr/>
                    <a:lstStyle/>
                    <a:p>
                      <a:r>
                        <a:rPr sz="1650" b="0">
                          <a:solidFill>
                            <a:srgbClr val="233247"/>
                          </a:solidFill>
                          <a:latin typeface="Arial"/>
                          <a:ea typeface="Arial"/>
                          <a:cs typeface="Arial"/>
                        </a:rPr>
                        <a:t>[Value]</a:t>
                      </a:r>
                    </a:p>
                  </a:txBody>
                  <a:tcPr>
                    <a:lnL w="9525" cap="flat" cmpd="sng" algn="ctr">
                      <a:solidFill>
                        <a:srgbClr val="CDD7DF"/>
                      </a:solidFill>
                      <a:prstDash val="solid"/>
                      <a:round/>
                      <a:headEnd type="none" w="med" len="med"/>
                      <a:tailEnd type="none" w="med" len="med"/>
                    </a:lnL>
                    <a:lnR w="9525">
                      <a:solidFill>
                        <a:srgbClr val="CDD7DF"/>
                      </a:solidFill>
                      <a:prstDash val="solid"/>
                    </a:lnR>
                    <a:lnT w="9525" cap="flat" cmpd="sng" algn="ctr">
                      <a:solidFill>
                        <a:srgbClr val="CDD7DF"/>
                      </a:solidFill>
                      <a:prstDash val="solid"/>
                      <a:round/>
                      <a:headEnd type="none" w="med" len="med"/>
                      <a:tailEnd type="none" w="med" len="med"/>
                    </a:lnT>
                    <a:lnB w="9525">
                      <a:solidFill>
                        <a:srgbClr val="CDD7DF"/>
                      </a:solidFill>
                      <a:prstDash val="solid"/>
                    </a:lnB>
                    <a:solidFill>
                      <a:srgbClr val="F0F5F7"/>
                    </a:solidFill>
                  </a:tcPr>
                </a:tc>
                <a:extLst>
                  <a:ext uri="{0D108BD9-81ED-4DB2-BD59-A6C34878D82A}">
                    <a16:rowId xmlns:a16="http://schemas.microsoft.com/office/drawing/2014/main" val="10001"/>
                  </a:ext>
                </a:extLst>
              </a:tr>
              <a:tr h="642938">
                <a:tc>
                  <a:txBody>
                    <a:bodyPr/>
                    <a:lstStyle/>
                    <a:p>
                      <a:r>
                        <a:rPr sz="1650" b="0">
                          <a:solidFill>
                            <a:srgbClr val="233247"/>
                          </a:solidFill>
                          <a:latin typeface="Arial"/>
                          <a:ea typeface="Arial"/>
                          <a:cs typeface="Arial"/>
                        </a:rPr>
                        <a:t>[Actual row 2]</a:t>
                      </a:r>
                    </a:p>
                  </a:txBody>
                  <a:tcPr>
                    <a:lnL w="9525">
                      <a:solidFill>
                        <a:srgbClr val="CDD7DF"/>
                      </a:solidFill>
                      <a:prstDash val="solid"/>
                    </a:lnL>
                    <a:lnR w="9525">
                      <a:solidFill>
                        <a:srgbClr val="CDD7DF"/>
                      </a:solidFill>
                      <a:prstDash val="solid"/>
                    </a:lnR>
                    <a:lnT w="9525" cap="flat" cmpd="sng" algn="ctr">
                      <a:solidFill>
                        <a:srgbClr val="CDD7DF"/>
                      </a:solidFill>
                      <a:prstDash val="solid"/>
                      <a:round/>
                      <a:headEnd type="none" w="med" len="med"/>
                      <a:tailEnd type="none" w="med" len="med"/>
                    </a:lnT>
                    <a:lnB w="9525">
                      <a:solidFill>
                        <a:srgbClr val="CDD7DF"/>
                      </a:solidFill>
                      <a:prstDash val="solid"/>
                    </a:lnB>
                    <a:solidFill>
                      <a:srgbClr val="FFFFFF"/>
                    </a:solidFill>
                  </a:tcPr>
                </a:tc>
                <a:tc>
                  <a:txBody>
                    <a:bodyPr/>
                    <a:lstStyle/>
                    <a:p>
                      <a:r>
                        <a:rPr sz="1650" b="0">
                          <a:solidFill>
                            <a:srgbClr val="233247"/>
                          </a:solidFill>
                          <a:latin typeface="Arial"/>
                          <a:ea typeface="Arial"/>
                          <a:cs typeface="Arial"/>
                        </a:rPr>
                        <a:t>[Value]</a:t>
                      </a:r>
                    </a:p>
                  </a:txBody>
                  <a:tcPr>
                    <a:lnL w="9525" cap="flat" cmpd="sng" algn="ctr">
                      <a:solidFill>
                        <a:srgbClr val="CDD7DF"/>
                      </a:solidFill>
                      <a:prstDash val="solid"/>
                      <a:round/>
                      <a:headEnd type="none" w="med" len="med"/>
                      <a:tailEnd type="none" w="med" len="med"/>
                    </a:lnL>
                    <a:lnR w="9525">
                      <a:solidFill>
                        <a:srgbClr val="CDD7DF"/>
                      </a:solidFill>
                      <a:prstDash val="solid"/>
                    </a:lnR>
                    <a:lnT w="9525" cap="flat" cmpd="sng" algn="ctr">
                      <a:solidFill>
                        <a:srgbClr val="CDD7DF"/>
                      </a:solidFill>
                      <a:prstDash val="solid"/>
                      <a:round/>
                      <a:headEnd type="none" w="med" len="med"/>
                      <a:tailEnd type="none" w="med" len="med"/>
                    </a:lnT>
                    <a:lnB w="9525">
                      <a:solidFill>
                        <a:srgbClr val="CDD7DF"/>
                      </a:solidFill>
                      <a:prstDash val="solid"/>
                    </a:lnB>
                    <a:solidFill>
                      <a:srgbClr val="FFFFFF"/>
                    </a:solidFill>
                  </a:tcPr>
                </a:tc>
                <a:tc>
                  <a:txBody>
                    <a:bodyPr/>
                    <a:lstStyle/>
                    <a:p>
                      <a:r>
                        <a:rPr sz="1650" b="0">
                          <a:solidFill>
                            <a:srgbClr val="233247"/>
                          </a:solidFill>
                          <a:latin typeface="Arial"/>
                          <a:ea typeface="Arial"/>
                          <a:cs typeface="Arial"/>
                        </a:rPr>
                        <a:t>[Value]</a:t>
                      </a:r>
                    </a:p>
                  </a:txBody>
                  <a:tcPr>
                    <a:lnL w="9525" cap="flat" cmpd="sng" algn="ctr">
                      <a:solidFill>
                        <a:srgbClr val="CDD7DF"/>
                      </a:solidFill>
                      <a:prstDash val="solid"/>
                      <a:round/>
                      <a:headEnd type="none" w="med" len="med"/>
                      <a:tailEnd type="none" w="med" len="med"/>
                    </a:lnL>
                    <a:lnR w="9525">
                      <a:solidFill>
                        <a:srgbClr val="CDD7DF"/>
                      </a:solidFill>
                      <a:prstDash val="solid"/>
                    </a:lnR>
                    <a:lnT w="9525" cap="flat" cmpd="sng" algn="ctr">
                      <a:solidFill>
                        <a:srgbClr val="CDD7DF"/>
                      </a:solidFill>
                      <a:prstDash val="solid"/>
                      <a:round/>
                      <a:headEnd type="none" w="med" len="med"/>
                      <a:tailEnd type="none" w="med" len="med"/>
                    </a:lnT>
                    <a:lnB w="9525">
                      <a:solidFill>
                        <a:srgbClr val="CDD7DF"/>
                      </a:solidFill>
                      <a:prstDash val="solid"/>
                    </a:lnB>
                    <a:solidFill>
                      <a:srgbClr val="FFFFFF"/>
                    </a:solidFill>
                  </a:tcPr>
                </a:tc>
                <a:tc>
                  <a:txBody>
                    <a:bodyPr/>
                    <a:lstStyle/>
                    <a:p>
                      <a:r>
                        <a:rPr sz="1650" b="0">
                          <a:solidFill>
                            <a:srgbClr val="233247"/>
                          </a:solidFill>
                          <a:latin typeface="Arial"/>
                          <a:ea typeface="Arial"/>
                          <a:cs typeface="Arial"/>
                        </a:rPr>
                        <a:t>[Value]</a:t>
                      </a:r>
                    </a:p>
                  </a:txBody>
                  <a:tcPr>
                    <a:lnL w="9525" cap="flat" cmpd="sng" algn="ctr">
                      <a:solidFill>
                        <a:srgbClr val="CDD7DF"/>
                      </a:solidFill>
                      <a:prstDash val="solid"/>
                      <a:round/>
                      <a:headEnd type="none" w="med" len="med"/>
                      <a:tailEnd type="none" w="med" len="med"/>
                    </a:lnL>
                    <a:lnR w="9525">
                      <a:solidFill>
                        <a:srgbClr val="CDD7DF"/>
                      </a:solidFill>
                      <a:prstDash val="solid"/>
                    </a:lnR>
                    <a:lnT w="9525" cap="flat" cmpd="sng" algn="ctr">
                      <a:solidFill>
                        <a:srgbClr val="CDD7DF"/>
                      </a:solidFill>
                      <a:prstDash val="solid"/>
                      <a:round/>
                      <a:headEnd type="none" w="med" len="med"/>
                      <a:tailEnd type="none" w="med" len="med"/>
                    </a:lnT>
                    <a:lnB w="9525">
                      <a:solidFill>
                        <a:srgbClr val="CDD7DF"/>
                      </a:solidFill>
                      <a:prstDash val="solid"/>
                    </a:lnB>
                    <a:solidFill>
                      <a:srgbClr val="FFFFFF"/>
                    </a:solidFill>
                  </a:tcPr>
                </a:tc>
                <a:extLst>
                  <a:ext uri="{0D108BD9-81ED-4DB2-BD59-A6C34878D82A}">
                    <a16:rowId xmlns:a16="http://schemas.microsoft.com/office/drawing/2014/main" val="10002"/>
                  </a:ext>
                </a:extLst>
              </a:tr>
              <a:tr h="642938">
                <a:tc>
                  <a:txBody>
                    <a:bodyPr/>
                    <a:lstStyle/>
                    <a:p>
                      <a:r>
                        <a:rPr sz="1650" b="0">
                          <a:solidFill>
                            <a:srgbClr val="233247"/>
                          </a:solidFill>
                          <a:latin typeface="Arial"/>
                          <a:ea typeface="Arial"/>
                          <a:cs typeface="Arial"/>
                        </a:rPr>
                        <a:t>[Actual row 3]</a:t>
                      </a:r>
                    </a:p>
                  </a:txBody>
                  <a:tcPr>
                    <a:lnL w="9525">
                      <a:solidFill>
                        <a:srgbClr val="CDD7DF"/>
                      </a:solidFill>
                      <a:prstDash val="solid"/>
                    </a:lnL>
                    <a:lnR w="9525">
                      <a:solidFill>
                        <a:srgbClr val="CDD7DF"/>
                      </a:solidFill>
                      <a:prstDash val="solid"/>
                    </a:lnR>
                    <a:lnT w="9525" cap="flat" cmpd="sng" algn="ctr">
                      <a:solidFill>
                        <a:srgbClr val="CDD7DF"/>
                      </a:solidFill>
                      <a:prstDash val="solid"/>
                      <a:round/>
                      <a:headEnd type="none" w="med" len="med"/>
                      <a:tailEnd type="none" w="med" len="med"/>
                    </a:lnT>
                    <a:lnB w="9525">
                      <a:solidFill>
                        <a:srgbClr val="CDD7DF"/>
                      </a:solidFill>
                      <a:prstDash val="solid"/>
                    </a:lnB>
                    <a:solidFill>
                      <a:srgbClr val="F0F5F7"/>
                    </a:solidFill>
                  </a:tcPr>
                </a:tc>
                <a:tc>
                  <a:txBody>
                    <a:bodyPr/>
                    <a:lstStyle/>
                    <a:p>
                      <a:r>
                        <a:rPr sz="1650" b="0">
                          <a:solidFill>
                            <a:srgbClr val="233247"/>
                          </a:solidFill>
                          <a:latin typeface="Arial"/>
                          <a:ea typeface="Arial"/>
                          <a:cs typeface="Arial"/>
                        </a:rPr>
                        <a:t>[Value]</a:t>
                      </a:r>
                    </a:p>
                  </a:txBody>
                  <a:tcPr>
                    <a:lnL w="9525" cap="flat" cmpd="sng" algn="ctr">
                      <a:solidFill>
                        <a:srgbClr val="CDD7DF"/>
                      </a:solidFill>
                      <a:prstDash val="solid"/>
                      <a:round/>
                      <a:headEnd type="none" w="med" len="med"/>
                      <a:tailEnd type="none" w="med" len="med"/>
                    </a:lnL>
                    <a:lnR w="9525">
                      <a:solidFill>
                        <a:srgbClr val="CDD7DF"/>
                      </a:solidFill>
                      <a:prstDash val="solid"/>
                    </a:lnR>
                    <a:lnT w="9525" cap="flat" cmpd="sng" algn="ctr">
                      <a:solidFill>
                        <a:srgbClr val="CDD7DF"/>
                      </a:solidFill>
                      <a:prstDash val="solid"/>
                      <a:round/>
                      <a:headEnd type="none" w="med" len="med"/>
                      <a:tailEnd type="none" w="med" len="med"/>
                    </a:lnT>
                    <a:lnB w="9525">
                      <a:solidFill>
                        <a:srgbClr val="CDD7DF"/>
                      </a:solidFill>
                      <a:prstDash val="solid"/>
                    </a:lnB>
                    <a:solidFill>
                      <a:srgbClr val="F0F5F7"/>
                    </a:solidFill>
                  </a:tcPr>
                </a:tc>
                <a:tc>
                  <a:txBody>
                    <a:bodyPr/>
                    <a:lstStyle/>
                    <a:p>
                      <a:r>
                        <a:rPr sz="1650" b="0">
                          <a:solidFill>
                            <a:srgbClr val="233247"/>
                          </a:solidFill>
                          <a:latin typeface="Arial"/>
                          <a:ea typeface="Arial"/>
                          <a:cs typeface="Arial"/>
                        </a:rPr>
                        <a:t>[Value]</a:t>
                      </a:r>
                    </a:p>
                  </a:txBody>
                  <a:tcPr>
                    <a:lnL w="9525" cap="flat" cmpd="sng" algn="ctr">
                      <a:solidFill>
                        <a:srgbClr val="CDD7DF"/>
                      </a:solidFill>
                      <a:prstDash val="solid"/>
                      <a:round/>
                      <a:headEnd type="none" w="med" len="med"/>
                      <a:tailEnd type="none" w="med" len="med"/>
                    </a:lnL>
                    <a:lnR w="9525">
                      <a:solidFill>
                        <a:srgbClr val="CDD7DF"/>
                      </a:solidFill>
                      <a:prstDash val="solid"/>
                    </a:lnR>
                    <a:lnT w="9525" cap="flat" cmpd="sng" algn="ctr">
                      <a:solidFill>
                        <a:srgbClr val="CDD7DF"/>
                      </a:solidFill>
                      <a:prstDash val="solid"/>
                      <a:round/>
                      <a:headEnd type="none" w="med" len="med"/>
                      <a:tailEnd type="none" w="med" len="med"/>
                    </a:lnT>
                    <a:lnB w="9525">
                      <a:solidFill>
                        <a:srgbClr val="CDD7DF"/>
                      </a:solidFill>
                      <a:prstDash val="solid"/>
                    </a:lnB>
                    <a:solidFill>
                      <a:srgbClr val="F0F5F7"/>
                    </a:solidFill>
                  </a:tcPr>
                </a:tc>
                <a:tc>
                  <a:txBody>
                    <a:bodyPr/>
                    <a:lstStyle/>
                    <a:p>
                      <a:r>
                        <a:rPr sz="1650" b="0">
                          <a:solidFill>
                            <a:srgbClr val="233247"/>
                          </a:solidFill>
                          <a:latin typeface="Arial"/>
                          <a:ea typeface="Arial"/>
                          <a:cs typeface="Arial"/>
                        </a:rPr>
                        <a:t>[Value]</a:t>
                      </a:r>
                    </a:p>
                  </a:txBody>
                  <a:tcPr>
                    <a:lnL w="9525" cap="flat" cmpd="sng" algn="ctr">
                      <a:solidFill>
                        <a:srgbClr val="CDD7DF"/>
                      </a:solidFill>
                      <a:prstDash val="solid"/>
                      <a:round/>
                      <a:headEnd type="none" w="med" len="med"/>
                      <a:tailEnd type="none" w="med" len="med"/>
                    </a:lnL>
                    <a:lnR w="9525">
                      <a:solidFill>
                        <a:srgbClr val="CDD7DF"/>
                      </a:solidFill>
                      <a:prstDash val="solid"/>
                    </a:lnR>
                    <a:lnT w="9525" cap="flat" cmpd="sng" algn="ctr">
                      <a:solidFill>
                        <a:srgbClr val="CDD7DF"/>
                      </a:solidFill>
                      <a:prstDash val="solid"/>
                      <a:round/>
                      <a:headEnd type="none" w="med" len="med"/>
                      <a:tailEnd type="none" w="med" len="med"/>
                    </a:lnT>
                    <a:lnB w="9525">
                      <a:solidFill>
                        <a:srgbClr val="CDD7DF"/>
                      </a:solidFill>
                      <a:prstDash val="solid"/>
                    </a:lnB>
                    <a:solidFill>
                      <a:srgbClr val="F0F5F7"/>
                    </a:solidFill>
                  </a:tcPr>
                </a:tc>
                <a:extLst>
                  <a:ext uri="{0D108BD9-81ED-4DB2-BD59-A6C34878D82A}">
                    <a16:rowId xmlns:a16="http://schemas.microsoft.com/office/drawing/2014/main" val="10003"/>
                  </a:ext>
                </a:extLst>
              </a:tr>
            </a:tbl>
          </a:graphicData>
        </a:graphic>
      </p:graphicFrame>
      <p:sp>
        <p:nvSpPr>
          <p:cNvPr id="5" name="Rectangle 4">
            <a:extLst>
              <a:ext uri="{FF2B5EF4-FFF2-40B4-BE49-F238E27FC236}">
                <a16:creationId xmlns:a16="http://schemas.microsoft.com/office/drawing/2014/main" id="{E0B9EDCC-2CBB-4C64-AF5F-48DEDA996D9B}"/>
              </a:ext>
            </a:extLst>
          </p:cNvPr>
          <p:cNvSpPr>
            <a:spLocks noGrp="1"/>
          </p:cNvSpPr>
          <p:nvPr/>
        </p:nvSpPr>
        <p:spPr>
          <a:xfrm>
            <a:off x="685800" y="5048250"/>
            <a:ext cx="10477500" cy="571500"/>
          </a:xfrm>
          <a:prstGeom prst="rect">
            <a:avLst/>
          </a:prstGeom>
          <a:noFill/>
          <a:ln w="0">
            <a:noFill/>
            <a:prstDash val="solid"/>
          </a:ln>
        </p:spPr>
        <p:txBody>
          <a:bodyPr/>
          <a:lstStyle>
            <a:defPPr>
              <a:defRPr sz="1950" b="0">
                <a:solidFill>
                  <a:srgbClr val="233247"/>
                </a:solidFill>
                <a:latin typeface="Arial"/>
                <a:ea typeface="Arial"/>
                <a:cs typeface="Arial"/>
              </a:defRPr>
            </a:defPPr>
          </a:lstStyle>
          <a:p>
            <a:pPr>
              <a:defRPr sz="1950" b="0">
                <a:solidFill>
                  <a:srgbClr val="233247"/>
                </a:solidFill>
                <a:latin typeface="Arial"/>
                <a:ea typeface="Arial"/>
                <a:cs typeface="Arial"/>
              </a:defRPr>
            </a:pPr>
            <a:r>
              <a:rPr sz="1950" b="0">
                <a:solidFill>
                  <a:srgbClr val="233247"/>
                </a:solidFill>
                <a:latin typeface="Arial"/>
                <a:ea typeface="Arial"/>
                <a:cs typeface="Arial"/>
              </a:rPr>
              <a:t>Key variables:
product_id (int) — unique SKU identifier
category (str) — product category (16 levels)
mrp (float, Rs) — Maximum Retail Price (MRP-compliant, fixed)
selling_price (float, Rs) — actual Blinkit selling price
discount_pct (float, %) — (MRP–price)/MRP × 100
order_id (str) — unique transaction order identifier
quantity (int) — units purchased per line item
order_date (date) — transaction date (Apr–Sep 2026)</a:t>
            </a:r>
          </a:p>
        </p:txBody>
      </p:sp>
      <p:sp>
        <p:nvSpPr>
          <p:cNvPr id="6" name="Rectangle 5">
            <a:extLst>
              <a:ext uri="{FF2B5EF4-FFF2-40B4-BE49-F238E27FC236}">
                <a16:creationId xmlns:a16="http://schemas.microsoft.com/office/drawing/2014/main" id="{AF628CDC-22BC-40DC-8AC3-B989D8B9467C}"/>
              </a:ext>
            </a:extLst>
          </p:cNvPr>
          <p:cNvSpPr>
            <a:spLocks noGrp="1"/>
          </p:cNvSpPr>
          <p:nvPr/>
        </p:nvSpPr>
        <p:spPr>
          <a:xfrm>
            <a:off x="685800" y="5762625"/>
            <a:ext cx="10477500" cy="476250"/>
          </a:xfrm>
          <a:prstGeom prst="rect">
            <a:avLst/>
          </a:prstGeom>
          <a:noFill/>
          <a:ln w="0">
            <a:noFill/>
            <a:prstDash val="solid"/>
          </a:ln>
        </p:spPr>
        <p:txBody>
          <a:bodyPr/>
          <a:lstStyle>
            <a:defPPr>
              <a:defRPr sz="1725" b="0">
                <a:solidFill>
                  <a:srgbClr val="233247"/>
                </a:solidFill>
                <a:latin typeface="Arial"/>
                <a:ea typeface="Arial"/>
                <a:cs typeface="Arial"/>
              </a:defRPr>
            </a:defPPr>
          </a:lstStyle>
          <a:p>
            <a:pPr>
              <a:defRPr sz="1725" b="0">
                <a:solidFill>
                  <a:srgbClr val="233247"/>
                </a:solidFill>
                <a:latin typeface="Arial"/>
                <a:ea typeface="Arial"/>
                <a:cs typeface="Arial"/>
              </a:defRPr>
            </a:pPr>
            <a:r>
              <a:rPr sz="1725" b="0">
                <a:solidFill>
                  <a:srgbClr val="233247"/>
                </a:solidFill>
                <a:latin typeface="Arial"/>
                <a:ea typeface="Arial"/>
                <a:cs typeface="Arial"/>
              </a:rPr>
              <a:t>Linked datasets:
• cleaned_product_catalogue.csv (609 rows) → product metadata for all units
• enhanced_synthetic_transactions.csv (106,398 rows) → demand time series &amp; baskets
• daily_aggregated_demand.csv (183 rows) → Method 1 input series
• Basket pivot matrix (30,296 multi-item orders) → Method 2 input</a:t>
            </a:r>
          </a:p>
        </p:txBody>
      </p:sp>
      <p:pic>
        <p:nvPicPr>
          <p:cNvPr id="8" name="Picture 7" descr="03_mrp_vs_selling_price.png"/>
          <p:cNvPicPr>
            <a:picLocks noChangeAspect="1"/>
          </p:cNvPicPr>
          <p:nvPr/>
        </p:nvPicPr>
        <p:blipFill>
          <a:blip r:embed="rId3"/>
          <a:stretch>
            <a:fillRect/>
          </a:stretch>
        </p:blipFill>
        <p:spPr>
          <a:xfrm>
            <a:off x="274320" y="2926080"/>
            <a:ext cx="4572000" cy="2926080"/>
          </a:xfrm>
          <a:prstGeom prst="rect">
            <a:avLst/>
          </a:prstGeom>
        </p:spPr>
      </p:pic>
      <p:pic>
        <p:nvPicPr>
          <p:cNvPr id="9" name="Picture 8" descr="02_sku_depth_vs_discount.png"/>
          <p:cNvPicPr>
            <a:picLocks noChangeAspect="1"/>
          </p:cNvPicPr>
          <p:nvPr/>
        </p:nvPicPr>
        <p:blipFill>
          <a:blip r:embed="rId4"/>
          <a:stretch>
            <a:fillRect/>
          </a:stretch>
        </p:blipFill>
        <p:spPr>
          <a:xfrm>
            <a:off x="5029200" y="2926080"/>
            <a:ext cx="4114800" cy="2926080"/>
          </a:xfrm>
          <a:prstGeom prst="rect">
            <a:avLst/>
          </a:prstGeom>
        </p:spPr>
      </p:pic>
    </p:spTree>
    <p:extLst>
      <p:ext uri="{BB962C8B-B14F-4D97-AF65-F5344CB8AC3E}">
        <p14:creationId xmlns:p14="http://schemas.microsoft.com/office/powerpoint/2010/main" val="742525914"/>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sp>
        <p:nvSpPr>
          <p:cNvPr id="6" name="Rectangle 5">
            <a:extLst>
              <a:ext uri="{FF2B5EF4-FFF2-40B4-BE49-F238E27FC236}">
                <a16:creationId xmlns:a16="http://schemas.microsoft.com/office/drawing/2014/main" id="{E0BE5F2A-720E-4573-878E-C101B5918DDE}"/>
              </a:ext>
            </a:extLst>
          </p:cNvPr>
          <p:cNvSpPr>
            <a:spLocks noGrp="1"/>
          </p:cNvSpPr>
          <p:nvPr/>
        </p:nvSpPr>
        <p:spPr>
          <a:xfrm>
            <a:off x="609600" y="342900"/>
            <a:ext cx="10477500" cy="285750"/>
          </a:xfrm>
          <a:prstGeom prst="rect">
            <a:avLst/>
          </a:prstGeom>
          <a:noFill/>
          <a:ln w="0">
            <a:noFill/>
            <a:prstDash val="solid"/>
          </a:ln>
        </p:spPr>
        <p:txBody>
          <a:bodyPr/>
          <a:lstStyle>
            <a:defPPr>
              <a:defRPr sz="1350" b="1">
                <a:solidFill>
                  <a:srgbClr val="157A80"/>
                </a:solidFill>
                <a:latin typeface="Arial"/>
                <a:ea typeface="Arial"/>
                <a:cs typeface="Arial"/>
              </a:defRPr>
            </a:defPPr>
          </a:lstStyle>
          <a:p>
            <a:pPr>
              <a:defRPr sz="1350" b="1">
                <a:solidFill>
                  <a:srgbClr val="157A80"/>
                </a:solidFill>
                <a:latin typeface="Arial"/>
                <a:ea typeface="Arial"/>
                <a:cs typeface="Arial"/>
              </a:defRPr>
            </a:pPr>
            <a:r>
              <a:rPr sz="1350" b="1">
                <a:solidFill>
                  <a:srgbClr val="157A80"/>
                </a:solidFill>
                <a:latin typeface="Arial"/>
                <a:ea typeface="Arial"/>
                <a:cs typeface="Arial"/>
              </a:rPr>
              <a:t>OVERALL VALIDATION FOR UNITS 1 TO 3</a:t>
            </a:r>
          </a:p>
        </p:txBody>
      </p:sp>
      <p:sp>
        <p:nvSpPr>
          <p:cNvPr id="2" name="Rectangle 1">
            <a:extLst>
              <a:ext uri="{FF2B5EF4-FFF2-40B4-BE49-F238E27FC236}">
                <a16:creationId xmlns:a16="http://schemas.microsoft.com/office/drawing/2014/main" id="{43A84140-130B-46E5-9F90-51059CE2CD97}"/>
              </a:ext>
            </a:extLst>
          </p:cNvPr>
          <p:cNvSpPr>
            <a:spLocks noGrp="1"/>
          </p:cNvSpPr>
          <p:nvPr/>
        </p:nvSpPr>
        <p:spPr>
          <a:xfrm>
            <a:off x="609600" y="838200"/>
            <a:ext cx="10972800" cy="857250"/>
          </a:xfrm>
          <a:prstGeom prst="rect">
            <a:avLst/>
          </a:prstGeom>
          <a:noFill/>
          <a:ln w="0">
            <a:noFill/>
            <a:prstDash val="solid"/>
          </a:ln>
        </p:spPr>
        <p:txBody>
          <a:bodyPr/>
          <a:lstStyle>
            <a:defPPr>
              <a:defRPr sz="3150" b="1">
                <a:solidFill>
                  <a:srgbClr val="142D4E"/>
                </a:solidFill>
                <a:latin typeface="Arial"/>
                <a:ea typeface="Arial"/>
                <a:cs typeface="Arial"/>
              </a:defRPr>
            </a:defPPr>
          </a:lstStyle>
          <a:p>
            <a:pPr>
              <a:defRPr sz="3150" b="1">
                <a:solidFill>
                  <a:srgbClr val="142D4E"/>
                </a:solidFill>
                <a:latin typeface="Arial"/>
                <a:ea typeface="Arial"/>
                <a:cs typeface="Arial"/>
              </a:defRPr>
            </a:pPr>
            <a:r>
              <a:rPr sz="3150" b="1">
                <a:solidFill>
                  <a:srgbClr val="142D4E"/>
                </a:solidFill>
                <a:latin typeface="Arial"/>
                <a:ea typeface="Arial"/>
                <a:cs typeface="Arial"/>
              </a:rPr>
              <a:t>Dataset validation and preparation</a:t>
            </a:r>
          </a:p>
        </p:txBody>
      </p:sp>
      <p:sp>
        <p:nvSpPr>
          <p:cNvPr id="3" name="Rectangle 2">
            <a:extLst>
              <a:ext uri="{FF2B5EF4-FFF2-40B4-BE49-F238E27FC236}">
                <a16:creationId xmlns:a16="http://schemas.microsoft.com/office/drawing/2014/main" id="{795FDD72-885C-4289-AFCE-70C8027D4E33}"/>
              </a:ext>
            </a:extLst>
          </p:cNvPr>
          <p:cNvSpPr>
            <a:spLocks noGrp="1"/>
          </p:cNvSpPr>
          <p:nvPr/>
        </p:nvSpPr>
        <p:spPr>
          <a:xfrm>
            <a:off x="10953750" y="6343650"/>
            <a:ext cx="619125" cy="238125"/>
          </a:xfrm>
          <a:prstGeom prst="rect">
            <a:avLst/>
          </a:prstGeom>
          <a:noFill/>
          <a:ln w="0">
            <a:noFill/>
            <a:prstDash val="solid"/>
          </a:ln>
        </p:spPr>
        <p:txBody>
          <a:bodyPr/>
          <a:lstStyle>
            <a:defPPr>
              <a:defRPr sz="1200" b="0">
                <a:solidFill>
                  <a:srgbClr val="66758A"/>
                </a:solidFill>
                <a:latin typeface="Arial"/>
                <a:ea typeface="Arial"/>
                <a:cs typeface="Arial"/>
              </a:defRPr>
            </a:defPPr>
          </a:lstStyle>
          <a:p>
            <a:pPr>
              <a:defRPr sz="1200" b="0">
                <a:solidFill>
                  <a:srgbClr val="66758A"/>
                </a:solidFill>
                <a:latin typeface="Arial"/>
                <a:ea typeface="Arial"/>
                <a:cs typeface="Arial"/>
              </a:defRPr>
            </a:pPr>
            <a:r>
              <a:rPr sz="1200" b="0">
                <a:solidFill>
                  <a:srgbClr val="66758A"/>
                </a:solidFill>
                <a:latin typeface="Arial"/>
                <a:ea typeface="Arial"/>
                <a:cs typeface="Arial"/>
              </a:rPr>
              <a:t>06</a:t>
            </a:r>
          </a:p>
        </p:txBody>
      </p:sp>
      <p:graphicFrame>
        <p:nvGraphicFramePr>
          <p:cNvPr id="4" name="Table 3">
            <a:extLst>
              <a:ext uri="{FF2B5EF4-FFF2-40B4-BE49-F238E27FC236}">
                <a16:creationId xmlns:a16="http://schemas.microsoft.com/office/drawing/2014/main" id="{B037A3E9-91B6-48BF-AF9D-CCCB5E4C264B}"/>
              </a:ext>
            </a:extLst>
          </p:cNvPr>
          <p:cNvGraphicFramePr/>
          <p:nvPr/>
        </p:nvGraphicFramePr>
        <p:xfrm>
          <a:off x="609600" y="1952625"/>
          <a:ext cx="10972800" cy="3238500"/>
        </p:xfrm>
        <a:graphic>
          <a:graphicData uri="http://schemas.openxmlformats.org/drawingml/2006/table">
            <a:tbl>
              <a:tblPr/>
              <a:tblGrid>
                <a:gridCol w="3143250">
                  <a:extLst>
                    <a:ext uri="{9D8B030D-6E8A-4147-A177-3AD203B41FA5}">
                      <a16:colId xmlns:a16="http://schemas.microsoft.com/office/drawing/2014/main" val="20000"/>
                    </a:ext>
                  </a:extLst>
                </a:gridCol>
                <a:gridCol w="3143250">
                  <a:extLst>
                    <a:ext uri="{9D8B030D-6E8A-4147-A177-3AD203B41FA5}">
                      <a16:colId xmlns:a16="http://schemas.microsoft.com/office/drawing/2014/main" val="20001"/>
                    </a:ext>
                  </a:extLst>
                </a:gridCol>
                <a:gridCol w="4686300">
                  <a:extLst>
                    <a:ext uri="{9D8B030D-6E8A-4147-A177-3AD203B41FA5}">
                      <a16:colId xmlns:a16="http://schemas.microsoft.com/office/drawing/2014/main" val="20002"/>
                    </a:ext>
                  </a:extLst>
                </a:gridCol>
              </a:tblGrid>
              <a:tr h="647700">
                <a:tc>
                  <a:txBody>
                    <a:bodyPr/>
                    <a:lstStyle/>
                    <a:p>
                      <a:r>
                        <a:rPr sz="1650" b="1">
                          <a:solidFill>
                            <a:srgbClr val="FFFFFF"/>
                          </a:solidFill>
                          <a:latin typeface="Arial"/>
                          <a:ea typeface="Arial"/>
                          <a:cs typeface="Arial"/>
                        </a:rPr>
                        <a:t>Check</a:t>
                      </a:r>
                    </a:p>
                  </a:txBody>
                  <a:tcPr>
                    <a:lnL w="9525">
                      <a:solidFill>
                        <a:srgbClr val="CDD7DF"/>
                      </a:solidFill>
                      <a:prstDash val="solid"/>
                    </a:lnL>
                    <a:lnR w="9525">
                      <a:solidFill>
                        <a:srgbClr val="CDD7DF"/>
                      </a:solidFill>
                      <a:prstDash val="solid"/>
                    </a:lnR>
                    <a:lnT w="9525">
                      <a:solidFill>
                        <a:srgbClr val="CDD7DF"/>
                      </a:solidFill>
                      <a:prstDash val="solid"/>
                    </a:lnT>
                    <a:lnB w="9525">
                      <a:solidFill>
                        <a:srgbClr val="CDD7DF"/>
                      </a:solidFill>
                      <a:prstDash val="solid"/>
                    </a:lnB>
                    <a:solidFill>
                      <a:srgbClr val="142D4E"/>
                    </a:solidFill>
                  </a:tcPr>
                </a:tc>
                <a:tc>
                  <a:txBody>
                    <a:bodyPr/>
                    <a:lstStyle/>
                    <a:p>
                      <a:r>
                        <a:rPr sz="1650" b="1">
                          <a:solidFill>
                            <a:srgbClr val="FFFFFF"/>
                          </a:solidFill>
                          <a:latin typeface="Arial"/>
                          <a:ea typeface="Arial"/>
                          <a:cs typeface="Arial"/>
                        </a:rPr>
                        <a:t>Finding</a:t>
                      </a:r>
                    </a:p>
                  </a:txBody>
                  <a:tcPr>
                    <a:lnL w="9525" cap="flat" cmpd="sng" algn="ctr">
                      <a:solidFill>
                        <a:srgbClr val="CDD7DF"/>
                      </a:solidFill>
                      <a:prstDash val="solid"/>
                      <a:round/>
                      <a:headEnd type="none" w="med" len="med"/>
                      <a:tailEnd type="none" w="med" len="med"/>
                    </a:lnL>
                    <a:lnR w="9525">
                      <a:solidFill>
                        <a:srgbClr val="CDD7DF"/>
                      </a:solidFill>
                      <a:prstDash val="solid"/>
                    </a:lnR>
                    <a:lnT w="9525">
                      <a:solidFill>
                        <a:srgbClr val="CDD7DF"/>
                      </a:solidFill>
                      <a:prstDash val="solid"/>
                    </a:lnT>
                    <a:lnB w="9525">
                      <a:solidFill>
                        <a:srgbClr val="CDD7DF"/>
                      </a:solidFill>
                      <a:prstDash val="solid"/>
                    </a:lnB>
                    <a:solidFill>
                      <a:srgbClr val="142D4E"/>
                    </a:solidFill>
                  </a:tcPr>
                </a:tc>
                <a:tc>
                  <a:txBody>
                    <a:bodyPr/>
                    <a:lstStyle/>
                    <a:p>
                      <a:r>
                        <a:rPr sz="1650" b="1">
                          <a:solidFill>
                            <a:srgbClr val="FFFFFF"/>
                          </a:solidFill>
                          <a:latin typeface="Arial"/>
                          <a:ea typeface="Arial"/>
                          <a:cs typeface="Arial"/>
                        </a:rPr>
                        <a:t>Correction / evidence</a:t>
                      </a:r>
                    </a:p>
                  </a:txBody>
                  <a:tcPr>
                    <a:lnL w="9525" cap="flat" cmpd="sng" algn="ctr">
                      <a:solidFill>
                        <a:srgbClr val="CDD7DF"/>
                      </a:solidFill>
                      <a:prstDash val="solid"/>
                      <a:round/>
                      <a:headEnd type="none" w="med" len="med"/>
                      <a:tailEnd type="none" w="med" len="med"/>
                    </a:lnL>
                    <a:lnR w="9525">
                      <a:solidFill>
                        <a:srgbClr val="CDD7DF"/>
                      </a:solidFill>
                      <a:prstDash val="solid"/>
                    </a:lnR>
                    <a:lnT w="9525">
                      <a:solidFill>
                        <a:srgbClr val="CDD7DF"/>
                      </a:solidFill>
                      <a:prstDash val="solid"/>
                    </a:lnT>
                    <a:lnB w="9525">
                      <a:solidFill>
                        <a:srgbClr val="CDD7DF"/>
                      </a:solidFill>
                      <a:prstDash val="solid"/>
                    </a:lnB>
                    <a:solidFill>
                      <a:srgbClr val="142D4E"/>
                    </a:solidFill>
                  </a:tcPr>
                </a:tc>
                <a:extLst>
                  <a:ext uri="{0D108BD9-81ED-4DB2-BD59-A6C34878D82A}">
                    <a16:rowId xmlns:a16="http://schemas.microsoft.com/office/drawing/2014/main" val="10000"/>
                  </a:ext>
                </a:extLst>
              </a:tr>
              <a:tr h="647700">
                <a:tc>
                  <a:txBody>
                    <a:bodyPr/>
                    <a:lstStyle/>
                    <a:p>
                      <a:r>
                        <a:rPr sz="1650" b="0">
                          <a:solidFill>
                            <a:srgbClr val="233247"/>
                          </a:solidFill>
                          <a:latin typeface="Arial"/>
                          <a:ea typeface="Arial"/>
                          <a:cs typeface="Arial"/>
                        </a:rPr>
                        <a:t>Missing values and duplicates</a:t>
                      </a:r>
                    </a:p>
                  </a:txBody>
                  <a:tcPr>
                    <a:lnL w="9525">
                      <a:solidFill>
                        <a:srgbClr val="CDD7DF"/>
                      </a:solidFill>
                      <a:prstDash val="solid"/>
                    </a:lnL>
                    <a:lnR w="9525">
                      <a:solidFill>
                        <a:srgbClr val="CDD7DF"/>
                      </a:solidFill>
                      <a:prstDash val="solid"/>
                    </a:lnR>
                    <a:lnT w="9525" cap="flat" cmpd="sng" algn="ctr">
                      <a:solidFill>
                        <a:srgbClr val="CDD7DF"/>
                      </a:solidFill>
                      <a:prstDash val="solid"/>
                      <a:round/>
                      <a:headEnd type="none" w="med" len="med"/>
                      <a:tailEnd type="none" w="med" len="med"/>
                    </a:lnT>
                    <a:lnB w="9525">
                      <a:solidFill>
                        <a:srgbClr val="CDD7DF"/>
                      </a:solidFill>
                      <a:prstDash val="solid"/>
                    </a:lnB>
                    <a:solidFill>
                      <a:srgbClr val="F0F5F7"/>
                    </a:solidFill>
                  </a:tcPr>
                </a:tc>
                <a:tc>
                  <a:txBody>
                    <a:bodyPr/>
                    <a:lstStyle/>
                    <a:p>
                      <a:r>
                        <a:rPr sz="1650" b="0">
                          <a:solidFill>
                            <a:srgbClr val="233247"/>
                          </a:solidFill>
                          <a:latin typeface="Arial"/>
                          <a:ea typeface="Arial"/>
                          <a:cs typeface="Arial"/>
                        </a:rPr>
                        <a:t>[Counts]</a:t>
                      </a:r>
                    </a:p>
                  </a:txBody>
                  <a:tcPr>
                    <a:lnL w="9525" cap="flat" cmpd="sng" algn="ctr">
                      <a:solidFill>
                        <a:srgbClr val="CDD7DF"/>
                      </a:solidFill>
                      <a:prstDash val="solid"/>
                      <a:round/>
                      <a:headEnd type="none" w="med" len="med"/>
                      <a:tailEnd type="none" w="med" len="med"/>
                    </a:lnL>
                    <a:lnR w="9525">
                      <a:solidFill>
                        <a:srgbClr val="CDD7DF"/>
                      </a:solidFill>
                      <a:prstDash val="solid"/>
                    </a:lnR>
                    <a:lnT w="9525" cap="flat" cmpd="sng" algn="ctr">
                      <a:solidFill>
                        <a:srgbClr val="CDD7DF"/>
                      </a:solidFill>
                      <a:prstDash val="solid"/>
                      <a:round/>
                      <a:headEnd type="none" w="med" len="med"/>
                      <a:tailEnd type="none" w="med" len="med"/>
                    </a:lnT>
                    <a:lnB w="9525">
                      <a:solidFill>
                        <a:srgbClr val="CDD7DF"/>
                      </a:solidFill>
                      <a:prstDash val="solid"/>
                    </a:lnB>
                    <a:solidFill>
                      <a:srgbClr val="F0F5F7"/>
                    </a:solidFill>
                  </a:tcPr>
                </a:tc>
                <a:tc>
                  <a:txBody>
                    <a:bodyPr/>
                    <a:lstStyle/>
                    <a:p>
                      <a:r>
                        <a:rPr sz="1650" b="0">
                          <a:solidFill>
                            <a:srgbClr val="233247"/>
                          </a:solidFill>
                          <a:latin typeface="Arial"/>
                          <a:ea typeface="Arial"/>
                          <a:cs typeface="Arial"/>
                        </a:rPr>
                        <a:t>[Action and final count]</a:t>
                      </a:r>
                    </a:p>
                  </a:txBody>
                  <a:tcPr>
                    <a:lnL w="9525" cap="flat" cmpd="sng" algn="ctr">
                      <a:solidFill>
                        <a:srgbClr val="CDD7DF"/>
                      </a:solidFill>
                      <a:prstDash val="solid"/>
                      <a:round/>
                      <a:headEnd type="none" w="med" len="med"/>
                      <a:tailEnd type="none" w="med" len="med"/>
                    </a:lnL>
                    <a:lnR w="9525">
                      <a:solidFill>
                        <a:srgbClr val="CDD7DF"/>
                      </a:solidFill>
                      <a:prstDash val="solid"/>
                    </a:lnR>
                    <a:lnT w="9525" cap="flat" cmpd="sng" algn="ctr">
                      <a:solidFill>
                        <a:srgbClr val="CDD7DF"/>
                      </a:solidFill>
                      <a:prstDash val="solid"/>
                      <a:round/>
                      <a:headEnd type="none" w="med" len="med"/>
                      <a:tailEnd type="none" w="med" len="med"/>
                    </a:lnT>
                    <a:lnB w="9525">
                      <a:solidFill>
                        <a:srgbClr val="CDD7DF"/>
                      </a:solidFill>
                      <a:prstDash val="solid"/>
                    </a:lnB>
                    <a:solidFill>
                      <a:srgbClr val="F0F5F7"/>
                    </a:solidFill>
                  </a:tcPr>
                </a:tc>
                <a:extLst>
                  <a:ext uri="{0D108BD9-81ED-4DB2-BD59-A6C34878D82A}">
                    <a16:rowId xmlns:a16="http://schemas.microsoft.com/office/drawing/2014/main" val="10001"/>
                  </a:ext>
                </a:extLst>
              </a:tr>
              <a:tr h="647700">
                <a:tc>
                  <a:txBody>
                    <a:bodyPr/>
                    <a:lstStyle/>
                    <a:p>
                      <a:r>
                        <a:rPr sz="1650" b="0">
                          <a:solidFill>
                            <a:srgbClr val="233247"/>
                          </a:solidFill>
                          <a:latin typeface="Arial"/>
                          <a:ea typeface="Arial"/>
                          <a:cs typeface="Arial"/>
                        </a:rPr>
                        <a:t>Types, ranges and consistency</a:t>
                      </a:r>
                    </a:p>
                  </a:txBody>
                  <a:tcPr>
                    <a:lnL w="9525">
                      <a:solidFill>
                        <a:srgbClr val="CDD7DF"/>
                      </a:solidFill>
                      <a:prstDash val="solid"/>
                    </a:lnL>
                    <a:lnR w="9525">
                      <a:solidFill>
                        <a:srgbClr val="CDD7DF"/>
                      </a:solidFill>
                      <a:prstDash val="solid"/>
                    </a:lnR>
                    <a:lnT w="9525" cap="flat" cmpd="sng" algn="ctr">
                      <a:solidFill>
                        <a:srgbClr val="CDD7DF"/>
                      </a:solidFill>
                      <a:prstDash val="solid"/>
                      <a:round/>
                      <a:headEnd type="none" w="med" len="med"/>
                      <a:tailEnd type="none" w="med" len="med"/>
                    </a:lnT>
                    <a:lnB w="9525">
                      <a:solidFill>
                        <a:srgbClr val="CDD7DF"/>
                      </a:solidFill>
                      <a:prstDash val="solid"/>
                    </a:lnB>
                    <a:solidFill>
                      <a:srgbClr val="FFFFFF"/>
                    </a:solidFill>
                  </a:tcPr>
                </a:tc>
                <a:tc>
                  <a:txBody>
                    <a:bodyPr/>
                    <a:lstStyle/>
                    <a:p>
                      <a:r>
                        <a:rPr sz="1650" b="0">
                          <a:solidFill>
                            <a:srgbClr val="233247"/>
                          </a:solidFill>
                          <a:latin typeface="Arial"/>
                          <a:ea typeface="Arial"/>
                          <a:cs typeface="Arial"/>
                        </a:rPr>
                        <a:t>[Issues found]</a:t>
                      </a:r>
                    </a:p>
                  </a:txBody>
                  <a:tcPr>
                    <a:lnL w="9525" cap="flat" cmpd="sng" algn="ctr">
                      <a:solidFill>
                        <a:srgbClr val="CDD7DF"/>
                      </a:solidFill>
                      <a:prstDash val="solid"/>
                      <a:round/>
                      <a:headEnd type="none" w="med" len="med"/>
                      <a:tailEnd type="none" w="med" len="med"/>
                    </a:lnL>
                    <a:lnR w="9525">
                      <a:solidFill>
                        <a:srgbClr val="CDD7DF"/>
                      </a:solidFill>
                      <a:prstDash val="solid"/>
                    </a:lnR>
                    <a:lnT w="9525" cap="flat" cmpd="sng" algn="ctr">
                      <a:solidFill>
                        <a:srgbClr val="CDD7DF"/>
                      </a:solidFill>
                      <a:prstDash val="solid"/>
                      <a:round/>
                      <a:headEnd type="none" w="med" len="med"/>
                      <a:tailEnd type="none" w="med" len="med"/>
                    </a:lnT>
                    <a:lnB w="9525">
                      <a:solidFill>
                        <a:srgbClr val="CDD7DF"/>
                      </a:solidFill>
                      <a:prstDash val="solid"/>
                    </a:lnB>
                    <a:solidFill>
                      <a:srgbClr val="FFFFFF"/>
                    </a:solidFill>
                  </a:tcPr>
                </a:tc>
                <a:tc>
                  <a:txBody>
                    <a:bodyPr/>
                    <a:lstStyle/>
                    <a:p>
                      <a:r>
                        <a:rPr sz="1650" b="0">
                          <a:solidFill>
                            <a:srgbClr val="233247"/>
                          </a:solidFill>
                          <a:latin typeface="Arial"/>
                          <a:ea typeface="Arial"/>
                          <a:cs typeface="Arial"/>
                        </a:rPr>
                        <a:t>[Correction / source check]</a:t>
                      </a:r>
                    </a:p>
                  </a:txBody>
                  <a:tcPr>
                    <a:lnL w="9525" cap="flat" cmpd="sng" algn="ctr">
                      <a:solidFill>
                        <a:srgbClr val="CDD7DF"/>
                      </a:solidFill>
                      <a:prstDash val="solid"/>
                      <a:round/>
                      <a:headEnd type="none" w="med" len="med"/>
                      <a:tailEnd type="none" w="med" len="med"/>
                    </a:lnL>
                    <a:lnR w="9525">
                      <a:solidFill>
                        <a:srgbClr val="CDD7DF"/>
                      </a:solidFill>
                      <a:prstDash val="solid"/>
                    </a:lnR>
                    <a:lnT w="9525" cap="flat" cmpd="sng" algn="ctr">
                      <a:solidFill>
                        <a:srgbClr val="CDD7DF"/>
                      </a:solidFill>
                      <a:prstDash val="solid"/>
                      <a:round/>
                      <a:headEnd type="none" w="med" len="med"/>
                      <a:tailEnd type="none" w="med" len="med"/>
                    </a:lnT>
                    <a:lnB w="9525">
                      <a:solidFill>
                        <a:srgbClr val="CDD7DF"/>
                      </a:solidFill>
                      <a:prstDash val="solid"/>
                    </a:lnB>
                    <a:solidFill>
                      <a:srgbClr val="FFFFFF"/>
                    </a:solidFill>
                  </a:tcPr>
                </a:tc>
                <a:extLst>
                  <a:ext uri="{0D108BD9-81ED-4DB2-BD59-A6C34878D82A}">
                    <a16:rowId xmlns:a16="http://schemas.microsoft.com/office/drawing/2014/main" val="10002"/>
                  </a:ext>
                </a:extLst>
              </a:tr>
              <a:tr h="647700">
                <a:tc>
                  <a:txBody>
                    <a:bodyPr/>
                    <a:lstStyle/>
                    <a:p>
                      <a:r>
                        <a:rPr sz="1650" b="0">
                          <a:solidFill>
                            <a:srgbClr val="233247"/>
                          </a:solidFill>
                          <a:latin typeface="Arial"/>
                          <a:ea typeface="Arial"/>
                          <a:cs typeface="Arial"/>
                        </a:rPr>
                        <a:t>Suitability across all units</a:t>
                      </a:r>
                    </a:p>
                  </a:txBody>
                  <a:tcPr>
                    <a:lnL w="9525">
                      <a:solidFill>
                        <a:srgbClr val="CDD7DF"/>
                      </a:solidFill>
                      <a:prstDash val="solid"/>
                    </a:lnL>
                    <a:lnR w="9525">
                      <a:solidFill>
                        <a:srgbClr val="CDD7DF"/>
                      </a:solidFill>
                      <a:prstDash val="solid"/>
                    </a:lnR>
                    <a:lnT w="9525" cap="flat" cmpd="sng" algn="ctr">
                      <a:solidFill>
                        <a:srgbClr val="CDD7DF"/>
                      </a:solidFill>
                      <a:prstDash val="solid"/>
                      <a:round/>
                      <a:headEnd type="none" w="med" len="med"/>
                      <a:tailEnd type="none" w="med" len="med"/>
                    </a:lnT>
                    <a:lnB w="9525">
                      <a:solidFill>
                        <a:srgbClr val="CDD7DF"/>
                      </a:solidFill>
                      <a:prstDash val="solid"/>
                    </a:lnB>
                    <a:solidFill>
                      <a:srgbClr val="F0F5F7"/>
                    </a:solidFill>
                  </a:tcPr>
                </a:tc>
                <a:tc>
                  <a:txBody>
                    <a:bodyPr/>
                    <a:lstStyle/>
                    <a:p>
                      <a:r>
                        <a:rPr sz="1650" b="0">
                          <a:solidFill>
                            <a:srgbClr val="233247"/>
                          </a:solidFill>
                          <a:latin typeface="Arial"/>
                          <a:ea typeface="Arial"/>
                          <a:cs typeface="Arial"/>
                        </a:rPr>
                        <a:t>[Required fields and coverage]</a:t>
                      </a:r>
                    </a:p>
                  </a:txBody>
                  <a:tcPr>
                    <a:lnL w="9525" cap="flat" cmpd="sng" algn="ctr">
                      <a:solidFill>
                        <a:srgbClr val="CDD7DF"/>
                      </a:solidFill>
                      <a:prstDash val="solid"/>
                      <a:round/>
                      <a:headEnd type="none" w="med" len="med"/>
                      <a:tailEnd type="none" w="med" len="med"/>
                    </a:lnL>
                    <a:lnR w="9525">
                      <a:solidFill>
                        <a:srgbClr val="CDD7DF"/>
                      </a:solidFill>
                      <a:prstDash val="solid"/>
                    </a:lnR>
                    <a:lnT w="9525" cap="flat" cmpd="sng" algn="ctr">
                      <a:solidFill>
                        <a:srgbClr val="CDD7DF"/>
                      </a:solidFill>
                      <a:prstDash val="solid"/>
                      <a:round/>
                      <a:headEnd type="none" w="med" len="med"/>
                      <a:tailEnd type="none" w="med" len="med"/>
                    </a:lnT>
                    <a:lnB w="9525">
                      <a:solidFill>
                        <a:srgbClr val="CDD7DF"/>
                      </a:solidFill>
                      <a:prstDash val="solid"/>
                    </a:lnB>
                    <a:solidFill>
                      <a:srgbClr val="F0F5F7"/>
                    </a:solidFill>
                  </a:tcPr>
                </a:tc>
                <a:tc>
                  <a:txBody>
                    <a:bodyPr/>
                    <a:lstStyle/>
                    <a:p>
                      <a:r>
                        <a:rPr sz="1650" b="0">
                          <a:solidFill>
                            <a:srgbClr val="233247"/>
                          </a:solidFill>
                          <a:latin typeface="Arial"/>
                          <a:ea typeface="Arial"/>
                          <a:cs typeface="Arial"/>
                        </a:rPr>
                        <a:t>[Evidence for each analysis]</a:t>
                      </a:r>
                    </a:p>
                  </a:txBody>
                  <a:tcPr>
                    <a:lnL w="9525" cap="flat" cmpd="sng" algn="ctr">
                      <a:solidFill>
                        <a:srgbClr val="CDD7DF"/>
                      </a:solidFill>
                      <a:prstDash val="solid"/>
                      <a:round/>
                      <a:headEnd type="none" w="med" len="med"/>
                      <a:tailEnd type="none" w="med" len="med"/>
                    </a:lnL>
                    <a:lnR w="9525">
                      <a:solidFill>
                        <a:srgbClr val="CDD7DF"/>
                      </a:solidFill>
                      <a:prstDash val="solid"/>
                    </a:lnR>
                    <a:lnT w="9525" cap="flat" cmpd="sng" algn="ctr">
                      <a:solidFill>
                        <a:srgbClr val="CDD7DF"/>
                      </a:solidFill>
                      <a:prstDash val="solid"/>
                      <a:round/>
                      <a:headEnd type="none" w="med" len="med"/>
                      <a:tailEnd type="none" w="med" len="med"/>
                    </a:lnT>
                    <a:lnB w="9525">
                      <a:solidFill>
                        <a:srgbClr val="CDD7DF"/>
                      </a:solidFill>
                      <a:prstDash val="solid"/>
                    </a:lnB>
                    <a:solidFill>
                      <a:srgbClr val="F0F5F7"/>
                    </a:solidFill>
                  </a:tcPr>
                </a:tc>
                <a:extLst>
                  <a:ext uri="{0D108BD9-81ED-4DB2-BD59-A6C34878D82A}">
                    <a16:rowId xmlns:a16="http://schemas.microsoft.com/office/drawing/2014/main" val="10003"/>
                  </a:ext>
                </a:extLst>
              </a:tr>
              <a:tr h="647700">
                <a:tc>
                  <a:txBody>
                    <a:bodyPr/>
                    <a:lstStyle/>
                    <a:p>
                      <a:r>
                        <a:rPr sz="1650" b="0">
                          <a:solidFill>
                            <a:srgbClr val="233247"/>
                          </a:solidFill>
                          <a:latin typeface="Arial"/>
                          <a:ea typeface="Arial"/>
                          <a:cs typeface="Arial"/>
                        </a:rPr>
                        <a:t>Synthetic data, if applicable</a:t>
                      </a:r>
                    </a:p>
                  </a:txBody>
                  <a:tcPr>
                    <a:lnL w="9525">
                      <a:solidFill>
                        <a:srgbClr val="CDD7DF"/>
                      </a:solidFill>
                      <a:prstDash val="solid"/>
                    </a:lnL>
                    <a:lnR w="9525">
                      <a:solidFill>
                        <a:srgbClr val="CDD7DF"/>
                      </a:solidFill>
                      <a:prstDash val="solid"/>
                    </a:lnR>
                    <a:lnT w="9525" cap="flat" cmpd="sng" algn="ctr">
                      <a:solidFill>
                        <a:srgbClr val="CDD7DF"/>
                      </a:solidFill>
                      <a:prstDash val="solid"/>
                      <a:round/>
                      <a:headEnd type="none" w="med" len="med"/>
                      <a:tailEnd type="none" w="med" len="med"/>
                    </a:lnT>
                    <a:lnB w="9525">
                      <a:solidFill>
                        <a:srgbClr val="CDD7DF"/>
                      </a:solidFill>
                      <a:prstDash val="solid"/>
                    </a:lnB>
                    <a:solidFill>
                      <a:srgbClr val="FFFFFF"/>
                    </a:solidFill>
                  </a:tcPr>
                </a:tc>
                <a:tc>
                  <a:txBody>
                    <a:bodyPr/>
                    <a:lstStyle/>
                    <a:p>
                      <a:r>
                        <a:rPr sz="1650" b="0">
                          <a:solidFill>
                            <a:srgbClr val="233247"/>
                          </a:solidFill>
                          <a:latin typeface="Arial"/>
                          <a:ea typeface="Arial"/>
                          <a:cs typeface="Arial"/>
                        </a:rPr>
                        <a:t>[Rules and assumptions]</a:t>
                      </a:r>
                    </a:p>
                  </a:txBody>
                  <a:tcPr>
                    <a:lnL w="9525" cap="flat" cmpd="sng" algn="ctr">
                      <a:solidFill>
                        <a:srgbClr val="CDD7DF"/>
                      </a:solidFill>
                      <a:prstDash val="solid"/>
                      <a:round/>
                      <a:headEnd type="none" w="med" len="med"/>
                      <a:tailEnd type="none" w="med" len="med"/>
                    </a:lnL>
                    <a:lnR w="9525">
                      <a:solidFill>
                        <a:srgbClr val="CDD7DF"/>
                      </a:solidFill>
                      <a:prstDash val="solid"/>
                    </a:lnR>
                    <a:lnT w="9525" cap="flat" cmpd="sng" algn="ctr">
                      <a:solidFill>
                        <a:srgbClr val="CDD7DF"/>
                      </a:solidFill>
                      <a:prstDash val="solid"/>
                      <a:round/>
                      <a:headEnd type="none" w="med" len="med"/>
                      <a:tailEnd type="none" w="med" len="med"/>
                    </a:lnT>
                    <a:lnB w="9525">
                      <a:solidFill>
                        <a:srgbClr val="CDD7DF"/>
                      </a:solidFill>
                      <a:prstDash val="solid"/>
                    </a:lnB>
                    <a:solidFill>
                      <a:srgbClr val="FFFFFF"/>
                    </a:solidFill>
                  </a:tcPr>
                </a:tc>
                <a:tc>
                  <a:txBody>
                    <a:bodyPr/>
                    <a:lstStyle/>
                    <a:p>
                      <a:r>
                        <a:rPr sz="1650" b="0">
                          <a:solidFill>
                            <a:srgbClr val="233247"/>
                          </a:solidFill>
                          <a:latin typeface="Arial"/>
                          <a:ea typeface="Arial"/>
                          <a:cs typeface="Arial"/>
                        </a:rPr>
                        <a:t>[Realism checks / Not applicable]</a:t>
                      </a:r>
                    </a:p>
                  </a:txBody>
                  <a:tcPr>
                    <a:lnL w="9525" cap="flat" cmpd="sng" algn="ctr">
                      <a:solidFill>
                        <a:srgbClr val="CDD7DF"/>
                      </a:solidFill>
                      <a:prstDash val="solid"/>
                      <a:round/>
                      <a:headEnd type="none" w="med" len="med"/>
                      <a:tailEnd type="none" w="med" len="med"/>
                    </a:lnL>
                    <a:lnR w="9525">
                      <a:solidFill>
                        <a:srgbClr val="CDD7DF"/>
                      </a:solidFill>
                      <a:prstDash val="solid"/>
                    </a:lnR>
                    <a:lnT w="9525" cap="flat" cmpd="sng" algn="ctr">
                      <a:solidFill>
                        <a:srgbClr val="CDD7DF"/>
                      </a:solidFill>
                      <a:prstDash val="solid"/>
                      <a:round/>
                      <a:headEnd type="none" w="med" len="med"/>
                      <a:tailEnd type="none" w="med" len="med"/>
                    </a:lnT>
                    <a:lnB w="9525">
                      <a:solidFill>
                        <a:srgbClr val="CDD7DF"/>
                      </a:solidFill>
                      <a:prstDash val="solid"/>
                    </a:lnB>
                    <a:solidFill>
                      <a:srgbClr val="FFFFFF"/>
                    </a:solidFill>
                  </a:tcPr>
                </a:tc>
                <a:extLst>
                  <a:ext uri="{0D108BD9-81ED-4DB2-BD59-A6C34878D82A}">
                    <a16:rowId xmlns:a16="http://schemas.microsoft.com/office/drawing/2014/main" val="10004"/>
                  </a:ext>
                </a:extLst>
              </a:tr>
            </a:tbl>
          </a:graphicData>
        </a:graphic>
      </p:graphicFrame>
      <p:sp>
        <p:nvSpPr>
          <p:cNvPr id="5" name="Rectangle 4">
            <a:extLst>
              <a:ext uri="{FF2B5EF4-FFF2-40B4-BE49-F238E27FC236}">
                <a16:creationId xmlns:a16="http://schemas.microsoft.com/office/drawing/2014/main" id="{DA3E419D-441D-4E1D-AEDE-31B45199FD91}"/>
              </a:ext>
            </a:extLst>
          </p:cNvPr>
          <p:cNvSpPr>
            <a:spLocks noGrp="1"/>
          </p:cNvSpPr>
          <p:nvPr/>
        </p:nvSpPr>
        <p:spPr>
          <a:xfrm>
            <a:off x="685800" y="5619750"/>
            <a:ext cx="10572750" cy="523875"/>
          </a:xfrm>
          <a:prstGeom prst="rect">
            <a:avLst/>
          </a:prstGeom>
          <a:noFill/>
          <a:ln w="0">
            <a:noFill/>
            <a:prstDash val="solid"/>
          </a:ln>
        </p:spPr>
        <p:txBody>
          <a:bodyPr/>
          <a:lstStyle>
            <a:defPPr>
              <a:defRPr sz="1875" b="1">
                <a:solidFill>
                  <a:srgbClr val="157A80"/>
                </a:solidFill>
                <a:latin typeface="Arial"/>
                <a:ea typeface="Arial"/>
                <a:cs typeface="Arial"/>
              </a:defRPr>
            </a:defPPr>
          </a:lstStyle>
          <a:p>
            <a:pPr>
              <a:defRPr sz="1875" b="1">
                <a:solidFill>
                  <a:srgbClr val="157A80"/>
                </a:solidFill>
                <a:latin typeface="Arial"/>
                <a:ea typeface="Arial"/>
                <a:cs typeface="Arial"/>
              </a:defRPr>
            </a:pPr>
            <a:r>
              <a:rPr sz="1875" b="1">
                <a:solidFill>
                  <a:srgbClr val="157A80"/>
                </a:solidFill>
                <a:latin typeface="Arial"/>
                <a:ea typeface="Arial"/>
                <a:cs typeface="Arial"/>
              </a:rPr>
              <a:t>Final validated dataset:
• cleaned_product_catalogue.csv — 609 records | 8 variables | 0 missing
• enhanced_synthetic_transactions.csv — 106,398 records | 0 missing | 0 duplicates
• daily_aggregated_demand.csv — 183 records | Complete series
Validation steps performed:
1. Deduplication: 744 raw → 609 clean (removed 135 duplicate SKUs)
2. MRP compliance check: 100% of products selling_price &lt;= MRP
3. Temporal continuity: 183 consecutive days confirmed, no date gaps
4. Join integrity: All 106,398 transaction product_ids in catalogue
5. Discount sanity: All values 0%–80%, mean 15.7%
Price stability justification: Legal Metrology (Packaged Commodities) Rules 2011
mandates fixed MRP on all packaged goods — Blinkit cannot charge above MRP.</a:t>
            </a:r>
          </a:p>
        </p:txBody>
      </p:sp>
    </p:spTree>
    <p:extLst>
      <p:ext uri="{BB962C8B-B14F-4D97-AF65-F5344CB8AC3E}">
        <p14:creationId xmlns:p14="http://schemas.microsoft.com/office/powerpoint/2010/main" val="581424825"/>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sp>
        <p:nvSpPr>
          <p:cNvPr id="7" name="Rectangle 6">
            <a:extLst>
              <a:ext uri="{FF2B5EF4-FFF2-40B4-BE49-F238E27FC236}">
                <a16:creationId xmlns:a16="http://schemas.microsoft.com/office/drawing/2014/main" id="{B4CE5281-5814-4291-B8DE-FB11715A86D4}"/>
              </a:ext>
            </a:extLst>
          </p:cNvPr>
          <p:cNvSpPr>
            <a:spLocks noGrp="1"/>
          </p:cNvSpPr>
          <p:nvPr/>
        </p:nvSpPr>
        <p:spPr>
          <a:xfrm>
            <a:off x="609600" y="342900"/>
            <a:ext cx="10477500" cy="285750"/>
          </a:xfrm>
          <a:prstGeom prst="rect">
            <a:avLst/>
          </a:prstGeom>
          <a:noFill/>
          <a:ln w="0">
            <a:noFill/>
            <a:prstDash val="solid"/>
          </a:ln>
        </p:spPr>
        <p:txBody>
          <a:bodyPr/>
          <a:lstStyle>
            <a:defPPr>
              <a:defRPr sz="1350" b="1">
                <a:solidFill>
                  <a:srgbClr val="157A80"/>
                </a:solidFill>
                <a:latin typeface="Arial"/>
                <a:ea typeface="Arial"/>
                <a:cs typeface="Arial"/>
              </a:defRPr>
            </a:defPPr>
          </a:lstStyle>
          <a:p>
            <a:pPr>
              <a:defRPr sz="1350" b="1">
                <a:solidFill>
                  <a:srgbClr val="157A80"/>
                </a:solidFill>
                <a:latin typeface="Arial"/>
                <a:ea typeface="Arial"/>
                <a:cs typeface="Arial"/>
              </a:defRPr>
            </a:pPr>
            <a:r>
              <a:rPr sz="1350" b="1">
                <a:solidFill>
                  <a:srgbClr val="157A80"/>
                </a:solidFill>
                <a:latin typeface="Arial"/>
                <a:ea typeface="Arial"/>
                <a:cs typeface="Arial"/>
              </a:rPr>
              <a:t>UNIT 1</a:t>
            </a:r>
          </a:p>
        </p:txBody>
      </p:sp>
      <p:sp>
        <p:nvSpPr>
          <p:cNvPr id="2" name="Rectangle 1">
            <a:extLst>
              <a:ext uri="{FF2B5EF4-FFF2-40B4-BE49-F238E27FC236}">
                <a16:creationId xmlns:a16="http://schemas.microsoft.com/office/drawing/2014/main" id="{F2D70B92-C245-446F-A6B2-954E4F469C2A}"/>
              </a:ext>
            </a:extLst>
          </p:cNvPr>
          <p:cNvSpPr>
            <a:spLocks noGrp="1"/>
          </p:cNvSpPr>
          <p:nvPr/>
        </p:nvSpPr>
        <p:spPr>
          <a:xfrm>
            <a:off x="609600" y="838200"/>
            <a:ext cx="10972800" cy="857250"/>
          </a:xfrm>
          <a:prstGeom prst="rect">
            <a:avLst/>
          </a:prstGeom>
          <a:noFill/>
          <a:ln w="0">
            <a:noFill/>
            <a:prstDash val="solid"/>
          </a:ln>
        </p:spPr>
        <p:txBody>
          <a:bodyPr/>
          <a:lstStyle>
            <a:defPPr>
              <a:defRPr sz="3150" b="1">
                <a:solidFill>
                  <a:srgbClr val="142D4E"/>
                </a:solidFill>
                <a:latin typeface="Arial"/>
                <a:ea typeface="Arial"/>
                <a:cs typeface="Arial"/>
              </a:defRPr>
            </a:defPPr>
          </a:lstStyle>
          <a:p>
            <a:pPr>
              <a:defRPr sz="3150" b="1">
                <a:solidFill>
                  <a:srgbClr val="142D4E"/>
                </a:solidFill>
                <a:latin typeface="Arial"/>
                <a:ea typeface="Arial"/>
                <a:cs typeface="Arial"/>
              </a:defRPr>
            </a:pPr>
            <a:r>
              <a:rPr sz="3150" b="1">
                <a:solidFill>
                  <a:srgbClr val="142D4E"/>
                </a:solidFill>
                <a:latin typeface="Arial"/>
                <a:ea typeface="Arial"/>
                <a:cs typeface="Arial"/>
              </a:rPr>
              <a:t>Exploratory analysis and preprocessing</a:t>
            </a:r>
          </a:p>
        </p:txBody>
      </p:sp>
      <p:sp>
        <p:nvSpPr>
          <p:cNvPr id="3" name="Rectangle 2">
            <a:extLst>
              <a:ext uri="{FF2B5EF4-FFF2-40B4-BE49-F238E27FC236}">
                <a16:creationId xmlns:a16="http://schemas.microsoft.com/office/drawing/2014/main" id="{8A76EF40-5FAD-4E83-9187-5FE9CC845698}"/>
              </a:ext>
            </a:extLst>
          </p:cNvPr>
          <p:cNvSpPr>
            <a:spLocks noGrp="1"/>
          </p:cNvSpPr>
          <p:nvPr/>
        </p:nvSpPr>
        <p:spPr>
          <a:xfrm>
            <a:off x="10953750" y="6343650"/>
            <a:ext cx="619125" cy="238125"/>
          </a:xfrm>
          <a:prstGeom prst="rect">
            <a:avLst/>
          </a:prstGeom>
          <a:noFill/>
          <a:ln w="0">
            <a:noFill/>
            <a:prstDash val="solid"/>
          </a:ln>
        </p:spPr>
        <p:txBody>
          <a:bodyPr/>
          <a:lstStyle>
            <a:defPPr>
              <a:defRPr sz="1200" b="0">
                <a:solidFill>
                  <a:srgbClr val="66758A"/>
                </a:solidFill>
                <a:latin typeface="Arial"/>
                <a:ea typeface="Arial"/>
                <a:cs typeface="Arial"/>
              </a:defRPr>
            </a:defPPr>
          </a:lstStyle>
          <a:p>
            <a:pPr>
              <a:defRPr sz="1200" b="0">
                <a:solidFill>
                  <a:srgbClr val="66758A"/>
                </a:solidFill>
                <a:latin typeface="Arial"/>
                <a:ea typeface="Arial"/>
                <a:cs typeface="Arial"/>
              </a:defRPr>
            </a:pPr>
            <a:r>
              <a:rPr sz="1200" b="0">
                <a:solidFill>
                  <a:srgbClr val="66758A"/>
                </a:solidFill>
                <a:latin typeface="Arial"/>
                <a:ea typeface="Arial"/>
                <a:cs typeface="Arial"/>
              </a:rPr>
              <a:t>07</a:t>
            </a:r>
          </a:p>
        </p:txBody>
      </p:sp>
      <p:sp>
        <p:nvSpPr>
          <p:cNvPr id="4" name="Rectangle 3">
            <a:extLst>
              <a:ext uri="{FF2B5EF4-FFF2-40B4-BE49-F238E27FC236}">
                <a16:creationId xmlns:a16="http://schemas.microsoft.com/office/drawing/2014/main" id="{4149DDBC-39BF-41E1-B551-F5CECC85BF99}"/>
              </a:ext>
            </a:extLst>
          </p:cNvPr>
          <p:cNvSpPr>
            <a:spLocks noGrp="1"/>
          </p:cNvSpPr>
          <p:nvPr/>
        </p:nvSpPr>
        <p:spPr>
          <a:xfrm>
            <a:off x="685800" y="2095500"/>
            <a:ext cx="10477500" cy="1571625"/>
          </a:xfrm>
          <a:prstGeom prst="rect">
            <a:avLst/>
          </a:prstGeom>
          <a:noFill/>
          <a:ln w="0">
            <a:noFill/>
            <a:prstDash val="solid"/>
          </a:ln>
        </p:spPr>
        <p:txBody>
          <a:bodyPr/>
          <a:lstStyle>
            <a:defPPr>
              <a:defRPr sz="2400" b="0">
                <a:solidFill>
                  <a:srgbClr val="66758A"/>
                </a:solidFill>
                <a:latin typeface="Arial"/>
                <a:ea typeface="Arial"/>
                <a:cs typeface="Arial"/>
              </a:defRPr>
            </a:defPPr>
          </a:lstStyle>
          <a:p>
            <a:pPr>
              <a:defRPr sz="2400" b="0">
                <a:solidFill>
                  <a:srgbClr val="66758A"/>
                </a:solidFill>
                <a:latin typeface="Arial"/>
                <a:ea typeface="Arial"/>
                <a:cs typeface="Arial"/>
              </a:defRPr>
            </a:pPr>
            <a:r>
              <a:rPr sz="2400" b="0">
                <a:solidFill>
                  <a:srgbClr val="66758A"/>
                </a:solidFill>
                <a:latin typeface="Arial"/>
                <a:ea typeface="Arial"/>
                <a:cs typeface="Arial"/>
              </a:rPr>
              <a:t>[Chart 1: Category price boxplots | Chart 2: Discount depth distribution]</a:t>
            </a:r>
          </a:p>
        </p:txBody>
      </p:sp>
      <p:sp>
        <p:nvSpPr>
          <p:cNvPr id="5" name="Rectangle 4">
            <a:extLst>
              <a:ext uri="{FF2B5EF4-FFF2-40B4-BE49-F238E27FC236}">
                <a16:creationId xmlns:a16="http://schemas.microsoft.com/office/drawing/2014/main" id="{B775F0BD-DAEF-4688-97F4-0C8CC4593B56}"/>
              </a:ext>
            </a:extLst>
          </p:cNvPr>
          <p:cNvSpPr>
            <a:spLocks noGrp="1"/>
          </p:cNvSpPr>
          <p:nvPr/>
        </p:nvSpPr>
        <p:spPr>
          <a:xfrm>
            <a:off x="685800" y="4000500"/>
            <a:ext cx="10668000" cy="685800"/>
          </a:xfrm>
          <a:prstGeom prst="rect">
            <a:avLst/>
          </a:prstGeom>
          <a:noFill/>
          <a:ln w="0">
            <a:noFill/>
            <a:prstDash val="solid"/>
          </a:ln>
        </p:spPr>
        <p:txBody>
          <a:bodyPr/>
          <a:lstStyle>
            <a:defPPr>
              <a:defRPr sz="2025" b="0">
                <a:solidFill>
                  <a:srgbClr val="233247"/>
                </a:solidFill>
                <a:latin typeface="Arial"/>
                <a:ea typeface="Arial"/>
                <a:cs typeface="Arial"/>
              </a:defRPr>
            </a:defPPr>
          </a:lstStyle>
          <a:p>
            <a:pPr>
              <a:defRPr sz="2025" b="0">
                <a:solidFill>
                  <a:srgbClr val="233247"/>
                </a:solidFill>
                <a:latin typeface="Arial"/>
                <a:ea typeface="Arial"/>
                <a:cs typeface="Arial"/>
              </a:defRPr>
            </a:pPr>
            <a:r>
              <a:rPr sz="2025" b="0">
                <a:solidFill>
                  <a:srgbClr val="233247"/>
                </a:solidFill>
                <a:latin typeface="Arial"/>
                <a:ea typeface="Arial"/>
                <a:cs typeface="Arial"/>
              </a:rPr>
              <a:t>Key findings:
1. Snacks have the highest median discount (17.4%) — indicating promotional pricing as primary demand lever.
2. Dairy &amp; Beverage prices cluster tightly around MRP — confirming MRP compliance and stable procurement pricing.</a:t>
            </a:r>
          </a:p>
        </p:txBody>
      </p:sp>
      <p:sp>
        <p:nvSpPr>
          <p:cNvPr id="6" name="Rectangle 5">
            <a:extLst>
              <a:ext uri="{FF2B5EF4-FFF2-40B4-BE49-F238E27FC236}">
                <a16:creationId xmlns:a16="http://schemas.microsoft.com/office/drawing/2014/main" id="{CD68E0AF-687D-43C3-AA48-711AD2792F7A}"/>
              </a:ext>
            </a:extLst>
          </p:cNvPr>
          <p:cNvSpPr>
            <a:spLocks noGrp="1"/>
          </p:cNvSpPr>
          <p:nvPr/>
        </p:nvSpPr>
        <p:spPr>
          <a:xfrm>
            <a:off x="685800" y="4819650"/>
            <a:ext cx="10668000" cy="685800"/>
          </a:xfrm>
          <a:prstGeom prst="rect">
            <a:avLst/>
          </a:prstGeom>
          <a:noFill/>
          <a:ln w="0">
            <a:noFill/>
            <a:prstDash val="solid"/>
          </a:ln>
        </p:spPr>
        <p:txBody>
          <a:bodyPr/>
          <a:lstStyle>
            <a:defPPr>
              <a:defRPr sz="2025" b="0">
                <a:solidFill>
                  <a:srgbClr val="233247"/>
                </a:solidFill>
                <a:latin typeface="Arial"/>
                <a:ea typeface="Arial"/>
                <a:cs typeface="Arial"/>
              </a:defRPr>
            </a:defPPr>
          </a:lstStyle>
          <a:p>
            <a:pPr>
              <a:defRPr sz="2025" b="0">
                <a:solidFill>
                  <a:srgbClr val="233247"/>
                </a:solidFill>
                <a:latin typeface="Arial"/>
                <a:ea typeface="Arial"/>
                <a:cs typeface="Arial"/>
              </a:defRPr>
            </a:pPr>
            <a:r>
              <a:rPr sz="2025" b="0">
                <a:solidFill>
                  <a:srgbClr val="233247"/>
                </a:solidFill>
                <a:latin typeface="Arial"/>
                <a:ea typeface="Arial"/>
                <a:cs typeface="Arial"/>
              </a:rPr>
              <a:t>Preparation:
• Removed 135 duplicate SKUs (product_id deduplication)
• Computed discount_pct = (mrp - selling_price) / mrp × 100
• One-hot encoded category for regression features
• Created lag features (lag_1, lag_2, lag_7, lag_14) for time-series
• Created rolling statistics (roll_mean_7, roll_std_7, roll_mean_14)
• Calendar features: day_of_week, is_weekend, month, day_of_month</a:t>
            </a:r>
          </a:p>
        </p:txBody>
      </p:sp>
      <p:pic>
        <p:nvPicPr>
          <p:cNvPr id="8" name="Picture 7" descr="01_catalogue_price_boxplots.png"/>
          <p:cNvPicPr>
            <a:picLocks noChangeAspect="1"/>
          </p:cNvPicPr>
          <p:nvPr/>
        </p:nvPicPr>
        <p:blipFill>
          <a:blip r:embed="rId3"/>
          <a:stretch>
            <a:fillRect/>
          </a:stretch>
        </p:blipFill>
        <p:spPr>
          <a:xfrm>
            <a:off x="182880" y="1645920"/>
            <a:ext cx="4572000" cy="3200400"/>
          </a:xfrm>
          <a:prstGeom prst="rect">
            <a:avLst/>
          </a:prstGeom>
        </p:spPr>
      </p:pic>
      <p:pic>
        <p:nvPicPr>
          <p:cNvPr id="9" name="Picture 8" descr="02_sku_depth_vs_discount.png"/>
          <p:cNvPicPr>
            <a:picLocks noChangeAspect="1"/>
          </p:cNvPicPr>
          <p:nvPr/>
        </p:nvPicPr>
        <p:blipFill>
          <a:blip r:embed="rId4"/>
          <a:stretch>
            <a:fillRect/>
          </a:stretch>
        </p:blipFill>
        <p:spPr>
          <a:xfrm>
            <a:off x="4937760" y="1645920"/>
            <a:ext cx="4206240" cy="3200400"/>
          </a:xfrm>
          <a:prstGeom prst="rect">
            <a:avLst/>
          </a:prstGeom>
        </p:spPr>
      </p:pic>
    </p:spTree>
    <p:extLst>
      <p:ext uri="{BB962C8B-B14F-4D97-AF65-F5344CB8AC3E}">
        <p14:creationId xmlns:p14="http://schemas.microsoft.com/office/powerpoint/2010/main" val="202898693"/>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sp>
        <p:nvSpPr>
          <p:cNvPr id="7" name="Rectangle 6">
            <a:extLst>
              <a:ext uri="{FF2B5EF4-FFF2-40B4-BE49-F238E27FC236}">
                <a16:creationId xmlns:a16="http://schemas.microsoft.com/office/drawing/2014/main" id="{FFD34040-A608-4A4D-9436-08E9A32AB30D}"/>
              </a:ext>
            </a:extLst>
          </p:cNvPr>
          <p:cNvSpPr>
            <a:spLocks noGrp="1"/>
          </p:cNvSpPr>
          <p:nvPr/>
        </p:nvSpPr>
        <p:spPr>
          <a:xfrm>
            <a:off x="609600" y="342900"/>
            <a:ext cx="10477500" cy="285750"/>
          </a:xfrm>
          <a:prstGeom prst="rect">
            <a:avLst/>
          </a:prstGeom>
          <a:noFill/>
          <a:ln w="0">
            <a:noFill/>
            <a:prstDash val="solid"/>
          </a:ln>
        </p:spPr>
        <p:txBody>
          <a:bodyPr/>
          <a:lstStyle>
            <a:defPPr>
              <a:defRPr sz="1350" b="1">
                <a:solidFill>
                  <a:srgbClr val="157A80"/>
                </a:solidFill>
                <a:latin typeface="Arial"/>
                <a:ea typeface="Arial"/>
                <a:cs typeface="Arial"/>
              </a:defRPr>
            </a:defPPr>
          </a:lstStyle>
          <a:p>
            <a:pPr>
              <a:defRPr sz="1350" b="1">
                <a:solidFill>
                  <a:srgbClr val="157A80"/>
                </a:solidFill>
                <a:latin typeface="Arial"/>
                <a:ea typeface="Arial"/>
                <a:cs typeface="Arial"/>
              </a:defRPr>
            </a:pPr>
            <a:r>
              <a:rPr sz="1350" b="1">
                <a:solidFill>
                  <a:srgbClr val="157A80"/>
                </a:solidFill>
                <a:latin typeface="Arial"/>
                <a:ea typeface="Arial"/>
                <a:cs typeface="Arial"/>
              </a:rPr>
              <a:t>UNIT 2</a:t>
            </a:r>
          </a:p>
        </p:txBody>
      </p:sp>
      <p:sp>
        <p:nvSpPr>
          <p:cNvPr id="2" name="Rectangle 1">
            <a:extLst>
              <a:ext uri="{FF2B5EF4-FFF2-40B4-BE49-F238E27FC236}">
                <a16:creationId xmlns:a16="http://schemas.microsoft.com/office/drawing/2014/main" id="{897D50C3-2951-437D-9286-819C0AD2206D}"/>
              </a:ext>
            </a:extLst>
          </p:cNvPr>
          <p:cNvSpPr>
            <a:spLocks noGrp="1"/>
          </p:cNvSpPr>
          <p:nvPr/>
        </p:nvSpPr>
        <p:spPr>
          <a:xfrm>
            <a:off x="609600" y="838200"/>
            <a:ext cx="10972800" cy="857250"/>
          </a:xfrm>
          <a:prstGeom prst="rect">
            <a:avLst/>
          </a:prstGeom>
          <a:noFill/>
          <a:ln w="0">
            <a:noFill/>
            <a:prstDash val="solid"/>
          </a:ln>
        </p:spPr>
        <p:txBody>
          <a:bodyPr/>
          <a:lstStyle>
            <a:defPPr>
              <a:defRPr sz="3150" b="1">
                <a:solidFill>
                  <a:srgbClr val="142D4E"/>
                </a:solidFill>
                <a:latin typeface="Arial"/>
                <a:ea typeface="Arial"/>
                <a:cs typeface="Arial"/>
              </a:defRPr>
            </a:defPPr>
          </a:lstStyle>
          <a:p>
            <a:pPr>
              <a:defRPr sz="3150" b="1">
                <a:solidFill>
                  <a:srgbClr val="142D4E"/>
                </a:solidFill>
                <a:latin typeface="Arial"/>
                <a:ea typeface="Arial"/>
                <a:cs typeface="Arial"/>
              </a:defRPr>
            </a:pPr>
            <a:r>
              <a:rPr sz="3150" b="1">
                <a:solidFill>
                  <a:srgbClr val="142D4E"/>
                </a:solidFill>
                <a:latin typeface="Arial"/>
                <a:ea typeface="Arial"/>
                <a:cs typeface="Arial"/>
              </a:rPr>
              <a:t>Predictive modelling and final evaluation</a:t>
            </a:r>
          </a:p>
        </p:txBody>
      </p:sp>
      <p:sp>
        <p:nvSpPr>
          <p:cNvPr id="3" name="Rectangle 2">
            <a:extLst>
              <a:ext uri="{FF2B5EF4-FFF2-40B4-BE49-F238E27FC236}">
                <a16:creationId xmlns:a16="http://schemas.microsoft.com/office/drawing/2014/main" id="{0D4E2AA2-04B0-4D08-98E4-3A8D9DD5E6B7}"/>
              </a:ext>
            </a:extLst>
          </p:cNvPr>
          <p:cNvSpPr>
            <a:spLocks noGrp="1"/>
          </p:cNvSpPr>
          <p:nvPr/>
        </p:nvSpPr>
        <p:spPr>
          <a:xfrm>
            <a:off x="10953750" y="6343650"/>
            <a:ext cx="619125" cy="238125"/>
          </a:xfrm>
          <a:prstGeom prst="rect">
            <a:avLst/>
          </a:prstGeom>
          <a:noFill/>
          <a:ln w="0">
            <a:noFill/>
            <a:prstDash val="solid"/>
          </a:ln>
        </p:spPr>
        <p:txBody>
          <a:bodyPr/>
          <a:lstStyle>
            <a:defPPr>
              <a:defRPr sz="1200" b="0">
                <a:solidFill>
                  <a:srgbClr val="66758A"/>
                </a:solidFill>
                <a:latin typeface="Arial"/>
                <a:ea typeface="Arial"/>
                <a:cs typeface="Arial"/>
              </a:defRPr>
            </a:defPPr>
          </a:lstStyle>
          <a:p>
            <a:pPr>
              <a:defRPr sz="1200" b="0">
                <a:solidFill>
                  <a:srgbClr val="66758A"/>
                </a:solidFill>
                <a:latin typeface="Arial"/>
                <a:ea typeface="Arial"/>
                <a:cs typeface="Arial"/>
              </a:defRPr>
            </a:pPr>
            <a:r>
              <a:rPr sz="1200" b="0">
                <a:solidFill>
                  <a:srgbClr val="66758A"/>
                </a:solidFill>
                <a:latin typeface="Arial"/>
                <a:ea typeface="Arial"/>
                <a:cs typeface="Arial"/>
              </a:rPr>
              <a:t>08</a:t>
            </a:r>
          </a:p>
        </p:txBody>
      </p:sp>
      <p:graphicFrame>
        <p:nvGraphicFramePr>
          <p:cNvPr id="4" name="Table 3">
            <a:extLst>
              <a:ext uri="{FF2B5EF4-FFF2-40B4-BE49-F238E27FC236}">
                <a16:creationId xmlns:a16="http://schemas.microsoft.com/office/drawing/2014/main" id="{EB38B4C9-2252-4576-AC7F-097E251FCA5B}"/>
              </a:ext>
            </a:extLst>
          </p:cNvPr>
          <p:cNvGraphicFramePr/>
          <p:nvPr/>
        </p:nvGraphicFramePr>
        <p:xfrm>
          <a:off x="609600" y="2047875"/>
          <a:ext cx="10972800" cy="2095500"/>
        </p:xfrm>
        <a:graphic>
          <a:graphicData uri="http://schemas.openxmlformats.org/drawingml/2006/table">
            <a:tbl>
              <a:tblPr/>
              <a:tblGrid>
                <a:gridCol w="3429000">
                  <a:extLst>
                    <a:ext uri="{9D8B030D-6E8A-4147-A177-3AD203B41FA5}">
                      <a16:colId xmlns:a16="http://schemas.microsoft.com/office/drawing/2014/main" val="20000"/>
                    </a:ext>
                  </a:extLst>
                </a:gridCol>
                <a:gridCol w="2514600">
                  <a:extLst>
                    <a:ext uri="{9D8B030D-6E8A-4147-A177-3AD203B41FA5}">
                      <a16:colId xmlns:a16="http://schemas.microsoft.com/office/drawing/2014/main" val="20001"/>
                    </a:ext>
                  </a:extLst>
                </a:gridCol>
                <a:gridCol w="2514600">
                  <a:extLst>
                    <a:ext uri="{9D8B030D-6E8A-4147-A177-3AD203B41FA5}">
                      <a16:colId xmlns:a16="http://schemas.microsoft.com/office/drawing/2014/main" val="20002"/>
                    </a:ext>
                  </a:extLst>
                </a:gridCol>
                <a:gridCol w="2514600">
                  <a:extLst>
                    <a:ext uri="{9D8B030D-6E8A-4147-A177-3AD203B41FA5}">
                      <a16:colId xmlns:a16="http://schemas.microsoft.com/office/drawing/2014/main" val="20003"/>
                    </a:ext>
                  </a:extLst>
                </a:gridCol>
              </a:tblGrid>
              <a:tr h="698500">
                <a:tc>
                  <a:txBody>
                    <a:bodyPr/>
                    <a:lstStyle/>
                    <a:p>
                      <a:r>
                        <a:rPr sz="1650" b="1">
                          <a:solidFill>
                            <a:srgbClr val="FFFFFF"/>
                          </a:solidFill>
                          <a:latin typeface="Arial"/>
                          <a:ea typeface="Arial"/>
                          <a:cs typeface="Arial"/>
                        </a:rPr>
                        <a:t>Model</a:t>
                      </a:r>
                    </a:p>
                  </a:txBody>
                  <a:tcPr>
                    <a:lnL w="9525">
                      <a:solidFill>
                        <a:srgbClr val="CDD7DF"/>
                      </a:solidFill>
                      <a:prstDash val="solid"/>
                    </a:lnL>
                    <a:lnR w="9525">
                      <a:solidFill>
                        <a:srgbClr val="CDD7DF"/>
                      </a:solidFill>
                      <a:prstDash val="solid"/>
                    </a:lnR>
                    <a:lnT w="9525">
                      <a:solidFill>
                        <a:srgbClr val="CDD7DF"/>
                      </a:solidFill>
                      <a:prstDash val="solid"/>
                    </a:lnT>
                    <a:lnB w="9525">
                      <a:solidFill>
                        <a:srgbClr val="CDD7DF"/>
                      </a:solidFill>
                      <a:prstDash val="solid"/>
                    </a:lnB>
                    <a:solidFill>
                      <a:srgbClr val="142D4E"/>
                    </a:solidFill>
                  </a:tcPr>
                </a:tc>
                <a:tc>
                  <a:txBody>
                    <a:bodyPr/>
                    <a:lstStyle/>
                    <a:p>
                      <a:r>
                        <a:rPr sz="1650" b="1">
                          <a:solidFill>
                            <a:srgbClr val="FFFFFF"/>
                          </a:solidFill>
                          <a:latin typeface="Arial"/>
                          <a:ea typeface="Arial"/>
                          <a:cs typeface="Arial"/>
                        </a:rPr>
                        <a:t>[Metric 1]</a:t>
                      </a:r>
                    </a:p>
                  </a:txBody>
                  <a:tcPr>
                    <a:lnL w="9525" cap="flat" cmpd="sng" algn="ctr">
                      <a:solidFill>
                        <a:srgbClr val="CDD7DF"/>
                      </a:solidFill>
                      <a:prstDash val="solid"/>
                      <a:round/>
                      <a:headEnd type="none" w="med" len="med"/>
                      <a:tailEnd type="none" w="med" len="med"/>
                    </a:lnL>
                    <a:lnR w="9525">
                      <a:solidFill>
                        <a:srgbClr val="CDD7DF"/>
                      </a:solidFill>
                      <a:prstDash val="solid"/>
                    </a:lnR>
                    <a:lnT w="9525">
                      <a:solidFill>
                        <a:srgbClr val="CDD7DF"/>
                      </a:solidFill>
                      <a:prstDash val="solid"/>
                    </a:lnT>
                    <a:lnB w="9525">
                      <a:solidFill>
                        <a:srgbClr val="CDD7DF"/>
                      </a:solidFill>
                      <a:prstDash val="solid"/>
                    </a:lnB>
                    <a:solidFill>
                      <a:srgbClr val="142D4E"/>
                    </a:solidFill>
                  </a:tcPr>
                </a:tc>
                <a:tc>
                  <a:txBody>
                    <a:bodyPr/>
                    <a:lstStyle/>
                    <a:p>
                      <a:r>
                        <a:rPr sz="1650" b="1">
                          <a:solidFill>
                            <a:srgbClr val="FFFFFF"/>
                          </a:solidFill>
                          <a:latin typeface="Arial"/>
                          <a:ea typeface="Arial"/>
                          <a:cs typeface="Arial"/>
                        </a:rPr>
                        <a:t>[Metric 2]</a:t>
                      </a:r>
                    </a:p>
                  </a:txBody>
                  <a:tcPr>
                    <a:lnL w="9525" cap="flat" cmpd="sng" algn="ctr">
                      <a:solidFill>
                        <a:srgbClr val="CDD7DF"/>
                      </a:solidFill>
                      <a:prstDash val="solid"/>
                      <a:round/>
                      <a:headEnd type="none" w="med" len="med"/>
                      <a:tailEnd type="none" w="med" len="med"/>
                    </a:lnL>
                    <a:lnR w="9525">
                      <a:solidFill>
                        <a:srgbClr val="CDD7DF"/>
                      </a:solidFill>
                      <a:prstDash val="solid"/>
                    </a:lnR>
                    <a:lnT w="9525">
                      <a:solidFill>
                        <a:srgbClr val="CDD7DF"/>
                      </a:solidFill>
                      <a:prstDash val="solid"/>
                    </a:lnT>
                    <a:lnB w="9525">
                      <a:solidFill>
                        <a:srgbClr val="CDD7DF"/>
                      </a:solidFill>
                      <a:prstDash val="solid"/>
                    </a:lnB>
                    <a:solidFill>
                      <a:srgbClr val="142D4E"/>
                    </a:solidFill>
                  </a:tcPr>
                </a:tc>
                <a:tc>
                  <a:txBody>
                    <a:bodyPr/>
                    <a:lstStyle/>
                    <a:p>
                      <a:r>
                        <a:rPr sz="1650" b="1">
                          <a:solidFill>
                            <a:srgbClr val="FFFFFF"/>
                          </a:solidFill>
                          <a:latin typeface="Arial"/>
                          <a:ea typeface="Arial"/>
                          <a:cs typeface="Arial"/>
                        </a:rPr>
                        <a:t>[Metric 3]</a:t>
                      </a:r>
                    </a:p>
                  </a:txBody>
                  <a:tcPr>
                    <a:lnL w="9525" cap="flat" cmpd="sng" algn="ctr">
                      <a:solidFill>
                        <a:srgbClr val="CDD7DF"/>
                      </a:solidFill>
                      <a:prstDash val="solid"/>
                      <a:round/>
                      <a:headEnd type="none" w="med" len="med"/>
                      <a:tailEnd type="none" w="med" len="med"/>
                    </a:lnL>
                    <a:lnR w="9525">
                      <a:solidFill>
                        <a:srgbClr val="CDD7DF"/>
                      </a:solidFill>
                      <a:prstDash val="solid"/>
                    </a:lnR>
                    <a:lnT w="9525">
                      <a:solidFill>
                        <a:srgbClr val="CDD7DF"/>
                      </a:solidFill>
                      <a:prstDash val="solid"/>
                    </a:lnT>
                    <a:lnB w="9525">
                      <a:solidFill>
                        <a:srgbClr val="CDD7DF"/>
                      </a:solidFill>
                      <a:prstDash val="solid"/>
                    </a:lnB>
                    <a:solidFill>
                      <a:srgbClr val="142D4E"/>
                    </a:solidFill>
                  </a:tcPr>
                </a:tc>
                <a:extLst>
                  <a:ext uri="{0D108BD9-81ED-4DB2-BD59-A6C34878D82A}">
                    <a16:rowId xmlns:a16="http://schemas.microsoft.com/office/drawing/2014/main" val="10000"/>
                  </a:ext>
                </a:extLst>
              </a:tr>
              <a:tr h="698500">
                <a:tc>
                  <a:txBody>
                    <a:bodyPr/>
                    <a:lstStyle/>
                    <a:p>
                      <a:r>
                        <a:rPr sz="1650" b="0">
                          <a:solidFill>
                            <a:srgbClr val="233247"/>
                          </a:solidFill>
                          <a:latin typeface="Arial"/>
                          <a:ea typeface="Arial"/>
                          <a:cs typeface="Arial"/>
                        </a:rPr>
                        <a:t>[Baseline / Model A]</a:t>
                      </a:r>
                    </a:p>
                  </a:txBody>
                  <a:tcPr>
                    <a:lnL w="9525">
                      <a:solidFill>
                        <a:srgbClr val="CDD7DF"/>
                      </a:solidFill>
                      <a:prstDash val="solid"/>
                    </a:lnL>
                    <a:lnR w="9525">
                      <a:solidFill>
                        <a:srgbClr val="CDD7DF"/>
                      </a:solidFill>
                      <a:prstDash val="solid"/>
                    </a:lnR>
                    <a:lnT w="9525" cap="flat" cmpd="sng" algn="ctr">
                      <a:solidFill>
                        <a:srgbClr val="CDD7DF"/>
                      </a:solidFill>
                      <a:prstDash val="solid"/>
                      <a:round/>
                      <a:headEnd type="none" w="med" len="med"/>
                      <a:tailEnd type="none" w="med" len="med"/>
                    </a:lnT>
                    <a:lnB w="9525">
                      <a:solidFill>
                        <a:srgbClr val="CDD7DF"/>
                      </a:solidFill>
                      <a:prstDash val="solid"/>
                    </a:lnB>
                    <a:solidFill>
                      <a:srgbClr val="F0F5F7"/>
                    </a:solidFill>
                  </a:tcPr>
                </a:tc>
                <a:tc>
                  <a:txBody>
                    <a:bodyPr/>
                    <a:lstStyle/>
                    <a:p>
                      <a:r>
                        <a:rPr sz="1650" b="0">
                          <a:solidFill>
                            <a:srgbClr val="233247"/>
                          </a:solidFill>
                          <a:latin typeface="Arial"/>
                          <a:ea typeface="Arial"/>
                          <a:cs typeface="Arial"/>
                        </a:rPr>
                        <a:t>[Result]</a:t>
                      </a:r>
                    </a:p>
                  </a:txBody>
                  <a:tcPr>
                    <a:lnL w="9525" cap="flat" cmpd="sng" algn="ctr">
                      <a:solidFill>
                        <a:srgbClr val="CDD7DF"/>
                      </a:solidFill>
                      <a:prstDash val="solid"/>
                      <a:round/>
                      <a:headEnd type="none" w="med" len="med"/>
                      <a:tailEnd type="none" w="med" len="med"/>
                    </a:lnL>
                    <a:lnR w="9525">
                      <a:solidFill>
                        <a:srgbClr val="CDD7DF"/>
                      </a:solidFill>
                      <a:prstDash val="solid"/>
                    </a:lnR>
                    <a:lnT w="9525" cap="flat" cmpd="sng" algn="ctr">
                      <a:solidFill>
                        <a:srgbClr val="CDD7DF"/>
                      </a:solidFill>
                      <a:prstDash val="solid"/>
                      <a:round/>
                      <a:headEnd type="none" w="med" len="med"/>
                      <a:tailEnd type="none" w="med" len="med"/>
                    </a:lnT>
                    <a:lnB w="9525">
                      <a:solidFill>
                        <a:srgbClr val="CDD7DF"/>
                      </a:solidFill>
                      <a:prstDash val="solid"/>
                    </a:lnB>
                    <a:solidFill>
                      <a:srgbClr val="F0F5F7"/>
                    </a:solidFill>
                  </a:tcPr>
                </a:tc>
                <a:tc>
                  <a:txBody>
                    <a:bodyPr/>
                    <a:lstStyle/>
                    <a:p>
                      <a:r>
                        <a:rPr sz="1650" b="0">
                          <a:solidFill>
                            <a:srgbClr val="233247"/>
                          </a:solidFill>
                          <a:latin typeface="Arial"/>
                          <a:ea typeface="Arial"/>
                          <a:cs typeface="Arial"/>
                        </a:rPr>
                        <a:t>[Result]</a:t>
                      </a:r>
                    </a:p>
                  </a:txBody>
                  <a:tcPr>
                    <a:lnL w="9525" cap="flat" cmpd="sng" algn="ctr">
                      <a:solidFill>
                        <a:srgbClr val="CDD7DF"/>
                      </a:solidFill>
                      <a:prstDash val="solid"/>
                      <a:round/>
                      <a:headEnd type="none" w="med" len="med"/>
                      <a:tailEnd type="none" w="med" len="med"/>
                    </a:lnL>
                    <a:lnR w="9525">
                      <a:solidFill>
                        <a:srgbClr val="CDD7DF"/>
                      </a:solidFill>
                      <a:prstDash val="solid"/>
                    </a:lnR>
                    <a:lnT w="9525" cap="flat" cmpd="sng" algn="ctr">
                      <a:solidFill>
                        <a:srgbClr val="CDD7DF"/>
                      </a:solidFill>
                      <a:prstDash val="solid"/>
                      <a:round/>
                      <a:headEnd type="none" w="med" len="med"/>
                      <a:tailEnd type="none" w="med" len="med"/>
                    </a:lnT>
                    <a:lnB w="9525">
                      <a:solidFill>
                        <a:srgbClr val="CDD7DF"/>
                      </a:solidFill>
                      <a:prstDash val="solid"/>
                    </a:lnB>
                    <a:solidFill>
                      <a:srgbClr val="F0F5F7"/>
                    </a:solidFill>
                  </a:tcPr>
                </a:tc>
                <a:tc>
                  <a:txBody>
                    <a:bodyPr/>
                    <a:lstStyle/>
                    <a:p>
                      <a:r>
                        <a:rPr sz="1650" b="0">
                          <a:solidFill>
                            <a:srgbClr val="233247"/>
                          </a:solidFill>
                          <a:latin typeface="Arial"/>
                          <a:ea typeface="Arial"/>
                          <a:cs typeface="Arial"/>
                        </a:rPr>
                        <a:t>[Result]</a:t>
                      </a:r>
                    </a:p>
                  </a:txBody>
                  <a:tcPr>
                    <a:lnL w="9525" cap="flat" cmpd="sng" algn="ctr">
                      <a:solidFill>
                        <a:srgbClr val="CDD7DF"/>
                      </a:solidFill>
                      <a:prstDash val="solid"/>
                      <a:round/>
                      <a:headEnd type="none" w="med" len="med"/>
                      <a:tailEnd type="none" w="med" len="med"/>
                    </a:lnL>
                    <a:lnR w="9525">
                      <a:solidFill>
                        <a:srgbClr val="CDD7DF"/>
                      </a:solidFill>
                      <a:prstDash val="solid"/>
                    </a:lnR>
                    <a:lnT w="9525" cap="flat" cmpd="sng" algn="ctr">
                      <a:solidFill>
                        <a:srgbClr val="CDD7DF"/>
                      </a:solidFill>
                      <a:prstDash val="solid"/>
                      <a:round/>
                      <a:headEnd type="none" w="med" len="med"/>
                      <a:tailEnd type="none" w="med" len="med"/>
                    </a:lnT>
                    <a:lnB w="9525">
                      <a:solidFill>
                        <a:srgbClr val="CDD7DF"/>
                      </a:solidFill>
                      <a:prstDash val="solid"/>
                    </a:lnB>
                    <a:solidFill>
                      <a:srgbClr val="F0F5F7"/>
                    </a:solidFill>
                  </a:tcPr>
                </a:tc>
                <a:extLst>
                  <a:ext uri="{0D108BD9-81ED-4DB2-BD59-A6C34878D82A}">
                    <a16:rowId xmlns:a16="http://schemas.microsoft.com/office/drawing/2014/main" val="10001"/>
                  </a:ext>
                </a:extLst>
              </a:tr>
              <a:tr h="698500">
                <a:tc>
                  <a:txBody>
                    <a:bodyPr/>
                    <a:lstStyle/>
                    <a:p>
                      <a:r>
                        <a:rPr sz="1650" b="0">
                          <a:solidFill>
                            <a:srgbClr val="233247"/>
                          </a:solidFill>
                          <a:latin typeface="Arial"/>
                          <a:ea typeface="Arial"/>
                          <a:cs typeface="Arial"/>
                        </a:rPr>
                        <a:t>[Model B]</a:t>
                      </a:r>
                    </a:p>
                  </a:txBody>
                  <a:tcPr>
                    <a:lnL w="9525">
                      <a:solidFill>
                        <a:srgbClr val="CDD7DF"/>
                      </a:solidFill>
                      <a:prstDash val="solid"/>
                    </a:lnL>
                    <a:lnR w="9525">
                      <a:solidFill>
                        <a:srgbClr val="CDD7DF"/>
                      </a:solidFill>
                      <a:prstDash val="solid"/>
                    </a:lnR>
                    <a:lnT w="9525" cap="flat" cmpd="sng" algn="ctr">
                      <a:solidFill>
                        <a:srgbClr val="CDD7DF"/>
                      </a:solidFill>
                      <a:prstDash val="solid"/>
                      <a:round/>
                      <a:headEnd type="none" w="med" len="med"/>
                      <a:tailEnd type="none" w="med" len="med"/>
                    </a:lnT>
                    <a:lnB w="9525">
                      <a:solidFill>
                        <a:srgbClr val="CDD7DF"/>
                      </a:solidFill>
                      <a:prstDash val="solid"/>
                    </a:lnB>
                    <a:solidFill>
                      <a:srgbClr val="FFFFFF"/>
                    </a:solidFill>
                  </a:tcPr>
                </a:tc>
                <a:tc>
                  <a:txBody>
                    <a:bodyPr/>
                    <a:lstStyle/>
                    <a:p>
                      <a:r>
                        <a:rPr sz="1650" b="0">
                          <a:solidFill>
                            <a:srgbClr val="233247"/>
                          </a:solidFill>
                          <a:latin typeface="Arial"/>
                          <a:ea typeface="Arial"/>
                          <a:cs typeface="Arial"/>
                        </a:rPr>
                        <a:t>[Result]</a:t>
                      </a:r>
                    </a:p>
                  </a:txBody>
                  <a:tcPr>
                    <a:lnL w="9525" cap="flat" cmpd="sng" algn="ctr">
                      <a:solidFill>
                        <a:srgbClr val="CDD7DF"/>
                      </a:solidFill>
                      <a:prstDash val="solid"/>
                      <a:round/>
                      <a:headEnd type="none" w="med" len="med"/>
                      <a:tailEnd type="none" w="med" len="med"/>
                    </a:lnL>
                    <a:lnR w="9525">
                      <a:solidFill>
                        <a:srgbClr val="CDD7DF"/>
                      </a:solidFill>
                      <a:prstDash val="solid"/>
                    </a:lnR>
                    <a:lnT w="9525" cap="flat" cmpd="sng" algn="ctr">
                      <a:solidFill>
                        <a:srgbClr val="CDD7DF"/>
                      </a:solidFill>
                      <a:prstDash val="solid"/>
                      <a:round/>
                      <a:headEnd type="none" w="med" len="med"/>
                      <a:tailEnd type="none" w="med" len="med"/>
                    </a:lnT>
                    <a:lnB w="9525">
                      <a:solidFill>
                        <a:srgbClr val="CDD7DF"/>
                      </a:solidFill>
                      <a:prstDash val="solid"/>
                    </a:lnB>
                    <a:solidFill>
                      <a:srgbClr val="FFFFFF"/>
                    </a:solidFill>
                  </a:tcPr>
                </a:tc>
                <a:tc>
                  <a:txBody>
                    <a:bodyPr/>
                    <a:lstStyle/>
                    <a:p>
                      <a:r>
                        <a:rPr sz="1650" b="0">
                          <a:solidFill>
                            <a:srgbClr val="233247"/>
                          </a:solidFill>
                          <a:latin typeface="Arial"/>
                          <a:ea typeface="Arial"/>
                          <a:cs typeface="Arial"/>
                        </a:rPr>
                        <a:t>[Result]</a:t>
                      </a:r>
                    </a:p>
                  </a:txBody>
                  <a:tcPr>
                    <a:lnL w="9525" cap="flat" cmpd="sng" algn="ctr">
                      <a:solidFill>
                        <a:srgbClr val="CDD7DF"/>
                      </a:solidFill>
                      <a:prstDash val="solid"/>
                      <a:round/>
                      <a:headEnd type="none" w="med" len="med"/>
                      <a:tailEnd type="none" w="med" len="med"/>
                    </a:lnL>
                    <a:lnR w="9525">
                      <a:solidFill>
                        <a:srgbClr val="CDD7DF"/>
                      </a:solidFill>
                      <a:prstDash val="solid"/>
                    </a:lnR>
                    <a:lnT w="9525" cap="flat" cmpd="sng" algn="ctr">
                      <a:solidFill>
                        <a:srgbClr val="CDD7DF"/>
                      </a:solidFill>
                      <a:prstDash val="solid"/>
                      <a:round/>
                      <a:headEnd type="none" w="med" len="med"/>
                      <a:tailEnd type="none" w="med" len="med"/>
                    </a:lnT>
                    <a:lnB w="9525">
                      <a:solidFill>
                        <a:srgbClr val="CDD7DF"/>
                      </a:solidFill>
                      <a:prstDash val="solid"/>
                    </a:lnB>
                    <a:solidFill>
                      <a:srgbClr val="FFFFFF"/>
                    </a:solidFill>
                  </a:tcPr>
                </a:tc>
                <a:tc>
                  <a:txBody>
                    <a:bodyPr/>
                    <a:lstStyle/>
                    <a:p>
                      <a:r>
                        <a:rPr sz="1650" b="0">
                          <a:solidFill>
                            <a:srgbClr val="233247"/>
                          </a:solidFill>
                          <a:latin typeface="Arial"/>
                          <a:ea typeface="Arial"/>
                          <a:cs typeface="Arial"/>
                        </a:rPr>
                        <a:t>[Result]</a:t>
                      </a:r>
                    </a:p>
                  </a:txBody>
                  <a:tcPr>
                    <a:lnL w="9525" cap="flat" cmpd="sng" algn="ctr">
                      <a:solidFill>
                        <a:srgbClr val="CDD7DF"/>
                      </a:solidFill>
                      <a:prstDash val="solid"/>
                      <a:round/>
                      <a:headEnd type="none" w="med" len="med"/>
                      <a:tailEnd type="none" w="med" len="med"/>
                    </a:lnL>
                    <a:lnR w="9525">
                      <a:solidFill>
                        <a:srgbClr val="CDD7DF"/>
                      </a:solidFill>
                      <a:prstDash val="solid"/>
                    </a:lnR>
                    <a:lnT w="9525" cap="flat" cmpd="sng" algn="ctr">
                      <a:solidFill>
                        <a:srgbClr val="CDD7DF"/>
                      </a:solidFill>
                      <a:prstDash val="solid"/>
                      <a:round/>
                      <a:headEnd type="none" w="med" len="med"/>
                      <a:tailEnd type="none" w="med" len="med"/>
                    </a:lnT>
                    <a:lnB w="9525">
                      <a:solidFill>
                        <a:srgbClr val="CDD7DF"/>
                      </a:solidFill>
                      <a:prstDash val="solid"/>
                    </a:lnB>
                    <a:solidFill>
                      <a:srgbClr val="FFFFFF"/>
                    </a:solidFill>
                  </a:tcPr>
                </a:tc>
                <a:extLst>
                  <a:ext uri="{0D108BD9-81ED-4DB2-BD59-A6C34878D82A}">
                    <a16:rowId xmlns:a16="http://schemas.microsoft.com/office/drawing/2014/main" val="10002"/>
                  </a:ext>
                </a:extLst>
              </a:tr>
            </a:tbl>
          </a:graphicData>
        </a:graphic>
      </p:graphicFrame>
      <p:sp>
        <p:nvSpPr>
          <p:cNvPr id="5" name="Rectangle 4">
            <a:extLst>
              <a:ext uri="{FF2B5EF4-FFF2-40B4-BE49-F238E27FC236}">
                <a16:creationId xmlns:a16="http://schemas.microsoft.com/office/drawing/2014/main" id="{0FDA00C4-C299-46D2-926D-D007DABEEB54}"/>
              </a:ext>
            </a:extLst>
          </p:cNvPr>
          <p:cNvSpPr>
            <a:spLocks noGrp="1"/>
          </p:cNvSpPr>
          <p:nvPr/>
        </p:nvSpPr>
        <p:spPr>
          <a:xfrm>
            <a:off x="685800" y="4476750"/>
            <a:ext cx="10572750" cy="523875"/>
          </a:xfrm>
          <a:prstGeom prst="rect">
            <a:avLst/>
          </a:prstGeom>
          <a:noFill/>
          <a:ln w="0">
            <a:noFill/>
            <a:prstDash val="solid"/>
          </a:ln>
        </p:spPr>
        <p:txBody>
          <a:bodyPr/>
          <a:lstStyle>
            <a:defPPr>
              <a:defRPr sz="1875" b="0">
                <a:solidFill>
                  <a:srgbClr val="233247"/>
                </a:solidFill>
                <a:latin typeface="Arial"/>
                <a:ea typeface="Arial"/>
                <a:cs typeface="Arial"/>
              </a:defRPr>
            </a:defPPr>
          </a:lstStyle>
          <a:p>
            <a:pPr>
              <a:defRPr sz="1875" b="0">
                <a:solidFill>
                  <a:srgbClr val="233247"/>
                </a:solidFill>
                <a:latin typeface="Arial"/>
                <a:ea typeface="Arial"/>
                <a:cs typeface="Arial"/>
              </a:defRPr>
            </a:pPr>
            <a:r>
              <a:rPr sz="1875" b="0">
                <a:solidFill>
                  <a:srgbClr val="233247"/>
                </a:solidFill>
                <a:latin typeface="Arial"/>
                <a:ea typeface="Arial"/>
                <a:cs typeface="Arial"/>
              </a:rPr>
              <a:t>Evaluation setup:
Target: daily_quantity (aggregate units per day)
Inputs: lag_1, lag_2, lag_7, lag_14, roll_mean_7, roll_std_7,
        roll_mean_14, day_of_week, is_weekend, month, day_of_month
Split: Chronological holdout — Train 153 days (Apr–Aug 2026) | Test 30 days (Sep 2026)
Test records: 30 daily observations | No data leakage</a:t>
            </a:r>
          </a:p>
        </p:txBody>
      </p:sp>
      <p:sp>
        <p:nvSpPr>
          <p:cNvPr id="6" name="Rectangle 5">
            <a:extLst>
              <a:ext uri="{FF2B5EF4-FFF2-40B4-BE49-F238E27FC236}">
                <a16:creationId xmlns:a16="http://schemas.microsoft.com/office/drawing/2014/main" id="{C2AB3FF8-F154-49D7-A7C7-108D021980FD}"/>
              </a:ext>
            </a:extLst>
          </p:cNvPr>
          <p:cNvSpPr>
            <a:spLocks noGrp="1"/>
          </p:cNvSpPr>
          <p:nvPr/>
        </p:nvSpPr>
        <p:spPr>
          <a:xfrm>
            <a:off x="685800" y="5286375"/>
            <a:ext cx="10572750" cy="619125"/>
          </a:xfrm>
          <a:prstGeom prst="rect">
            <a:avLst/>
          </a:prstGeom>
          <a:noFill/>
          <a:ln w="0">
            <a:noFill/>
            <a:prstDash val="solid"/>
          </a:ln>
        </p:spPr>
        <p:txBody>
          <a:bodyPr/>
          <a:lstStyle>
            <a:defPPr>
              <a:defRPr sz="1875" b="0">
                <a:solidFill>
                  <a:srgbClr val="233247"/>
                </a:solidFill>
                <a:latin typeface="Arial"/>
                <a:ea typeface="Arial"/>
                <a:cs typeface="Arial"/>
              </a:defRPr>
            </a:defPPr>
          </a:lstStyle>
          <a:p>
            <a:pPr>
              <a:defRPr sz="1875" b="0">
                <a:solidFill>
                  <a:srgbClr val="233247"/>
                </a:solidFill>
                <a:latin typeface="Arial"/>
                <a:ea typeface="Arial"/>
                <a:cs typeface="Arial"/>
              </a:defRPr>
            </a:pPr>
            <a:r>
              <a:rPr sz="1875" b="0">
                <a:solidFill>
                  <a:srgbClr val="233247"/>
                </a:solidFill>
                <a:latin typeface="Arial"/>
                <a:ea typeface="Arial"/>
                <a:cs typeface="Arial"/>
              </a:rPr>
              <a:t>Selected model: XGBoost Regressor
Evidence: RMSE 99.50 units | WAPE 8.29% — best RMSE across 6 models
Key driver: day_of_week (31.78% importance) — captures weekend uplift
Second driver: lag_7 (17.58%) — same-weekday-last-week demand memory
Limitation: requires 14-day warm-up window; not suitable for new SKUs
Model Comparison:
XGBoost: RMSE 99.50 | SARIMA: 99.98 | HW: 101.76 | MovAvg: 116.17 | S-Naive: 137.57 | Naive: 134.93</a:t>
            </a:r>
          </a:p>
        </p:txBody>
      </p:sp>
      <p:pic>
        <p:nvPicPr>
          <p:cNvPr id="8" name="Picture 7" descr="04_time_series_forecast_comparison.png"/>
          <p:cNvPicPr>
            <a:picLocks noChangeAspect="1"/>
          </p:cNvPicPr>
          <p:nvPr/>
        </p:nvPicPr>
        <p:blipFill>
          <a:blip r:embed="rId3"/>
          <a:stretch>
            <a:fillRect/>
          </a:stretch>
        </p:blipFill>
        <p:spPr>
          <a:xfrm>
            <a:off x="365760" y="1266825"/>
            <a:ext cx="5303520" cy="3383280"/>
          </a:xfrm>
          <a:prstGeom prst="rect">
            <a:avLst/>
          </a:prstGeom>
        </p:spPr>
      </p:pic>
      <p:pic>
        <p:nvPicPr>
          <p:cNvPr id="9" name="Picture 8" descr="05_forecast_model_rmse_comparison.png"/>
          <p:cNvPicPr>
            <a:picLocks noChangeAspect="1"/>
          </p:cNvPicPr>
          <p:nvPr/>
        </p:nvPicPr>
        <p:blipFill>
          <a:blip r:embed="rId4"/>
          <a:stretch>
            <a:fillRect/>
          </a:stretch>
        </p:blipFill>
        <p:spPr>
          <a:xfrm>
            <a:off x="5669280" y="1554480"/>
            <a:ext cx="3474720" cy="1828800"/>
          </a:xfrm>
          <a:prstGeom prst="rect">
            <a:avLst/>
          </a:prstGeom>
        </p:spPr>
      </p:pic>
      <p:pic>
        <p:nvPicPr>
          <p:cNvPr id="10" name="Picture 9" descr="06_xgboost_feature_importance.png"/>
          <p:cNvPicPr>
            <a:picLocks noChangeAspect="1"/>
          </p:cNvPicPr>
          <p:nvPr/>
        </p:nvPicPr>
        <p:blipFill>
          <a:blip r:embed="rId5"/>
          <a:stretch>
            <a:fillRect/>
          </a:stretch>
        </p:blipFill>
        <p:spPr>
          <a:xfrm>
            <a:off x="5669280" y="3566160"/>
            <a:ext cx="3474720" cy="1828800"/>
          </a:xfrm>
          <a:prstGeom prst="rect">
            <a:avLst/>
          </a:prstGeom>
        </p:spPr>
      </p:pic>
    </p:spTree>
    <p:extLst>
      <p:ext uri="{BB962C8B-B14F-4D97-AF65-F5344CB8AC3E}">
        <p14:creationId xmlns:p14="http://schemas.microsoft.com/office/powerpoint/2010/main" val="119055955"/>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sp>
        <p:nvSpPr>
          <p:cNvPr id="6" name="Rectangle 5">
            <a:extLst>
              <a:ext uri="{FF2B5EF4-FFF2-40B4-BE49-F238E27FC236}">
                <a16:creationId xmlns:a16="http://schemas.microsoft.com/office/drawing/2014/main" id="{D90A2372-5E66-42DE-8B53-9300E5035622}"/>
              </a:ext>
            </a:extLst>
          </p:cNvPr>
          <p:cNvSpPr>
            <a:spLocks noGrp="1"/>
          </p:cNvSpPr>
          <p:nvPr/>
        </p:nvSpPr>
        <p:spPr>
          <a:xfrm>
            <a:off x="609600" y="342900"/>
            <a:ext cx="10477500" cy="285750"/>
          </a:xfrm>
          <a:prstGeom prst="rect">
            <a:avLst/>
          </a:prstGeom>
          <a:noFill/>
          <a:ln w="0">
            <a:noFill/>
            <a:prstDash val="solid"/>
          </a:ln>
        </p:spPr>
        <p:txBody>
          <a:bodyPr/>
          <a:lstStyle>
            <a:defPPr>
              <a:defRPr sz="1350" b="1">
                <a:solidFill>
                  <a:srgbClr val="157A80"/>
                </a:solidFill>
                <a:latin typeface="Arial"/>
                <a:ea typeface="Arial"/>
                <a:cs typeface="Arial"/>
              </a:defRPr>
            </a:defPPr>
          </a:lstStyle>
          <a:p>
            <a:pPr>
              <a:defRPr sz="1350" b="1">
                <a:solidFill>
                  <a:srgbClr val="157A80"/>
                </a:solidFill>
                <a:latin typeface="Arial"/>
                <a:ea typeface="Arial"/>
                <a:cs typeface="Arial"/>
              </a:defRPr>
            </a:pPr>
            <a:r>
              <a:rPr sz="1350" b="1">
                <a:solidFill>
                  <a:srgbClr val="157A80"/>
                </a:solidFill>
                <a:latin typeface="Arial"/>
                <a:ea typeface="Arial"/>
                <a:cs typeface="Arial"/>
              </a:rPr>
              <a:t>UNIT 3</a:t>
            </a:r>
          </a:p>
        </p:txBody>
      </p:sp>
      <p:sp>
        <p:nvSpPr>
          <p:cNvPr id="2" name="Rectangle 1">
            <a:extLst>
              <a:ext uri="{FF2B5EF4-FFF2-40B4-BE49-F238E27FC236}">
                <a16:creationId xmlns:a16="http://schemas.microsoft.com/office/drawing/2014/main" id="{22EAF5FB-AC58-4E29-9EA6-A0EA2B8A645E}"/>
              </a:ext>
            </a:extLst>
          </p:cNvPr>
          <p:cNvSpPr>
            <a:spLocks noGrp="1"/>
          </p:cNvSpPr>
          <p:nvPr/>
        </p:nvSpPr>
        <p:spPr>
          <a:xfrm>
            <a:off x="609600" y="838200"/>
            <a:ext cx="10972800" cy="857250"/>
          </a:xfrm>
          <a:prstGeom prst="rect">
            <a:avLst/>
          </a:prstGeom>
          <a:noFill/>
          <a:ln w="0">
            <a:noFill/>
            <a:prstDash val="solid"/>
          </a:ln>
        </p:spPr>
        <p:txBody>
          <a:bodyPr/>
          <a:lstStyle>
            <a:defPPr>
              <a:defRPr sz="3150" b="1">
                <a:solidFill>
                  <a:srgbClr val="142D4E"/>
                </a:solidFill>
                <a:latin typeface="Arial"/>
                <a:ea typeface="Arial"/>
                <a:cs typeface="Arial"/>
              </a:defRPr>
            </a:defPPr>
          </a:lstStyle>
          <a:p>
            <a:pPr>
              <a:defRPr sz="3150" b="1">
                <a:solidFill>
                  <a:srgbClr val="142D4E"/>
                </a:solidFill>
                <a:latin typeface="Arial"/>
                <a:ea typeface="Arial"/>
                <a:cs typeface="Arial"/>
              </a:defRPr>
            </a:pPr>
            <a:r>
              <a:rPr sz="3150" b="1">
                <a:solidFill>
                  <a:srgbClr val="142D4E"/>
                </a:solidFill>
                <a:latin typeface="Arial"/>
                <a:ea typeface="Arial"/>
                <a:cs typeface="Arial"/>
              </a:rPr>
              <a:t>Selected advanced analytics methods</a:t>
            </a:r>
          </a:p>
        </p:txBody>
      </p:sp>
      <p:sp>
        <p:nvSpPr>
          <p:cNvPr id="3" name="Rectangle 2">
            <a:extLst>
              <a:ext uri="{FF2B5EF4-FFF2-40B4-BE49-F238E27FC236}">
                <a16:creationId xmlns:a16="http://schemas.microsoft.com/office/drawing/2014/main" id="{AF2A2B95-75AB-4A68-84B4-6C002BEFE498}"/>
              </a:ext>
            </a:extLst>
          </p:cNvPr>
          <p:cNvSpPr>
            <a:spLocks noGrp="1"/>
          </p:cNvSpPr>
          <p:nvPr/>
        </p:nvSpPr>
        <p:spPr>
          <a:xfrm>
            <a:off x="10953750" y="6343650"/>
            <a:ext cx="619125" cy="238125"/>
          </a:xfrm>
          <a:prstGeom prst="rect">
            <a:avLst/>
          </a:prstGeom>
          <a:noFill/>
          <a:ln w="0">
            <a:noFill/>
            <a:prstDash val="solid"/>
          </a:ln>
        </p:spPr>
        <p:txBody>
          <a:bodyPr/>
          <a:lstStyle>
            <a:defPPr>
              <a:defRPr sz="1200" b="0">
                <a:solidFill>
                  <a:srgbClr val="66758A"/>
                </a:solidFill>
                <a:latin typeface="Arial"/>
                <a:ea typeface="Arial"/>
                <a:cs typeface="Arial"/>
              </a:defRPr>
            </a:defPPr>
          </a:lstStyle>
          <a:p>
            <a:pPr>
              <a:defRPr sz="1200" b="0">
                <a:solidFill>
                  <a:srgbClr val="66758A"/>
                </a:solidFill>
                <a:latin typeface="Arial"/>
                <a:ea typeface="Arial"/>
                <a:cs typeface="Arial"/>
              </a:defRPr>
            </a:pPr>
            <a:r>
              <a:rPr sz="1200" b="0">
                <a:solidFill>
                  <a:srgbClr val="66758A"/>
                </a:solidFill>
                <a:latin typeface="Arial"/>
                <a:ea typeface="Arial"/>
                <a:cs typeface="Arial"/>
              </a:rPr>
              <a:t>09</a:t>
            </a:r>
          </a:p>
        </p:txBody>
      </p:sp>
      <p:graphicFrame>
        <p:nvGraphicFramePr>
          <p:cNvPr id="4" name="Table 3">
            <a:extLst>
              <a:ext uri="{FF2B5EF4-FFF2-40B4-BE49-F238E27FC236}">
                <a16:creationId xmlns:a16="http://schemas.microsoft.com/office/drawing/2014/main" id="{36A543E7-13D8-4126-84D0-9539E1F5455E}"/>
              </a:ext>
            </a:extLst>
          </p:cNvPr>
          <p:cNvGraphicFramePr/>
          <p:nvPr/>
        </p:nvGraphicFramePr>
        <p:xfrm>
          <a:off x="609600" y="2238375"/>
          <a:ext cx="10972800" cy="2381250"/>
        </p:xfrm>
        <a:graphic>
          <a:graphicData uri="http://schemas.openxmlformats.org/drawingml/2006/table">
            <a:tbl>
              <a:tblPr/>
              <a:tblGrid>
                <a:gridCol w="3238500">
                  <a:extLst>
                    <a:ext uri="{9D8B030D-6E8A-4147-A177-3AD203B41FA5}">
                      <a16:colId xmlns:a16="http://schemas.microsoft.com/office/drawing/2014/main" val="20000"/>
                    </a:ext>
                  </a:extLst>
                </a:gridCol>
                <a:gridCol w="4000500">
                  <a:extLst>
                    <a:ext uri="{9D8B030D-6E8A-4147-A177-3AD203B41FA5}">
                      <a16:colId xmlns:a16="http://schemas.microsoft.com/office/drawing/2014/main" val="20001"/>
                    </a:ext>
                  </a:extLst>
                </a:gridCol>
                <a:gridCol w="3733800">
                  <a:extLst>
                    <a:ext uri="{9D8B030D-6E8A-4147-A177-3AD203B41FA5}">
                      <a16:colId xmlns:a16="http://schemas.microsoft.com/office/drawing/2014/main" val="20002"/>
                    </a:ext>
                  </a:extLst>
                </a:gridCol>
              </a:tblGrid>
              <a:tr h="793750">
                <a:tc>
                  <a:txBody>
                    <a:bodyPr/>
                    <a:lstStyle/>
                    <a:p>
                      <a:r>
                        <a:rPr sz="1650" b="1">
                          <a:solidFill>
                            <a:srgbClr val="FFFFFF"/>
                          </a:solidFill>
                          <a:latin typeface="Arial"/>
                          <a:ea typeface="Arial"/>
                          <a:cs typeface="Arial"/>
                        </a:rPr>
                        <a:t>Selected method</a:t>
                      </a:r>
                    </a:p>
                  </a:txBody>
                  <a:tcPr>
                    <a:lnL w="9525">
                      <a:solidFill>
                        <a:srgbClr val="CDD7DF"/>
                      </a:solidFill>
                      <a:prstDash val="solid"/>
                    </a:lnL>
                    <a:lnR w="9525">
                      <a:solidFill>
                        <a:srgbClr val="CDD7DF"/>
                      </a:solidFill>
                      <a:prstDash val="solid"/>
                    </a:lnR>
                    <a:lnT w="9525">
                      <a:solidFill>
                        <a:srgbClr val="CDD7DF"/>
                      </a:solidFill>
                      <a:prstDash val="solid"/>
                    </a:lnT>
                    <a:lnB w="9525">
                      <a:solidFill>
                        <a:srgbClr val="CDD7DF"/>
                      </a:solidFill>
                      <a:prstDash val="solid"/>
                    </a:lnB>
                    <a:solidFill>
                      <a:srgbClr val="142D4E"/>
                    </a:solidFill>
                  </a:tcPr>
                </a:tc>
                <a:tc>
                  <a:txBody>
                    <a:bodyPr/>
                    <a:lstStyle/>
                    <a:p>
                      <a:r>
                        <a:rPr sz="1650" b="1">
                          <a:solidFill>
                            <a:srgbClr val="FFFFFF"/>
                          </a:solidFill>
                          <a:latin typeface="Arial"/>
                          <a:ea typeface="Arial"/>
                          <a:cs typeface="Arial"/>
                        </a:rPr>
                        <a:t>Business question</a:t>
                      </a:r>
                    </a:p>
                  </a:txBody>
                  <a:tcPr>
                    <a:lnL w="9525" cap="flat" cmpd="sng" algn="ctr">
                      <a:solidFill>
                        <a:srgbClr val="CDD7DF"/>
                      </a:solidFill>
                      <a:prstDash val="solid"/>
                      <a:round/>
                      <a:headEnd type="none" w="med" len="med"/>
                      <a:tailEnd type="none" w="med" len="med"/>
                    </a:lnL>
                    <a:lnR w="9525">
                      <a:solidFill>
                        <a:srgbClr val="CDD7DF"/>
                      </a:solidFill>
                      <a:prstDash val="solid"/>
                    </a:lnR>
                    <a:lnT w="9525">
                      <a:solidFill>
                        <a:srgbClr val="CDD7DF"/>
                      </a:solidFill>
                      <a:prstDash val="solid"/>
                    </a:lnT>
                    <a:lnB w="9525">
                      <a:solidFill>
                        <a:srgbClr val="CDD7DF"/>
                      </a:solidFill>
                      <a:prstDash val="solid"/>
                    </a:lnB>
                    <a:solidFill>
                      <a:srgbClr val="142D4E"/>
                    </a:solidFill>
                  </a:tcPr>
                </a:tc>
                <a:tc>
                  <a:txBody>
                    <a:bodyPr/>
                    <a:lstStyle/>
                    <a:p>
                      <a:r>
                        <a:rPr sz="1650" b="1">
                          <a:solidFill>
                            <a:srgbClr val="FFFFFF"/>
                          </a:solidFill>
                          <a:latin typeface="Arial"/>
                          <a:ea typeface="Arial"/>
                          <a:cs typeface="Arial"/>
                        </a:rPr>
                        <a:t>Data used</a:t>
                      </a:r>
                    </a:p>
                  </a:txBody>
                  <a:tcPr>
                    <a:lnL w="9525" cap="flat" cmpd="sng" algn="ctr">
                      <a:solidFill>
                        <a:srgbClr val="CDD7DF"/>
                      </a:solidFill>
                      <a:prstDash val="solid"/>
                      <a:round/>
                      <a:headEnd type="none" w="med" len="med"/>
                      <a:tailEnd type="none" w="med" len="med"/>
                    </a:lnL>
                    <a:lnR w="9525">
                      <a:solidFill>
                        <a:srgbClr val="CDD7DF"/>
                      </a:solidFill>
                      <a:prstDash val="solid"/>
                    </a:lnR>
                    <a:lnT w="9525">
                      <a:solidFill>
                        <a:srgbClr val="CDD7DF"/>
                      </a:solidFill>
                      <a:prstDash val="solid"/>
                    </a:lnT>
                    <a:lnB w="9525">
                      <a:solidFill>
                        <a:srgbClr val="CDD7DF"/>
                      </a:solidFill>
                      <a:prstDash val="solid"/>
                    </a:lnB>
                    <a:solidFill>
                      <a:srgbClr val="142D4E"/>
                    </a:solidFill>
                  </a:tcPr>
                </a:tc>
                <a:extLst>
                  <a:ext uri="{0D108BD9-81ED-4DB2-BD59-A6C34878D82A}">
                    <a16:rowId xmlns:a16="http://schemas.microsoft.com/office/drawing/2014/main" val="10000"/>
                  </a:ext>
                </a:extLst>
              </a:tr>
              <a:tr h="793750">
                <a:tc>
                  <a:txBody>
                    <a:bodyPr/>
                    <a:lstStyle/>
                    <a:p>
                      <a:r>
                        <a:rPr sz="1650" b="0">
                          <a:solidFill>
                            <a:srgbClr val="233247"/>
                          </a:solidFill>
                          <a:latin typeface="Arial"/>
                          <a:ea typeface="Arial"/>
                          <a:cs typeface="Arial"/>
                        </a:rPr>
                        <a:t>Method 1: [Name]</a:t>
                      </a:r>
                    </a:p>
                  </a:txBody>
                  <a:tcPr>
                    <a:lnL w="9525">
                      <a:solidFill>
                        <a:srgbClr val="CDD7DF"/>
                      </a:solidFill>
                      <a:prstDash val="solid"/>
                    </a:lnL>
                    <a:lnR w="9525">
                      <a:solidFill>
                        <a:srgbClr val="CDD7DF"/>
                      </a:solidFill>
                      <a:prstDash val="solid"/>
                    </a:lnR>
                    <a:lnT w="9525" cap="flat" cmpd="sng" algn="ctr">
                      <a:solidFill>
                        <a:srgbClr val="CDD7DF"/>
                      </a:solidFill>
                      <a:prstDash val="solid"/>
                      <a:round/>
                      <a:headEnd type="none" w="med" len="med"/>
                      <a:tailEnd type="none" w="med" len="med"/>
                    </a:lnT>
                    <a:lnB w="9525">
                      <a:solidFill>
                        <a:srgbClr val="CDD7DF"/>
                      </a:solidFill>
                      <a:prstDash val="solid"/>
                    </a:lnB>
                    <a:solidFill>
                      <a:srgbClr val="F0F5F7"/>
                    </a:solidFill>
                  </a:tcPr>
                </a:tc>
                <a:tc>
                  <a:txBody>
                    <a:bodyPr/>
                    <a:lstStyle/>
                    <a:p>
                      <a:r>
                        <a:rPr sz="1650" b="0">
                          <a:solidFill>
                            <a:srgbClr val="233247"/>
                          </a:solidFill>
                          <a:latin typeface="Arial"/>
                          <a:ea typeface="Arial"/>
                          <a:cs typeface="Arial"/>
                        </a:rPr>
                        <a:t>[Question it answers]</a:t>
                      </a:r>
                    </a:p>
                  </a:txBody>
                  <a:tcPr>
                    <a:lnL w="9525" cap="flat" cmpd="sng" algn="ctr">
                      <a:solidFill>
                        <a:srgbClr val="CDD7DF"/>
                      </a:solidFill>
                      <a:prstDash val="solid"/>
                      <a:round/>
                      <a:headEnd type="none" w="med" len="med"/>
                      <a:tailEnd type="none" w="med" len="med"/>
                    </a:lnL>
                    <a:lnR w="9525">
                      <a:solidFill>
                        <a:srgbClr val="CDD7DF"/>
                      </a:solidFill>
                      <a:prstDash val="solid"/>
                    </a:lnR>
                    <a:lnT w="9525" cap="flat" cmpd="sng" algn="ctr">
                      <a:solidFill>
                        <a:srgbClr val="CDD7DF"/>
                      </a:solidFill>
                      <a:prstDash val="solid"/>
                      <a:round/>
                      <a:headEnd type="none" w="med" len="med"/>
                      <a:tailEnd type="none" w="med" len="med"/>
                    </a:lnT>
                    <a:lnB w="9525">
                      <a:solidFill>
                        <a:srgbClr val="CDD7DF"/>
                      </a:solidFill>
                      <a:prstDash val="solid"/>
                    </a:lnB>
                    <a:solidFill>
                      <a:srgbClr val="F0F5F7"/>
                    </a:solidFill>
                  </a:tcPr>
                </a:tc>
                <a:tc>
                  <a:txBody>
                    <a:bodyPr/>
                    <a:lstStyle/>
                    <a:p>
                      <a:r>
                        <a:rPr sz="1650" b="0">
                          <a:solidFill>
                            <a:srgbClr val="233247"/>
                          </a:solidFill>
                          <a:latin typeface="Arial"/>
                          <a:ea typeface="Arial"/>
                          <a:cs typeface="Arial"/>
                        </a:rPr>
                        <a:t>[Final-data fields / subset]</a:t>
                      </a:r>
                    </a:p>
                  </a:txBody>
                  <a:tcPr>
                    <a:lnL w="9525" cap="flat" cmpd="sng" algn="ctr">
                      <a:solidFill>
                        <a:srgbClr val="CDD7DF"/>
                      </a:solidFill>
                      <a:prstDash val="solid"/>
                      <a:round/>
                      <a:headEnd type="none" w="med" len="med"/>
                      <a:tailEnd type="none" w="med" len="med"/>
                    </a:lnL>
                    <a:lnR w="9525">
                      <a:solidFill>
                        <a:srgbClr val="CDD7DF"/>
                      </a:solidFill>
                      <a:prstDash val="solid"/>
                    </a:lnR>
                    <a:lnT w="9525" cap="flat" cmpd="sng" algn="ctr">
                      <a:solidFill>
                        <a:srgbClr val="CDD7DF"/>
                      </a:solidFill>
                      <a:prstDash val="solid"/>
                      <a:round/>
                      <a:headEnd type="none" w="med" len="med"/>
                      <a:tailEnd type="none" w="med" len="med"/>
                    </a:lnT>
                    <a:lnB w="9525">
                      <a:solidFill>
                        <a:srgbClr val="CDD7DF"/>
                      </a:solidFill>
                      <a:prstDash val="solid"/>
                    </a:lnB>
                    <a:solidFill>
                      <a:srgbClr val="F0F5F7"/>
                    </a:solidFill>
                  </a:tcPr>
                </a:tc>
                <a:extLst>
                  <a:ext uri="{0D108BD9-81ED-4DB2-BD59-A6C34878D82A}">
                    <a16:rowId xmlns:a16="http://schemas.microsoft.com/office/drawing/2014/main" val="10001"/>
                  </a:ext>
                </a:extLst>
              </a:tr>
              <a:tr h="793750">
                <a:tc>
                  <a:txBody>
                    <a:bodyPr/>
                    <a:lstStyle/>
                    <a:p>
                      <a:r>
                        <a:rPr sz="1650" b="0">
                          <a:solidFill>
                            <a:srgbClr val="233247"/>
                          </a:solidFill>
                          <a:latin typeface="Arial"/>
                          <a:ea typeface="Arial"/>
                          <a:cs typeface="Arial"/>
                        </a:rPr>
                        <a:t>Method 2: [Name]</a:t>
                      </a:r>
                    </a:p>
                  </a:txBody>
                  <a:tcPr>
                    <a:lnL w="9525">
                      <a:solidFill>
                        <a:srgbClr val="CDD7DF"/>
                      </a:solidFill>
                      <a:prstDash val="solid"/>
                    </a:lnL>
                    <a:lnR w="9525">
                      <a:solidFill>
                        <a:srgbClr val="CDD7DF"/>
                      </a:solidFill>
                      <a:prstDash val="solid"/>
                    </a:lnR>
                    <a:lnT w="9525" cap="flat" cmpd="sng" algn="ctr">
                      <a:solidFill>
                        <a:srgbClr val="CDD7DF"/>
                      </a:solidFill>
                      <a:prstDash val="solid"/>
                      <a:round/>
                      <a:headEnd type="none" w="med" len="med"/>
                      <a:tailEnd type="none" w="med" len="med"/>
                    </a:lnT>
                    <a:lnB w="9525">
                      <a:solidFill>
                        <a:srgbClr val="CDD7DF"/>
                      </a:solidFill>
                      <a:prstDash val="solid"/>
                    </a:lnB>
                    <a:solidFill>
                      <a:srgbClr val="FFFFFF"/>
                    </a:solidFill>
                  </a:tcPr>
                </a:tc>
                <a:tc>
                  <a:txBody>
                    <a:bodyPr/>
                    <a:lstStyle/>
                    <a:p>
                      <a:r>
                        <a:rPr sz="1650" b="0">
                          <a:solidFill>
                            <a:srgbClr val="233247"/>
                          </a:solidFill>
                          <a:latin typeface="Arial"/>
                          <a:ea typeface="Arial"/>
                          <a:cs typeface="Arial"/>
                        </a:rPr>
                        <a:t>[Question it answers]</a:t>
                      </a:r>
                    </a:p>
                  </a:txBody>
                  <a:tcPr>
                    <a:lnL w="9525" cap="flat" cmpd="sng" algn="ctr">
                      <a:solidFill>
                        <a:srgbClr val="CDD7DF"/>
                      </a:solidFill>
                      <a:prstDash val="solid"/>
                      <a:round/>
                      <a:headEnd type="none" w="med" len="med"/>
                      <a:tailEnd type="none" w="med" len="med"/>
                    </a:lnL>
                    <a:lnR w="9525">
                      <a:solidFill>
                        <a:srgbClr val="CDD7DF"/>
                      </a:solidFill>
                      <a:prstDash val="solid"/>
                    </a:lnR>
                    <a:lnT w="9525" cap="flat" cmpd="sng" algn="ctr">
                      <a:solidFill>
                        <a:srgbClr val="CDD7DF"/>
                      </a:solidFill>
                      <a:prstDash val="solid"/>
                      <a:round/>
                      <a:headEnd type="none" w="med" len="med"/>
                      <a:tailEnd type="none" w="med" len="med"/>
                    </a:lnT>
                    <a:lnB w="9525">
                      <a:solidFill>
                        <a:srgbClr val="CDD7DF"/>
                      </a:solidFill>
                      <a:prstDash val="solid"/>
                    </a:lnB>
                    <a:solidFill>
                      <a:srgbClr val="FFFFFF"/>
                    </a:solidFill>
                  </a:tcPr>
                </a:tc>
                <a:tc>
                  <a:txBody>
                    <a:bodyPr/>
                    <a:lstStyle/>
                    <a:p>
                      <a:r>
                        <a:rPr sz="1650" b="0">
                          <a:solidFill>
                            <a:srgbClr val="233247"/>
                          </a:solidFill>
                          <a:latin typeface="Arial"/>
                          <a:ea typeface="Arial"/>
                          <a:cs typeface="Arial"/>
                        </a:rPr>
                        <a:t>[Final-data fields / subset]</a:t>
                      </a:r>
                    </a:p>
                  </a:txBody>
                  <a:tcPr>
                    <a:lnL w="9525" cap="flat" cmpd="sng" algn="ctr">
                      <a:solidFill>
                        <a:srgbClr val="CDD7DF"/>
                      </a:solidFill>
                      <a:prstDash val="solid"/>
                      <a:round/>
                      <a:headEnd type="none" w="med" len="med"/>
                      <a:tailEnd type="none" w="med" len="med"/>
                    </a:lnL>
                    <a:lnR w="9525">
                      <a:solidFill>
                        <a:srgbClr val="CDD7DF"/>
                      </a:solidFill>
                      <a:prstDash val="solid"/>
                    </a:lnR>
                    <a:lnT w="9525" cap="flat" cmpd="sng" algn="ctr">
                      <a:solidFill>
                        <a:srgbClr val="CDD7DF"/>
                      </a:solidFill>
                      <a:prstDash val="solid"/>
                      <a:round/>
                      <a:headEnd type="none" w="med" len="med"/>
                      <a:tailEnd type="none" w="med" len="med"/>
                    </a:lnT>
                    <a:lnB w="9525">
                      <a:solidFill>
                        <a:srgbClr val="CDD7DF"/>
                      </a:solidFill>
                      <a:prstDash val="solid"/>
                    </a:lnB>
                    <a:solidFill>
                      <a:srgbClr val="FFFFFF"/>
                    </a:solidFill>
                  </a:tcPr>
                </a:tc>
                <a:extLst>
                  <a:ext uri="{0D108BD9-81ED-4DB2-BD59-A6C34878D82A}">
                    <a16:rowId xmlns:a16="http://schemas.microsoft.com/office/drawing/2014/main" val="10002"/>
                  </a:ext>
                </a:extLst>
              </a:tr>
            </a:tbl>
          </a:graphicData>
        </a:graphic>
      </p:graphicFrame>
      <p:sp>
        <p:nvSpPr>
          <p:cNvPr id="5" name="Rectangle 4">
            <a:extLst>
              <a:ext uri="{FF2B5EF4-FFF2-40B4-BE49-F238E27FC236}">
                <a16:creationId xmlns:a16="http://schemas.microsoft.com/office/drawing/2014/main" id="{036D661E-F7DF-42DC-BD9B-EDE438C1C04A}"/>
              </a:ext>
            </a:extLst>
          </p:cNvPr>
          <p:cNvSpPr>
            <a:spLocks noGrp="1"/>
          </p:cNvSpPr>
          <p:nvPr/>
        </p:nvSpPr>
        <p:spPr>
          <a:xfrm>
            <a:off x="685800" y="5238750"/>
            <a:ext cx="10572750" cy="619125"/>
          </a:xfrm>
          <a:prstGeom prst="rect">
            <a:avLst/>
          </a:prstGeom>
          <a:noFill/>
          <a:ln w="0">
            <a:noFill/>
            <a:prstDash val="solid"/>
          </a:ln>
        </p:spPr>
        <p:txBody>
          <a:bodyPr/>
          <a:lstStyle>
            <a:defPPr>
              <a:defRPr sz="1875" b="1">
                <a:solidFill>
                  <a:srgbClr val="157A80"/>
                </a:solidFill>
                <a:latin typeface="Arial"/>
                <a:ea typeface="Arial"/>
                <a:cs typeface="Arial"/>
              </a:defRPr>
            </a:defPPr>
          </a:lstStyle>
          <a:p>
            <a:pPr>
              <a:defRPr sz="1875" b="1">
                <a:solidFill>
                  <a:srgbClr val="157A80"/>
                </a:solidFill>
                <a:latin typeface="Arial"/>
                <a:ea typeface="Arial"/>
                <a:cs typeface="Arial"/>
              </a:defRPr>
            </a:pPr>
            <a:r>
              <a:rPr sz="1875" b="1">
                <a:solidFill>
                  <a:srgbClr val="157A80"/>
                </a:solidFill>
                <a:latin typeface="Arial"/>
                <a:ea typeface="Arial"/>
                <a:cs typeface="Arial"/>
              </a:rPr>
              <a:t>Selected Methods:
METHOD 1: Time-Series Analysis
Purpose: Forecast daily aggregate demand 30 days ahead to optimise
dark store inventory replenishment scheduling.
Models: Naive, Seasonal-Naive, Moving Average, Holt-Winters, SARIMA, XGBoost
Winner: XGBoost — RMSE 99.50 | WAPE 8.29%
METHOD 2: Association Rule Mining
Purpose: Discover high-lift product co-purchase patterns from transaction
baskets to design bundle promotions and optimise dark store shelf layout.
Algorithms: Apriori (baseline) + FP-Growth (production)
Result: 42 valid rules | Top lift 5.11x (Malabar Paratha bundle)</a:t>
            </a:r>
          </a:p>
        </p:txBody>
      </p:sp>
      <p:pic>
        <p:nvPicPr>
          <p:cNvPr id="7" name="Picture 6" descr="05_forecast_model_rmse_comparison.png"/>
          <p:cNvPicPr>
            <a:picLocks noChangeAspect="1"/>
          </p:cNvPicPr>
          <p:nvPr/>
        </p:nvPicPr>
        <p:blipFill>
          <a:blip r:embed="rId3"/>
          <a:stretch>
            <a:fillRect/>
          </a:stretch>
        </p:blipFill>
        <p:spPr>
          <a:xfrm>
            <a:off x="182880" y="3474720"/>
            <a:ext cx="4389120" cy="2560320"/>
          </a:xfrm>
          <a:prstGeom prst="rect">
            <a:avLst/>
          </a:prstGeom>
        </p:spPr>
      </p:pic>
      <p:pic>
        <p:nvPicPr>
          <p:cNvPr id="8" name="Picture 7" descr="09_top10_bundle_recommendations.png"/>
          <p:cNvPicPr>
            <a:picLocks noChangeAspect="1"/>
          </p:cNvPicPr>
          <p:nvPr/>
        </p:nvPicPr>
        <p:blipFill>
          <a:blip r:embed="rId4"/>
          <a:stretch>
            <a:fillRect/>
          </a:stretch>
        </p:blipFill>
        <p:spPr>
          <a:xfrm>
            <a:off x="4754880" y="3474720"/>
            <a:ext cx="4389120" cy="2560320"/>
          </a:xfrm>
          <a:prstGeom prst="rect">
            <a:avLst/>
          </a:prstGeom>
        </p:spPr>
      </p:pic>
    </p:spTree>
    <p:extLst>
      <p:ext uri="{BB962C8B-B14F-4D97-AF65-F5344CB8AC3E}">
        <p14:creationId xmlns:p14="http://schemas.microsoft.com/office/powerpoint/2010/main" val="1237099396"/>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sp>
        <p:nvSpPr>
          <p:cNvPr id="8" name="Rectangle 7">
            <a:extLst>
              <a:ext uri="{FF2B5EF4-FFF2-40B4-BE49-F238E27FC236}">
                <a16:creationId xmlns:a16="http://schemas.microsoft.com/office/drawing/2014/main" id="{D869BBDF-8FEE-4A35-9821-C8CF275E3863}"/>
              </a:ext>
            </a:extLst>
          </p:cNvPr>
          <p:cNvSpPr>
            <a:spLocks noGrp="1"/>
          </p:cNvSpPr>
          <p:nvPr/>
        </p:nvSpPr>
        <p:spPr>
          <a:xfrm>
            <a:off x="609600" y="342900"/>
            <a:ext cx="10477500" cy="285750"/>
          </a:xfrm>
          <a:prstGeom prst="rect">
            <a:avLst/>
          </a:prstGeom>
          <a:noFill/>
          <a:ln w="0">
            <a:noFill/>
            <a:prstDash val="solid"/>
          </a:ln>
        </p:spPr>
        <p:txBody>
          <a:bodyPr/>
          <a:lstStyle>
            <a:defPPr>
              <a:defRPr sz="1350" b="1">
                <a:solidFill>
                  <a:srgbClr val="157A80"/>
                </a:solidFill>
                <a:latin typeface="Arial"/>
                <a:ea typeface="Arial"/>
                <a:cs typeface="Arial"/>
              </a:defRPr>
            </a:defPPr>
          </a:lstStyle>
          <a:p>
            <a:pPr>
              <a:defRPr sz="1350" b="1">
                <a:solidFill>
                  <a:srgbClr val="157A80"/>
                </a:solidFill>
                <a:latin typeface="Arial"/>
                <a:ea typeface="Arial"/>
                <a:cs typeface="Arial"/>
              </a:defRPr>
            </a:pPr>
            <a:r>
              <a:rPr sz="1350" b="1">
                <a:solidFill>
                  <a:srgbClr val="157A80"/>
                </a:solidFill>
                <a:latin typeface="Arial"/>
                <a:ea typeface="Arial"/>
                <a:cs typeface="Arial"/>
              </a:rPr>
              <a:t>UNIT 3</a:t>
            </a:r>
          </a:p>
        </p:txBody>
      </p:sp>
      <p:sp>
        <p:nvSpPr>
          <p:cNvPr id="2" name="Rectangle 1">
            <a:extLst>
              <a:ext uri="{FF2B5EF4-FFF2-40B4-BE49-F238E27FC236}">
                <a16:creationId xmlns:a16="http://schemas.microsoft.com/office/drawing/2014/main" id="{FD2BBE01-1719-4C72-B8A4-45DC27F96536}"/>
              </a:ext>
            </a:extLst>
          </p:cNvPr>
          <p:cNvSpPr>
            <a:spLocks noGrp="1"/>
          </p:cNvSpPr>
          <p:nvPr/>
        </p:nvSpPr>
        <p:spPr>
          <a:xfrm>
            <a:off x="609600" y="838200"/>
            <a:ext cx="10972800" cy="857250"/>
          </a:xfrm>
          <a:prstGeom prst="rect">
            <a:avLst/>
          </a:prstGeom>
          <a:noFill/>
          <a:ln w="0">
            <a:noFill/>
            <a:prstDash val="solid"/>
          </a:ln>
        </p:spPr>
        <p:txBody>
          <a:bodyPr/>
          <a:lstStyle>
            <a:defPPr>
              <a:defRPr sz="3150" b="1">
                <a:solidFill>
                  <a:srgbClr val="142D4E"/>
                </a:solidFill>
                <a:latin typeface="Arial"/>
                <a:ea typeface="Arial"/>
                <a:cs typeface="Arial"/>
              </a:defRPr>
            </a:defPPr>
          </a:lstStyle>
          <a:p>
            <a:pPr>
              <a:defRPr sz="3150" b="1">
                <a:solidFill>
                  <a:srgbClr val="142D4E"/>
                </a:solidFill>
                <a:latin typeface="Arial"/>
                <a:ea typeface="Arial"/>
                <a:cs typeface="Arial"/>
              </a:defRPr>
            </a:pPr>
            <a:r>
              <a:rPr sz="3150" b="1">
                <a:solidFill>
                  <a:srgbClr val="142D4E"/>
                </a:solidFill>
                <a:latin typeface="Arial"/>
                <a:ea typeface="Arial"/>
                <a:cs typeface="Arial"/>
              </a:rPr>
              <a:t>Method 1 implementation</a:t>
            </a:r>
          </a:p>
        </p:txBody>
      </p:sp>
      <p:sp>
        <p:nvSpPr>
          <p:cNvPr id="3" name="Rectangle 2">
            <a:extLst>
              <a:ext uri="{FF2B5EF4-FFF2-40B4-BE49-F238E27FC236}">
                <a16:creationId xmlns:a16="http://schemas.microsoft.com/office/drawing/2014/main" id="{0FA7164B-B878-4DBD-809C-47ABFBDCAF5D}"/>
              </a:ext>
            </a:extLst>
          </p:cNvPr>
          <p:cNvSpPr>
            <a:spLocks noGrp="1"/>
          </p:cNvSpPr>
          <p:nvPr/>
        </p:nvSpPr>
        <p:spPr>
          <a:xfrm>
            <a:off x="10953750" y="6343650"/>
            <a:ext cx="619125" cy="238125"/>
          </a:xfrm>
          <a:prstGeom prst="rect">
            <a:avLst/>
          </a:prstGeom>
          <a:noFill/>
          <a:ln w="0">
            <a:noFill/>
            <a:prstDash val="solid"/>
          </a:ln>
        </p:spPr>
        <p:txBody>
          <a:bodyPr/>
          <a:lstStyle>
            <a:defPPr>
              <a:defRPr sz="1200" b="0">
                <a:solidFill>
                  <a:srgbClr val="66758A"/>
                </a:solidFill>
                <a:latin typeface="Arial"/>
                <a:ea typeface="Arial"/>
                <a:cs typeface="Arial"/>
              </a:defRPr>
            </a:defPPr>
          </a:lstStyle>
          <a:p>
            <a:pPr>
              <a:defRPr sz="1200" b="0">
                <a:solidFill>
                  <a:srgbClr val="66758A"/>
                </a:solidFill>
                <a:latin typeface="Arial"/>
                <a:ea typeface="Arial"/>
                <a:cs typeface="Arial"/>
              </a:defRPr>
            </a:pPr>
            <a:r>
              <a:rPr sz="1200" b="0">
                <a:solidFill>
                  <a:srgbClr val="66758A"/>
                </a:solidFill>
                <a:latin typeface="Arial"/>
                <a:ea typeface="Arial"/>
                <a:cs typeface="Arial"/>
              </a:rPr>
              <a:t>10</a:t>
            </a:r>
          </a:p>
        </p:txBody>
      </p:sp>
      <p:sp>
        <p:nvSpPr>
          <p:cNvPr id="4" name="Rectangle 3">
            <a:extLst>
              <a:ext uri="{FF2B5EF4-FFF2-40B4-BE49-F238E27FC236}">
                <a16:creationId xmlns:a16="http://schemas.microsoft.com/office/drawing/2014/main" id="{6B13C200-B169-49BC-BF61-D922B846709E}"/>
              </a:ext>
            </a:extLst>
          </p:cNvPr>
          <p:cNvSpPr>
            <a:spLocks noGrp="1"/>
          </p:cNvSpPr>
          <p:nvPr/>
        </p:nvSpPr>
        <p:spPr>
          <a:xfrm>
            <a:off x="685800" y="2019300"/>
            <a:ext cx="10668000" cy="685800"/>
          </a:xfrm>
          <a:prstGeom prst="rect">
            <a:avLst/>
          </a:prstGeom>
          <a:noFill/>
          <a:ln w="0">
            <a:noFill/>
            <a:prstDash val="solid"/>
          </a:ln>
        </p:spPr>
        <p:txBody>
          <a:bodyPr/>
          <a:lstStyle>
            <a:defPPr>
              <a:defRPr sz="2025" b="0">
                <a:solidFill>
                  <a:srgbClr val="233247"/>
                </a:solidFill>
                <a:latin typeface="Arial"/>
                <a:ea typeface="Arial"/>
                <a:cs typeface="Arial"/>
              </a:defRPr>
            </a:defPPr>
          </a:lstStyle>
          <a:p>
            <a:pPr>
              <a:defRPr sz="2025" b="0">
                <a:solidFill>
                  <a:srgbClr val="233247"/>
                </a:solidFill>
                <a:latin typeface="Arial"/>
                <a:ea typeface="Arial"/>
                <a:cs typeface="Arial"/>
              </a:defRPr>
            </a:pPr>
            <a:r>
              <a:rPr sz="2025" b="0">
                <a:solidFill>
                  <a:srgbClr val="233247"/>
                </a:solidFill>
                <a:latin typeface="Arial"/>
                <a:ea typeface="Arial"/>
                <a:cs typeface="Arial"/>
              </a:rPr>
              <a:t>Selected method: Time-Series Demand Forecasting
Purpose: Predict daily product demand to enable proactive dark store restocking.</a:t>
            </a:r>
          </a:p>
        </p:txBody>
      </p:sp>
      <p:sp>
        <p:nvSpPr>
          <p:cNvPr id="5" name="Rectangle 4">
            <a:extLst>
              <a:ext uri="{FF2B5EF4-FFF2-40B4-BE49-F238E27FC236}">
                <a16:creationId xmlns:a16="http://schemas.microsoft.com/office/drawing/2014/main" id="{54E5F75A-D3D1-435A-BCBD-8F48202A6F65}"/>
              </a:ext>
            </a:extLst>
          </p:cNvPr>
          <p:cNvSpPr>
            <a:spLocks noGrp="1"/>
          </p:cNvSpPr>
          <p:nvPr/>
        </p:nvSpPr>
        <p:spPr>
          <a:xfrm>
            <a:off x="685800" y="2838450"/>
            <a:ext cx="10668000" cy="685800"/>
          </a:xfrm>
          <a:prstGeom prst="rect">
            <a:avLst/>
          </a:prstGeom>
          <a:noFill/>
          <a:ln w="0">
            <a:noFill/>
            <a:prstDash val="solid"/>
          </a:ln>
        </p:spPr>
        <p:txBody>
          <a:bodyPr/>
          <a:lstStyle>
            <a:defPPr>
              <a:defRPr sz="2025" b="0">
                <a:solidFill>
                  <a:srgbClr val="233247"/>
                </a:solidFill>
                <a:latin typeface="Arial"/>
                <a:ea typeface="Arial"/>
                <a:cs typeface="Arial"/>
              </a:defRPr>
            </a:defPPr>
          </a:lstStyle>
          <a:p>
            <a:pPr>
              <a:defRPr sz="2025" b="0">
                <a:solidFill>
                  <a:srgbClr val="233247"/>
                </a:solidFill>
                <a:latin typeface="Arial"/>
                <a:ea typeface="Arial"/>
                <a:cs typeface="Arial"/>
              </a:defRPr>
            </a:pPr>
            <a:r>
              <a:rPr sz="2025" b="0">
                <a:solidFill>
                  <a:srgbClr val="233247"/>
                </a:solidFill>
                <a:latin typeface="Arial"/>
                <a:ea typeface="Arial"/>
                <a:cs typeface="Arial"/>
              </a:rPr>
              <a:t>Input: daily_aggregated_demand.csv — 183-day time series (Apr–Sep 2026)
Preparation: Lag features (lag_1,2,7,14), rolling mean/std (7,14-day),
calendar features (day_of_week, is_weekend, month, day_of_month)
Train: 153 days | Test: 30 days (Sep 2026) — strict temporal split</a:t>
            </a:r>
          </a:p>
        </p:txBody>
      </p:sp>
      <p:sp>
        <p:nvSpPr>
          <p:cNvPr id="6" name="Rectangle 5">
            <a:extLst>
              <a:ext uri="{FF2B5EF4-FFF2-40B4-BE49-F238E27FC236}">
                <a16:creationId xmlns:a16="http://schemas.microsoft.com/office/drawing/2014/main" id="{4695D477-8E18-4ECE-A35E-8096C2E64517}"/>
              </a:ext>
            </a:extLst>
          </p:cNvPr>
          <p:cNvSpPr>
            <a:spLocks noGrp="1"/>
          </p:cNvSpPr>
          <p:nvPr/>
        </p:nvSpPr>
        <p:spPr>
          <a:xfrm>
            <a:off x="685800" y="3657600"/>
            <a:ext cx="10668000" cy="685800"/>
          </a:xfrm>
          <a:prstGeom prst="rect">
            <a:avLst/>
          </a:prstGeom>
          <a:noFill/>
          <a:ln w="0">
            <a:noFill/>
            <a:prstDash val="solid"/>
          </a:ln>
        </p:spPr>
        <p:txBody>
          <a:bodyPr/>
          <a:lstStyle>
            <a:defPPr>
              <a:defRPr sz="2025" b="0">
                <a:solidFill>
                  <a:srgbClr val="233247"/>
                </a:solidFill>
                <a:latin typeface="Arial"/>
                <a:ea typeface="Arial"/>
                <a:cs typeface="Arial"/>
              </a:defRPr>
            </a:defPPr>
          </a:lstStyle>
          <a:p>
            <a:pPr>
              <a:defRPr sz="2025" b="0">
                <a:solidFill>
                  <a:srgbClr val="233247"/>
                </a:solidFill>
                <a:latin typeface="Arial"/>
                <a:ea typeface="Arial"/>
                <a:cs typeface="Arial"/>
              </a:defRPr>
            </a:pPr>
            <a:r>
              <a:rPr sz="2025" b="0">
                <a:solidFill>
                  <a:srgbClr val="233247"/>
                </a:solidFill>
                <a:latin typeface="Arial"/>
                <a:ea typeface="Arial"/>
                <a:cs typeface="Arial"/>
              </a:rPr>
              <a:t>Algorithms: Naive, Seasonal-Naive, 7-day Moving Average, Holt-Winters
(alpha=auto, beta=auto, additive), SARIMA(1,1,1)(1,1,1,7) (auto-tuned),
XGBoost Regressor (n_estimators=300, max_depth=5, learning_rate=0.05)
Tools: Python, scikit-learn, statsmodels, xgboost, pandas, matplotlib</a:t>
            </a:r>
          </a:p>
        </p:txBody>
      </p:sp>
      <p:sp>
        <p:nvSpPr>
          <p:cNvPr id="7" name="Rectangle 6">
            <a:extLst>
              <a:ext uri="{FF2B5EF4-FFF2-40B4-BE49-F238E27FC236}">
                <a16:creationId xmlns:a16="http://schemas.microsoft.com/office/drawing/2014/main" id="{CFE21DF4-4D18-4483-A88C-629FCF536B12}"/>
              </a:ext>
            </a:extLst>
          </p:cNvPr>
          <p:cNvSpPr>
            <a:spLocks noGrp="1"/>
          </p:cNvSpPr>
          <p:nvPr/>
        </p:nvSpPr>
        <p:spPr>
          <a:xfrm>
            <a:off x="685800" y="4476750"/>
            <a:ext cx="10668000" cy="685800"/>
          </a:xfrm>
          <a:prstGeom prst="rect">
            <a:avLst/>
          </a:prstGeom>
          <a:noFill/>
          <a:ln w="0">
            <a:noFill/>
            <a:prstDash val="solid"/>
          </a:ln>
        </p:spPr>
        <p:txBody>
          <a:bodyPr/>
          <a:lstStyle>
            <a:defPPr>
              <a:defRPr sz="2025" b="0">
                <a:solidFill>
                  <a:srgbClr val="233247"/>
                </a:solidFill>
                <a:latin typeface="Arial"/>
                <a:ea typeface="Arial"/>
                <a:cs typeface="Arial"/>
              </a:defRPr>
            </a:defPPr>
          </a:lstStyle>
          <a:p>
            <a:pPr>
              <a:defRPr sz="2025" b="0">
                <a:solidFill>
                  <a:srgbClr val="233247"/>
                </a:solidFill>
                <a:latin typeface="Arial"/>
                <a:ea typeface="Arial"/>
                <a:cs typeface="Arial"/>
              </a:defRPr>
            </a:pPr>
            <a:r>
              <a:rPr sz="2025" b="0">
                <a:solidFill>
                  <a:srgbClr val="233247"/>
                </a:solidFill>
                <a:latin typeface="Arial"/>
                <a:ea typeface="Arial"/>
                <a:cs typeface="Arial"/>
              </a:rPr>
              <a:t>Output:
• 30-day Sep 2026 forecast series per model (JSON + CSV)
• Model comparison table (RMSE, MAE, WAPE)
• XGBoost feature importance chart
• Recommendation: stock +35% dairy ahead of weekends</a:t>
            </a:r>
          </a:p>
        </p:txBody>
      </p:sp>
    </p:spTree>
    <p:extLst>
      <p:ext uri="{BB962C8B-B14F-4D97-AF65-F5344CB8AC3E}">
        <p14:creationId xmlns:p14="http://schemas.microsoft.com/office/powerpoint/2010/main" val="68023445"/>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sp>
        <p:nvSpPr>
          <p:cNvPr id="7" name="Rectangle 6">
            <a:extLst>
              <a:ext uri="{FF2B5EF4-FFF2-40B4-BE49-F238E27FC236}">
                <a16:creationId xmlns:a16="http://schemas.microsoft.com/office/drawing/2014/main" id="{CBA0D3AE-4AF7-4CC4-8F37-1474DB9B9BA5}"/>
              </a:ext>
            </a:extLst>
          </p:cNvPr>
          <p:cNvSpPr>
            <a:spLocks noGrp="1"/>
          </p:cNvSpPr>
          <p:nvPr/>
        </p:nvSpPr>
        <p:spPr>
          <a:xfrm>
            <a:off x="609600" y="342900"/>
            <a:ext cx="10477500" cy="285750"/>
          </a:xfrm>
          <a:prstGeom prst="rect">
            <a:avLst/>
          </a:prstGeom>
          <a:noFill/>
          <a:ln w="0">
            <a:noFill/>
            <a:prstDash val="solid"/>
          </a:ln>
        </p:spPr>
        <p:txBody>
          <a:bodyPr/>
          <a:lstStyle>
            <a:defPPr>
              <a:defRPr sz="1350" b="1">
                <a:solidFill>
                  <a:srgbClr val="157A80"/>
                </a:solidFill>
                <a:latin typeface="Arial"/>
                <a:ea typeface="Arial"/>
                <a:cs typeface="Arial"/>
              </a:defRPr>
            </a:defPPr>
          </a:lstStyle>
          <a:p>
            <a:pPr>
              <a:defRPr sz="1350" b="1">
                <a:solidFill>
                  <a:srgbClr val="157A80"/>
                </a:solidFill>
                <a:latin typeface="Arial"/>
                <a:ea typeface="Arial"/>
                <a:cs typeface="Arial"/>
              </a:defRPr>
            </a:pPr>
            <a:r>
              <a:rPr sz="1350" b="1">
                <a:solidFill>
                  <a:srgbClr val="157A80"/>
                </a:solidFill>
                <a:latin typeface="Arial"/>
                <a:ea typeface="Arial"/>
                <a:cs typeface="Arial"/>
              </a:rPr>
              <a:t>UNIT 3</a:t>
            </a:r>
          </a:p>
        </p:txBody>
      </p:sp>
      <p:sp>
        <p:nvSpPr>
          <p:cNvPr id="2" name="Rectangle 1">
            <a:extLst>
              <a:ext uri="{FF2B5EF4-FFF2-40B4-BE49-F238E27FC236}">
                <a16:creationId xmlns:a16="http://schemas.microsoft.com/office/drawing/2014/main" id="{78BB2EEA-EA2C-4AF7-AF01-C4956469B876}"/>
              </a:ext>
            </a:extLst>
          </p:cNvPr>
          <p:cNvSpPr>
            <a:spLocks noGrp="1"/>
          </p:cNvSpPr>
          <p:nvPr/>
        </p:nvSpPr>
        <p:spPr>
          <a:xfrm>
            <a:off x="609600" y="838200"/>
            <a:ext cx="10972800" cy="857250"/>
          </a:xfrm>
          <a:prstGeom prst="rect">
            <a:avLst/>
          </a:prstGeom>
          <a:noFill/>
          <a:ln w="0">
            <a:noFill/>
            <a:prstDash val="solid"/>
          </a:ln>
        </p:spPr>
        <p:txBody>
          <a:bodyPr/>
          <a:lstStyle>
            <a:defPPr>
              <a:defRPr sz="3150" b="1">
                <a:solidFill>
                  <a:srgbClr val="142D4E"/>
                </a:solidFill>
                <a:latin typeface="Arial"/>
                <a:ea typeface="Arial"/>
                <a:cs typeface="Arial"/>
              </a:defRPr>
            </a:defPPr>
          </a:lstStyle>
          <a:p>
            <a:pPr>
              <a:defRPr sz="3150" b="1">
                <a:solidFill>
                  <a:srgbClr val="142D4E"/>
                </a:solidFill>
                <a:latin typeface="Arial"/>
                <a:ea typeface="Arial"/>
                <a:cs typeface="Arial"/>
              </a:defRPr>
            </a:pPr>
            <a:r>
              <a:rPr sz="3150" b="1">
                <a:solidFill>
                  <a:srgbClr val="142D4E"/>
                </a:solidFill>
                <a:latin typeface="Arial"/>
                <a:ea typeface="Arial"/>
                <a:cs typeface="Arial"/>
              </a:rPr>
              <a:t>Method 1 evaluation and comparison</a:t>
            </a:r>
          </a:p>
        </p:txBody>
      </p:sp>
      <p:sp>
        <p:nvSpPr>
          <p:cNvPr id="3" name="Rectangle 2">
            <a:extLst>
              <a:ext uri="{FF2B5EF4-FFF2-40B4-BE49-F238E27FC236}">
                <a16:creationId xmlns:a16="http://schemas.microsoft.com/office/drawing/2014/main" id="{8695F8C2-A08E-4AA5-A111-378AE00DBA0C}"/>
              </a:ext>
            </a:extLst>
          </p:cNvPr>
          <p:cNvSpPr>
            <a:spLocks noGrp="1"/>
          </p:cNvSpPr>
          <p:nvPr/>
        </p:nvSpPr>
        <p:spPr>
          <a:xfrm>
            <a:off x="10953750" y="6343650"/>
            <a:ext cx="619125" cy="238125"/>
          </a:xfrm>
          <a:prstGeom prst="rect">
            <a:avLst/>
          </a:prstGeom>
          <a:noFill/>
          <a:ln w="0">
            <a:noFill/>
            <a:prstDash val="solid"/>
          </a:ln>
        </p:spPr>
        <p:txBody>
          <a:bodyPr/>
          <a:lstStyle>
            <a:defPPr>
              <a:defRPr sz="1200" b="0">
                <a:solidFill>
                  <a:srgbClr val="66758A"/>
                </a:solidFill>
                <a:latin typeface="Arial"/>
                <a:ea typeface="Arial"/>
                <a:cs typeface="Arial"/>
              </a:defRPr>
            </a:defPPr>
          </a:lstStyle>
          <a:p>
            <a:pPr>
              <a:defRPr sz="1200" b="0">
                <a:solidFill>
                  <a:srgbClr val="66758A"/>
                </a:solidFill>
                <a:latin typeface="Arial"/>
                <a:ea typeface="Arial"/>
                <a:cs typeface="Arial"/>
              </a:defRPr>
            </a:pPr>
            <a:r>
              <a:rPr sz="1200" b="0">
                <a:solidFill>
                  <a:srgbClr val="66758A"/>
                </a:solidFill>
                <a:latin typeface="Arial"/>
                <a:ea typeface="Arial"/>
                <a:cs typeface="Arial"/>
              </a:rPr>
              <a:t>11</a:t>
            </a:r>
          </a:p>
        </p:txBody>
      </p:sp>
      <p:graphicFrame>
        <p:nvGraphicFramePr>
          <p:cNvPr id="4" name="Table 3">
            <a:extLst>
              <a:ext uri="{FF2B5EF4-FFF2-40B4-BE49-F238E27FC236}">
                <a16:creationId xmlns:a16="http://schemas.microsoft.com/office/drawing/2014/main" id="{664F9693-7496-4F1A-816E-0D86D969D454}"/>
              </a:ext>
            </a:extLst>
          </p:cNvPr>
          <p:cNvGraphicFramePr/>
          <p:nvPr/>
        </p:nvGraphicFramePr>
        <p:xfrm>
          <a:off x="609600" y="2047875"/>
          <a:ext cx="10972800" cy="2095500"/>
        </p:xfrm>
        <a:graphic>
          <a:graphicData uri="http://schemas.openxmlformats.org/drawingml/2006/table">
            <a:tbl>
              <a:tblPr/>
              <a:tblGrid>
                <a:gridCol w="4000500">
                  <a:extLst>
                    <a:ext uri="{9D8B030D-6E8A-4147-A177-3AD203B41FA5}">
                      <a16:colId xmlns:a16="http://schemas.microsoft.com/office/drawing/2014/main" val="20000"/>
                    </a:ext>
                  </a:extLst>
                </a:gridCol>
                <a:gridCol w="2324100">
                  <a:extLst>
                    <a:ext uri="{9D8B030D-6E8A-4147-A177-3AD203B41FA5}">
                      <a16:colId xmlns:a16="http://schemas.microsoft.com/office/drawing/2014/main" val="20001"/>
                    </a:ext>
                  </a:extLst>
                </a:gridCol>
                <a:gridCol w="2324100">
                  <a:extLst>
                    <a:ext uri="{9D8B030D-6E8A-4147-A177-3AD203B41FA5}">
                      <a16:colId xmlns:a16="http://schemas.microsoft.com/office/drawing/2014/main" val="20002"/>
                    </a:ext>
                  </a:extLst>
                </a:gridCol>
                <a:gridCol w="2324100">
                  <a:extLst>
                    <a:ext uri="{9D8B030D-6E8A-4147-A177-3AD203B41FA5}">
                      <a16:colId xmlns:a16="http://schemas.microsoft.com/office/drawing/2014/main" val="20003"/>
                    </a:ext>
                  </a:extLst>
                </a:gridCol>
              </a:tblGrid>
              <a:tr h="698500">
                <a:tc>
                  <a:txBody>
                    <a:bodyPr/>
                    <a:lstStyle/>
                    <a:p>
                      <a:r>
                        <a:rPr sz="1650" b="1">
                          <a:solidFill>
                            <a:srgbClr val="FFFFFF"/>
                          </a:solidFill>
                          <a:latin typeface="Arial"/>
                          <a:ea typeface="Arial"/>
                          <a:cs typeface="Arial"/>
                        </a:rPr>
                        <a:t>Approach / configuration</a:t>
                      </a:r>
                    </a:p>
                  </a:txBody>
                  <a:tcPr>
                    <a:lnL w="9525">
                      <a:solidFill>
                        <a:srgbClr val="CDD7DF"/>
                      </a:solidFill>
                      <a:prstDash val="solid"/>
                    </a:lnL>
                    <a:lnR w="9525">
                      <a:solidFill>
                        <a:srgbClr val="CDD7DF"/>
                      </a:solidFill>
                      <a:prstDash val="solid"/>
                    </a:lnR>
                    <a:lnT w="9525">
                      <a:solidFill>
                        <a:srgbClr val="CDD7DF"/>
                      </a:solidFill>
                      <a:prstDash val="solid"/>
                    </a:lnT>
                    <a:lnB w="9525">
                      <a:solidFill>
                        <a:srgbClr val="CDD7DF"/>
                      </a:solidFill>
                      <a:prstDash val="solid"/>
                    </a:lnB>
                    <a:solidFill>
                      <a:srgbClr val="142D4E"/>
                    </a:solidFill>
                  </a:tcPr>
                </a:tc>
                <a:tc>
                  <a:txBody>
                    <a:bodyPr/>
                    <a:lstStyle/>
                    <a:p>
                      <a:r>
                        <a:rPr sz="1650" b="1">
                          <a:solidFill>
                            <a:srgbClr val="FFFFFF"/>
                          </a:solidFill>
                          <a:latin typeface="Arial"/>
                          <a:ea typeface="Arial"/>
                          <a:cs typeface="Arial"/>
                        </a:rPr>
                        <a:t>[Metric 1]</a:t>
                      </a:r>
                    </a:p>
                  </a:txBody>
                  <a:tcPr>
                    <a:lnL w="9525" cap="flat" cmpd="sng" algn="ctr">
                      <a:solidFill>
                        <a:srgbClr val="CDD7DF"/>
                      </a:solidFill>
                      <a:prstDash val="solid"/>
                      <a:round/>
                      <a:headEnd type="none" w="med" len="med"/>
                      <a:tailEnd type="none" w="med" len="med"/>
                    </a:lnL>
                    <a:lnR w="9525">
                      <a:solidFill>
                        <a:srgbClr val="CDD7DF"/>
                      </a:solidFill>
                      <a:prstDash val="solid"/>
                    </a:lnR>
                    <a:lnT w="9525">
                      <a:solidFill>
                        <a:srgbClr val="CDD7DF"/>
                      </a:solidFill>
                      <a:prstDash val="solid"/>
                    </a:lnT>
                    <a:lnB w="9525">
                      <a:solidFill>
                        <a:srgbClr val="CDD7DF"/>
                      </a:solidFill>
                      <a:prstDash val="solid"/>
                    </a:lnB>
                    <a:solidFill>
                      <a:srgbClr val="142D4E"/>
                    </a:solidFill>
                  </a:tcPr>
                </a:tc>
                <a:tc>
                  <a:txBody>
                    <a:bodyPr/>
                    <a:lstStyle/>
                    <a:p>
                      <a:r>
                        <a:rPr sz="1650" b="1">
                          <a:solidFill>
                            <a:srgbClr val="FFFFFF"/>
                          </a:solidFill>
                          <a:latin typeface="Arial"/>
                          <a:ea typeface="Arial"/>
                          <a:cs typeface="Arial"/>
                        </a:rPr>
                        <a:t>[Metric 2]</a:t>
                      </a:r>
                    </a:p>
                  </a:txBody>
                  <a:tcPr>
                    <a:lnL w="9525" cap="flat" cmpd="sng" algn="ctr">
                      <a:solidFill>
                        <a:srgbClr val="CDD7DF"/>
                      </a:solidFill>
                      <a:prstDash val="solid"/>
                      <a:round/>
                      <a:headEnd type="none" w="med" len="med"/>
                      <a:tailEnd type="none" w="med" len="med"/>
                    </a:lnL>
                    <a:lnR w="9525">
                      <a:solidFill>
                        <a:srgbClr val="CDD7DF"/>
                      </a:solidFill>
                      <a:prstDash val="solid"/>
                    </a:lnR>
                    <a:lnT w="9525">
                      <a:solidFill>
                        <a:srgbClr val="CDD7DF"/>
                      </a:solidFill>
                      <a:prstDash val="solid"/>
                    </a:lnT>
                    <a:lnB w="9525">
                      <a:solidFill>
                        <a:srgbClr val="CDD7DF"/>
                      </a:solidFill>
                      <a:prstDash val="solid"/>
                    </a:lnB>
                    <a:solidFill>
                      <a:srgbClr val="142D4E"/>
                    </a:solidFill>
                  </a:tcPr>
                </a:tc>
                <a:tc>
                  <a:txBody>
                    <a:bodyPr/>
                    <a:lstStyle/>
                    <a:p>
                      <a:r>
                        <a:rPr sz="1650" b="1">
                          <a:solidFill>
                            <a:srgbClr val="FFFFFF"/>
                          </a:solidFill>
                          <a:latin typeface="Arial"/>
                          <a:ea typeface="Arial"/>
                          <a:cs typeface="Arial"/>
                        </a:rPr>
                        <a:t>[Metric 3]</a:t>
                      </a:r>
                    </a:p>
                  </a:txBody>
                  <a:tcPr>
                    <a:lnL w="9525" cap="flat" cmpd="sng" algn="ctr">
                      <a:solidFill>
                        <a:srgbClr val="CDD7DF"/>
                      </a:solidFill>
                      <a:prstDash val="solid"/>
                      <a:round/>
                      <a:headEnd type="none" w="med" len="med"/>
                      <a:tailEnd type="none" w="med" len="med"/>
                    </a:lnL>
                    <a:lnR w="9525">
                      <a:solidFill>
                        <a:srgbClr val="CDD7DF"/>
                      </a:solidFill>
                      <a:prstDash val="solid"/>
                    </a:lnR>
                    <a:lnT w="9525">
                      <a:solidFill>
                        <a:srgbClr val="CDD7DF"/>
                      </a:solidFill>
                      <a:prstDash val="solid"/>
                    </a:lnT>
                    <a:lnB w="9525">
                      <a:solidFill>
                        <a:srgbClr val="CDD7DF"/>
                      </a:solidFill>
                      <a:prstDash val="solid"/>
                    </a:lnB>
                    <a:solidFill>
                      <a:srgbClr val="142D4E"/>
                    </a:solidFill>
                  </a:tcPr>
                </a:tc>
                <a:extLst>
                  <a:ext uri="{0D108BD9-81ED-4DB2-BD59-A6C34878D82A}">
                    <a16:rowId xmlns:a16="http://schemas.microsoft.com/office/drawing/2014/main" val="10000"/>
                  </a:ext>
                </a:extLst>
              </a:tr>
              <a:tr h="698500">
                <a:tc>
                  <a:txBody>
                    <a:bodyPr/>
                    <a:lstStyle/>
                    <a:p>
                      <a:r>
                        <a:rPr sz="1650" b="0">
                          <a:solidFill>
                            <a:srgbClr val="233247"/>
                          </a:solidFill>
                          <a:latin typeface="Arial"/>
                          <a:ea typeface="Arial"/>
                          <a:cs typeface="Arial"/>
                        </a:rPr>
                        <a:t>[Approach A]</a:t>
                      </a:r>
                    </a:p>
                  </a:txBody>
                  <a:tcPr>
                    <a:lnL w="9525">
                      <a:solidFill>
                        <a:srgbClr val="CDD7DF"/>
                      </a:solidFill>
                      <a:prstDash val="solid"/>
                    </a:lnL>
                    <a:lnR w="9525">
                      <a:solidFill>
                        <a:srgbClr val="CDD7DF"/>
                      </a:solidFill>
                      <a:prstDash val="solid"/>
                    </a:lnR>
                    <a:lnT w="9525" cap="flat" cmpd="sng" algn="ctr">
                      <a:solidFill>
                        <a:srgbClr val="CDD7DF"/>
                      </a:solidFill>
                      <a:prstDash val="solid"/>
                      <a:round/>
                      <a:headEnd type="none" w="med" len="med"/>
                      <a:tailEnd type="none" w="med" len="med"/>
                    </a:lnT>
                    <a:lnB w="9525">
                      <a:solidFill>
                        <a:srgbClr val="CDD7DF"/>
                      </a:solidFill>
                      <a:prstDash val="solid"/>
                    </a:lnB>
                    <a:solidFill>
                      <a:srgbClr val="F0F5F7"/>
                    </a:solidFill>
                  </a:tcPr>
                </a:tc>
                <a:tc>
                  <a:txBody>
                    <a:bodyPr/>
                    <a:lstStyle/>
                    <a:p>
                      <a:r>
                        <a:rPr sz="1650" b="0">
                          <a:solidFill>
                            <a:srgbClr val="233247"/>
                          </a:solidFill>
                          <a:latin typeface="Arial"/>
                          <a:ea typeface="Arial"/>
                          <a:cs typeface="Arial"/>
                        </a:rPr>
                        <a:t>[Final result]</a:t>
                      </a:r>
                    </a:p>
                  </a:txBody>
                  <a:tcPr>
                    <a:lnL w="9525" cap="flat" cmpd="sng" algn="ctr">
                      <a:solidFill>
                        <a:srgbClr val="CDD7DF"/>
                      </a:solidFill>
                      <a:prstDash val="solid"/>
                      <a:round/>
                      <a:headEnd type="none" w="med" len="med"/>
                      <a:tailEnd type="none" w="med" len="med"/>
                    </a:lnL>
                    <a:lnR w="9525">
                      <a:solidFill>
                        <a:srgbClr val="CDD7DF"/>
                      </a:solidFill>
                      <a:prstDash val="solid"/>
                    </a:lnR>
                    <a:lnT w="9525" cap="flat" cmpd="sng" algn="ctr">
                      <a:solidFill>
                        <a:srgbClr val="CDD7DF"/>
                      </a:solidFill>
                      <a:prstDash val="solid"/>
                      <a:round/>
                      <a:headEnd type="none" w="med" len="med"/>
                      <a:tailEnd type="none" w="med" len="med"/>
                    </a:lnT>
                    <a:lnB w="9525">
                      <a:solidFill>
                        <a:srgbClr val="CDD7DF"/>
                      </a:solidFill>
                      <a:prstDash val="solid"/>
                    </a:lnB>
                    <a:solidFill>
                      <a:srgbClr val="F0F5F7"/>
                    </a:solidFill>
                  </a:tcPr>
                </a:tc>
                <a:tc>
                  <a:txBody>
                    <a:bodyPr/>
                    <a:lstStyle/>
                    <a:p>
                      <a:r>
                        <a:rPr sz="1650" b="0">
                          <a:solidFill>
                            <a:srgbClr val="233247"/>
                          </a:solidFill>
                          <a:latin typeface="Arial"/>
                          <a:ea typeface="Arial"/>
                          <a:cs typeface="Arial"/>
                        </a:rPr>
                        <a:t>[Final result]</a:t>
                      </a:r>
                    </a:p>
                  </a:txBody>
                  <a:tcPr>
                    <a:lnL w="9525" cap="flat" cmpd="sng" algn="ctr">
                      <a:solidFill>
                        <a:srgbClr val="CDD7DF"/>
                      </a:solidFill>
                      <a:prstDash val="solid"/>
                      <a:round/>
                      <a:headEnd type="none" w="med" len="med"/>
                      <a:tailEnd type="none" w="med" len="med"/>
                    </a:lnL>
                    <a:lnR w="9525">
                      <a:solidFill>
                        <a:srgbClr val="CDD7DF"/>
                      </a:solidFill>
                      <a:prstDash val="solid"/>
                    </a:lnR>
                    <a:lnT w="9525" cap="flat" cmpd="sng" algn="ctr">
                      <a:solidFill>
                        <a:srgbClr val="CDD7DF"/>
                      </a:solidFill>
                      <a:prstDash val="solid"/>
                      <a:round/>
                      <a:headEnd type="none" w="med" len="med"/>
                      <a:tailEnd type="none" w="med" len="med"/>
                    </a:lnT>
                    <a:lnB w="9525">
                      <a:solidFill>
                        <a:srgbClr val="CDD7DF"/>
                      </a:solidFill>
                      <a:prstDash val="solid"/>
                    </a:lnB>
                    <a:solidFill>
                      <a:srgbClr val="F0F5F7"/>
                    </a:solidFill>
                  </a:tcPr>
                </a:tc>
                <a:tc>
                  <a:txBody>
                    <a:bodyPr/>
                    <a:lstStyle/>
                    <a:p>
                      <a:r>
                        <a:rPr sz="1650" b="0">
                          <a:solidFill>
                            <a:srgbClr val="233247"/>
                          </a:solidFill>
                          <a:latin typeface="Arial"/>
                          <a:ea typeface="Arial"/>
                          <a:cs typeface="Arial"/>
                        </a:rPr>
                        <a:t>[Final result]</a:t>
                      </a:r>
                    </a:p>
                  </a:txBody>
                  <a:tcPr>
                    <a:lnL w="9525" cap="flat" cmpd="sng" algn="ctr">
                      <a:solidFill>
                        <a:srgbClr val="CDD7DF"/>
                      </a:solidFill>
                      <a:prstDash val="solid"/>
                      <a:round/>
                      <a:headEnd type="none" w="med" len="med"/>
                      <a:tailEnd type="none" w="med" len="med"/>
                    </a:lnL>
                    <a:lnR w="9525">
                      <a:solidFill>
                        <a:srgbClr val="CDD7DF"/>
                      </a:solidFill>
                      <a:prstDash val="solid"/>
                    </a:lnR>
                    <a:lnT w="9525" cap="flat" cmpd="sng" algn="ctr">
                      <a:solidFill>
                        <a:srgbClr val="CDD7DF"/>
                      </a:solidFill>
                      <a:prstDash val="solid"/>
                      <a:round/>
                      <a:headEnd type="none" w="med" len="med"/>
                      <a:tailEnd type="none" w="med" len="med"/>
                    </a:lnT>
                    <a:lnB w="9525">
                      <a:solidFill>
                        <a:srgbClr val="CDD7DF"/>
                      </a:solidFill>
                      <a:prstDash val="solid"/>
                    </a:lnB>
                    <a:solidFill>
                      <a:srgbClr val="F0F5F7"/>
                    </a:solidFill>
                  </a:tcPr>
                </a:tc>
                <a:extLst>
                  <a:ext uri="{0D108BD9-81ED-4DB2-BD59-A6C34878D82A}">
                    <a16:rowId xmlns:a16="http://schemas.microsoft.com/office/drawing/2014/main" val="10001"/>
                  </a:ext>
                </a:extLst>
              </a:tr>
              <a:tr h="698500">
                <a:tc>
                  <a:txBody>
                    <a:bodyPr/>
                    <a:lstStyle/>
                    <a:p>
                      <a:r>
                        <a:rPr sz="1650" b="0">
                          <a:solidFill>
                            <a:srgbClr val="233247"/>
                          </a:solidFill>
                          <a:latin typeface="Arial"/>
                          <a:ea typeface="Arial"/>
                          <a:cs typeface="Arial"/>
                        </a:rPr>
                        <a:t>[Approach B]</a:t>
                      </a:r>
                    </a:p>
                  </a:txBody>
                  <a:tcPr>
                    <a:lnL w="9525">
                      <a:solidFill>
                        <a:srgbClr val="CDD7DF"/>
                      </a:solidFill>
                      <a:prstDash val="solid"/>
                    </a:lnL>
                    <a:lnR w="9525">
                      <a:solidFill>
                        <a:srgbClr val="CDD7DF"/>
                      </a:solidFill>
                      <a:prstDash val="solid"/>
                    </a:lnR>
                    <a:lnT w="9525" cap="flat" cmpd="sng" algn="ctr">
                      <a:solidFill>
                        <a:srgbClr val="CDD7DF"/>
                      </a:solidFill>
                      <a:prstDash val="solid"/>
                      <a:round/>
                      <a:headEnd type="none" w="med" len="med"/>
                      <a:tailEnd type="none" w="med" len="med"/>
                    </a:lnT>
                    <a:lnB w="9525">
                      <a:solidFill>
                        <a:srgbClr val="CDD7DF"/>
                      </a:solidFill>
                      <a:prstDash val="solid"/>
                    </a:lnB>
                    <a:solidFill>
                      <a:srgbClr val="FFFFFF"/>
                    </a:solidFill>
                  </a:tcPr>
                </a:tc>
                <a:tc>
                  <a:txBody>
                    <a:bodyPr/>
                    <a:lstStyle/>
                    <a:p>
                      <a:r>
                        <a:rPr sz="1650" b="0">
                          <a:solidFill>
                            <a:srgbClr val="233247"/>
                          </a:solidFill>
                          <a:latin typeface="Arial"/>
                          <a:ea typeface="Arial"/>
                          <a:cs typeface="Arial"/>
                        </a:rPr>
                        <a:t>[Final result]</a:t>
                      </a:r>
                    </a:p>
                  </a:txBody>
                  <a:tcPr>
                    <a:lnL w="9525" cap="flat" cmpd="sng" algn="ctr">
                      <a:solidFill>
                        <a:srgbClr val="CDD7DF"/>
                      </a:solidFill>
                      <a:prstDash val="solid"/>
                      <a:round/>
                      <a:headEnd type="none" w="med" len="med"/>
                      <a:tailEnd type="none" w="med" len="med"/>
                    </a:lnL>
                    <a:lnR w="9525">
                      <a:solidFill>
                        <a:srgbClr val="CDD7DF"/>
                      </a:solidFill>
                      <a:prstDash val="solid"/>
                    </a:lnR>
                    <a:lnT w="9525" cap="flat" cmpd="sng" algn="ctr">
                      <a:solidFill>
                        <a:srgbClr val="CDD7DF"/>
                      </a:solidFill>
                      <a:prstDash val="solid"/>
                      <a:round/>
                      <a:headEnd type="none" w="med" len="med"/>
                      <a:tailEnd type="none" w="med" len="med"/>
                    </a:lnT>
                    <a:lnB w="9525">
                      <a:solidFill>
                        <a:srgbClr val="CDD7DF"/>
                      </a:solidFill>
                      <a:prstDash val="solid"/>
                    </a:lnB>
                    <a:solidFill>
                      <a:srgbClr val="FFFFFF"/>
                    </a:solidFill>
                  </a:tcPr>
                </a:tc>
                <a:tc>
                  <a:txBody>
                    <a:bodyPr/>
                    <a:lstStyle/>
                    <a:p>
                      <a:r>
                        <a:rPr sz="1650" b="0">
                          <a:solidFill>
                            <a:srgbClr val="233247"/>
                          </a:solidFill>
                          <a:latin typeface="Arial"/>
                          <a:ea typeface="Arial"/>
                          <a:cs typeface="Arial"/>
                        </a:rPr>
                        <a:t>[Final result]</a:t>
                      </a:r>
                    </a:p>
                  </a:txBody>
                  <a:tcPr>
                    <a:lnL w="9525" cap="flat" cmpd="sng" algn="ctr">
                      <a:solidFill>
                        <a:srgbClr val="CDD7DF"/>
                      </a:solidFill>
                      <a:prstDash val="solid"/>
                      <a:round/>
                      <a:headEnd type="none" w="med" len="med"/>
                      <a:tailEnd type="none" w="med" len="med"/>
                    </a:lnL>
                    <a:lnR w="9525">
                      <a:solidFill>
                        <a:srgbClr val="CDD7DF"/>
                      </a:solidFill>
                      <a:prstDash val="solid"/>
                    </a:lnR>
                    <a:lnT w="9525" cap="flat" cmpd="sng" algn="ctr">
                      <a:solidFill>
                        <a:srgbClr val="CDD7DF"/>
                      </a:solidFill>
                      <a:prstDash val="solid"/>
                      <a:round/>
                      <a:headEnd type="none" w="med" len="med"/>
                      <a:tailEnd type="none" w="med" len="med"/>
                    </a:lnT>
                    <a:lnB w="9525">
                      <a:solidFill>
                        <a:srgbClr val="CDD7DF"/>
                      </a:solidFill>
                      <a:prstDash val="solid"/>
                    </a:lnB>
                    <a:solidFill>
                      <a:srgbClr val="FFFFFF"/>
                    </a:solidFill>
                  </a:tcPr>
                </a:tc>
                <a:tc>
                  <a:txBody>
                    <a:bodyPr/>
                    <a:lstStyle/>
                    <a:p>
                      <a:r>
                        <a:rPr sz="1650" b="0">
                          <a:solidFill>
                            <a:srgbClr val="233247"/>
                          </a:solidFill>
                          <a:latin typeface="Arial"/>
                          <a:ea typeface="Arial"/>
                          <a:cs typeface="Arial"/>
                        </a:rPr>
                        <a:t>[Final result]</a:t>
                      </a:r>
                    </a:p>
                  </a:txBody>
                  <a:tcPr>
                    <a:lnL w="9525" cap="flat" cmpd="sng" algn="ctr">
                      <a:solidFill>
                        <a:srgbClr val="CDD7DF"/>
                      </a:solidFill>
                      <a:prstDash val="solid"/>
                      <a:round/>
                      <a:headEnd type="none" w="med" len="med"/>
                      <a:tailEnd type="none" w="med" len="med"/>
                    </a:lnL>
                    <a:lnR w="9525">
                      <a:solidFill>
                        <a:srgbClr val="CDD7DF"/>
                      </a:solidFill>
                      <a:prstDash val="solid"/>
                    </a:lnR>
                    <a:lnT w="9525" cap="flat" cmpd="sng" algn="ctr">
                      <a:solidFill>
                        <a:srgbClr val="CDD7DF"/>
                      </a:solidFill>
                      <a:prstDash val="solid"/>
                      <a:round/>
                      <a:headEnd type="none" w="med" len="med"/>
                      <a:tailEnd type="none" w="med" len="med"/>
                    </a:lnT>
                    <a:lnB w="9525">
                      <a:solidFill>
                        <a:srgbClr val="CDD7DF"/>
                      </a:solidFill>
                      <a:prstDash val="solid"/>
                    </a:lnB>
                    <a:solidFill>
                      <a:srgbClr val="FFFFFF"/>
                    </a:solidFill>
                  </a:tcPr>
                </a:tc>
                <a:extLst>
                  <a:ext uri="{0D108BD9-81ED-4DB2-BD59-A6C34878D82A}">
                    <a16:rowId xmlns:a16="http://schemas.microsoft.com/office/drawing/2014/main" val="10002"/>
                  </a:ext>
                </a:extLst>
              </a:tr>
            </a:tbl>
          </a:graphicData>
        </a:graphic>
      </p:graphicFrame>
      <p:sp>
        <p:nvSpPr>
          <p:cNvPr id="5" name="Rectangle 4">
            <a:extLst>
              <a:ext uri="{FF2B5EF4-FFF2-40B4-BE49-F238E27FC236}">
                <a16:creationId xmlns:a16="http://schemas.microsoft.com/office/drawing/2014/main" id="{37D322C2-0A52-4759-AAEB-4AE4EA38E33E}"/>
              </a:ext>
            </a:extLst>
          </p:cNvPr>
          <p:cNvSpPr>
            <a:spLocks noGrp="1"/>
          </p:cNvSpPr>
          <p:nvPr/>
        </p:nvSpPr>
        <p:spPr>
          <a:xfrm>
            <a:off x="685800" y="4429125"/>
            <a:ext cx="10572750" cy="571500"/>
          </a:xfrm>
          <a:prstGeom prst="rect">
            <a:avLst/>
          </a:prstGeom>
          <a:noFill/>
          <a:ln w="0">
            <a:noFill/>
            <a:prstDash val="solid"/>
          </a:ln>
        </p:spPr>
        <p:txBody>
          <a:bodyPr/>
          <a:lstStyle>
            <a:defPPr>
              <a:defRPr sz="1875" b="0">
                <a:solidFill>
                  <a:srgbClr val="233247"/>
                </a:solidFill>
                <a:latin typeface="Arial"/>
                <a:ea typeface="Arial"/>
                <a:cs typeface="Arial"/>
              </a:defRPr>
            </a:defPPr>
          </a:lstStyle>
          <a:p>
            <a:pPr>
              <a:defRPr sz="1875" b="0">
                <a:solidFill>
                  <a:srgbClr val="233247"/>
                </a:solidFill>
                <a:latin typeface="Arial"/>
                <a:ea typeface="Arial"/>
                <a:cs typeface="Arial"/>
              </a:defRPr>
            </a:pPr>
            <a:r>
              <a:rPr sz="1875" b="0">
                <a:solidFill>
                  <a:srgbClr val="233247"/>
                </a:solidFill>
                <a:latin typeface="Arial"/>
                <a:ea typeface="Arial"/>
                <a:cs typeface="Arial"/>
              </a:rPr>
              <a:t>Evaluation data: 30 daily records (Sep 2026 holdout, previously unseen)
Setup: Metrics — MAE, RMSE, WAPE; chronological split ensures no data leakage</a:t>
            </a:r>
          </a:p>
        </p:txBody>
      </p:sp>
      <p:sp>
        <p:nvSpPr>
          <p:cNvPr id="6" name="Rectangle 5">
            <a:extLst>
              <a:ext uri="{FF2B5EF4-FFF2-40B4-BE49-F238E27FC236}">
                <a16:creationId xmlns:a16="http://schemas.microsoft.com/office/drawing/2014/main" id="{55789FB3-CBB4-4A8A-A567-D7BA9CB667B9}"/>
              </a:ext>
            </a:extLst>
          </p:cNvPr>
          <p:cNvSpPr>
            <a:spLocks noGrp="1"/>
          </p:cNvSpPr>
          <p:nvPr/>
        </p:nvSpPr>
        <p:spPr>
          <a:xfrm>
            <a:off x="685800" y="5286375"/>
            <a:ext cx="10572750" cy="619125"/>
          </a:xfrm>
          <a:prstGeom prst="rect">
            <a:avLst/>
          </a:prstGeom>
          <a:noFill/>
          <a:ln w="0">
            <a:noFill/>
            <a:prstDash val="solid"/>
          </a:ln>
        </p:spPr>
        <p:txBody>
          <a:bodyPr/>
          <a:lstStyle>
            <a:defPPr>
              <a:defRPr sz="1875" b="0">
                <a:solidFill>
                  <a:srgbClr val="233247"/>
                </a:solidFill>
                <a:latin typeface="Arial"/>
                <a:ea typeface="Arial"/>
                <a:cs typeface="Arial"/>
              </a:defRPr>
            </a:defPPr>
          </a:lstStyle>
          <a:p>
            <a:pPr>
              <a:defRPr sz="1875" b="0">
                <a:solidFill>
                  <a:srgbClr val="233247"/>
                </a:solidFill>
                <a:latin typeface="Arial"/>
                <a:ea typeface="Arial"/>
                <a:cs typeface="Arial"/>
              </a:defRPr>
            </a:pPr>
            <a:r>
              <a:rPr sz="1875" b="0">
                <a:solidFill>
                  <a:srgbClr val="233247"/>
                </a:solidFill>
                <a:latin typeface="Arial"/>
                <a:ea typeface="Arial"/>
                <a:cs typeface="Arial"/>
              </a:rPr>
              <a:t>Selected: XGBoost Regressor (RMSE 99.50 | WAPE 8.29%)
Full model comparison:
Rank 1: XGBoost     RMSE 99.50  WAPE 8.29%
Rank 2: SARIMA      RMSE 99.98  WAPE 8.11%
Rank 3: Holt-Winters RMSE 101.76 WAPE 8.21%
Rank 4: Moving Avg  RMSE 116.17 WAPE 10.06%
Rank 5: Naive       RMSE 134.93 WAPE 12.57%
Rank 6: Seasonal-Naive RMSE 137.57 WAPE 11.18%
Business meaning: XGBoost identifies weekend demand spikes 7 days ahead,
enabling just-in-time dairy and frozen food restocking.
Limitation: 183-day training series may under-represent annual seasonality;
model requires 14-day warm-up and daily retraining as new data arrives.</a:t>
            </a:r>
          </a:p>
        </p:txBody>
      </p:sp>
      <p:pic>
        <p:nvPicPr>
          <p:cNvPr id="8" name="Picture 7" descr="04_time_series_forecast_comparison.png"/>
          <p:cNvPicPr>
            <a:picLocks noChangeAspect="1"/>
          </p:cNvPicPr>
          <p:nvPr/>
        </p:nvPicPr>
        <p:blipFill>
          <a:blip r:embed="rId3"/>
          <a:stretch>
            <a:fillRect/>
          </a:stretch>
        </p:blipFill>
        <p:spPr>
          <a:xfrm>
            <a:off x="182880" y="2286000"/>
            <a:ext cx="5486400" cy="3657600"/>
          </a:xfrm>
          <a:prstGeom prst="rect">
            <a:avLst/>
          </a:prstGeom>
        </p:spPr>
      </p:pic>
      <p:pic>
        <p:nvPicPr>
          <p:cNvPr id="9" name="Picture 8" descr="06_xgboost_feature_importance.png"/>
          <p:cNvPicPr>
            <a:picLocks noChangeAspect="1"/>
          </p:cNvPicPr>
          <p:nvPr/>
        </p:nvPicPr>
        <p:blipFill>
          <a:blip r:embed="rId4"/>
          <a:stretch>
            <a:fillRect/>
          </a:stretch>
        </p:blipFill>
        <p:spPr>
          <a:xfrm>
            <a:off x="5852160" y="2286000"/>
            <a:ext cx="3291840" cy="3657600"/>
          </a:xfrm>
          <a:prstGeom prst="rect">
            <a:avLst/>
          </a:prstGeom>
        </p:spPr>
      </p:pic>
    </p:spTree>
    <p:extLst>
      <p:ext uri="{BB962C8B-B14F-4D97-AF65-F5344CB8AC3E}">
        <p14:creationId xmlns:p14="http://schemas.microsoft.com/office/powerpoint/2010/main" val="2055878253"/>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sp>
        <p:nvSpPr>
          <p:cNvPr id="8" name="Rectangle 7">
            <a:extLst>
              <a:ext uri="{FF2B5EF4-FFF2-40B4-BE49-F238E27FC236}">
                <a16:creationId xmlns:a16="http://schemas.microsoft.com/office/drawing/2014/main" id="{220E9F37-639D-4246-AF3B-4C040AF937E8}"/>
              </a:ext>
            </a:extLst>
          </p:cNvPr>
          <p:cNvSpPr>
            <a:spLocks noGrp="1"/>
          </p:cNvSpPr>
          <p:nvPr/>
        </p:nvSpPr>
        <p:spPr>
          <a:xfrm>
            <a:off x="609600" y="342900"/>
            <a:ext cx="10477500" cy="285750"/>
          </a:xfrm>
          <a:prstGeom prst="rect">
            <a:avLst/>
          </a:prstGeom>
          <a:noFill/>
          <a:ln w="0">
            <a:noFill/>
            <a:prstDash val="solid"/>
          </a:ln>
        </p:spPr>
        <p:txBody>
          <a:bodyPr/>
          <a:lstStyle>
            <a:defPPr>
              <a:defRPr sz="1350" b="1">
                <a:solidFill>
                  <a:srgbClr val="157A80"/>
                </a:solidFill>
                <a:latin typeface="Arial"/>
                <a:ea typeface="Arial"/>
                <a:cs typeface="Arial"/>
              </a:defRPr>
            </a:defPPr>
          </a:lstStyle>
          <a:p>
            <a:pPr>
              <a:defRPr sz="1350" b="1">
                <a:solidFill>
                  <a:srgbClr val="157A80"/>
                </a:solidFill>
                <a:latin typeface="Arial"/>
                <a:ea typeface="Arial"/>
                <a:cs typeface="Arial"/>
              </a:defRPr>
            </a:pPr>
            <a:r>
              <a:rPr sz="1350" b="1">
                <a:solidFill>
                  <a:srgbClr val="157A80"/>
                </a:solidFill>
                <a:latin typeface="Arial"/>
                <a:ea typeface="Arial"/>
                <a:cs typeface="Arial"/>
              </a:rPr>
              <a:t>UNIT 3</a:t>
            </a:r>
          </a:p>
        </p:txBody>
      </p:sp>
      <p:sp>
        <p:nvSpPr>
          <p:cNvPr id="2" name="Rectangle 1">
            <a:extLst>
              <a:ext uri="{FF2B5EF4-FFF2-40B4-BE49-F238E27FC236}">
                <a16:creationId xmlns:a16="http://schemas.microsoft.com/office/drawing/2014/main" id="{7B39A008-B14A-400A-B17C-5ACE4BE13EFD}"/>
              </a:ext>
            </a:extLst>
          </p:cNvPr>
          <p:cNvSpPr>
            <a:spLocks noGrp="1"/>
          </p:cNvSpPr>
          <p:nvPr/>
        </p:nvSpPr>
        <p:spPr>
          <a:xfrm>
            <a:off x="609600" y="838200"/>
            <a:ext cx="10972800" cy="857250"/>
          </a:xfrm>
          <a:prstGeom prst="rect">
            <a:avLst/>
          </a:prstGeom>
          <a:noFill/>
          <a:ln w="0">
            <a:noFill/>
            <a:prstDash val="solid"/>
          </a:ln>
        </p:spPr>
        <p:txBody>
          <a:bodyPr/>
          <a:lstStyle>
            <a:defPPr>
              <a:defRPr sz="3150" b="1">
                <a:solidFill>
                  <a:srgbClr val="142D4E"/>
                </a:solidFill>
                <a:latin typeface="Arial"/>
                <a:ea typeface="Arial"/>
                <a:cs typeface="Arial"/>
              </a:defRPr>
            </a:defPPr>
          </a:lstStyle>
          <a:p>
            <a:pPr>
              <a:defRPr sz="3150" b="1">
                <a:solidFill>
                  <a:srgbClr val="142D4E"/>
                </a:solidFill>
                <a:latin typeface="Arial"/>
                <a:ea typeface="Arial"/>
                <a:cs typeface="Arial"/>
              </a:defRPr>
            </a:pPr>
            <a:r>
              <a:rPr sz="3150" b="1">
                <a:solidFill>
                  <a:srgbClr val="142D4E"/>
                </a:solidFill>
                <a:latin typeface="Arial"/>
                <a:ea typeface="Arial"/>
                <a:cs typeface="Arial"/>
              </a:rPr>
              <a:t>Method 2 implementation</a:t>
            </a:r>
          </a:p>
        </p:txBody>
      </p:sp>
      <p:sp>
        <p:nvSpPr>
          <p:cNvPr id="3" name="Rectangle 2">
            <a:extLst>
              <a:ext uri="{FF2B5EF4-FFF2-40B4-BE49-F238E27FC236}">
                <a16:creationId xmlns:a16="http://schemas.microsoft.com/office/drawing/2014/main" id="{400AEDA9-D1EF-49B0-8EC7-EB9C731CAF80}"/>
              </a:ext>
            </a:extLst>
          </p:cNvPr>
          <p:cNvSpPr>
            <a:spLocks noGrp="1"/>
          </p:cNvSpPr>
          <p:nvPr/>
        </p:nvSpPr>
        <p:spPr>
          <a:xfrm>
            <a:off x="10953750" y="6343650"/>
            <a:ext cx="619125" cy="238125"/>
          </a:xfrm>
          <a:prstGeom prst="rect">
            <a:avLst/>
          </a:prstGeom>
          <a:noFill/>
          <a:ln w="0">
            <a:noFill/>
            <a:prstDash val="solid"/>
          </a:ln>
        </p:spPr>
        <p:txBody>
          <a:bodyPr/>
          <a:lstStyle>
            <a:defPPr>
              <a:defRPr sz="1200" b="0">
                <a:solidFill>
                  <a:srgbClr val="66758A"/>
                </a:solidFill>
                <a:latin typeface="Arial"/>
                <a:ea typeface="Arial"/>
                <a:cs typeface="Arial"/>
              </a:defRPr>
            </a:defPPr>
          </a:lstStyle>
          <a:p>
            <a:pPr>
              <a:defRPr sz="1200" b="0">
                <a:solidFill>
                  <a:srgbClr val="66758A"/>
                </a:solidFill>
                <a:latin typeface="Arial"/>
                <a:ea typeface="Arial"/>
                <a:cs typeface="Arial"/>
              </a:defRPr>
            </a:pPr>
            <a:r>
              <a:rPr sz="1200" b="0">
                <a:solidFill>
                  <a:srgbClr val="66758A"/>
                </a:solidFill>
                <a:latin typeface="Arial"/>
                <a:ea typeface="Arial"/>
                <a:cs typeface="Arial"/>
              </a:rPr>
              <a:t>12</a:t>
            </a:r>
          </a:p>
        </p:txBody>
      </p:sp>
      <p:sp>
        <p:nvSpPr>
          <p:cNvPr id="4" name="Rectangle 3">
            <a:extLst>
              <a:ext uri="{FF2B5EF4-FFF2-40B4-BE49-F238E27FC236}">
                <a16:creationId xmlns:a16="http://schemas.microsoft.com/office/drawing/2014/main" id="{E6D144C8-4E31-4C1F-8148-17B4DBCE0DA2}"/>
              </a:ext>
            </a:extLst>
          </p:cNvPr>
          <p:cNvSpPr>
            <a:spLocks noGrp="1"/>
          </p:cNvSpPr>
          <p:nvPr/>
        </p:nvSpPr>
        <p:spPr>
          <a:xfrm>
            <a:off x="285750" y="1562100"/>
            <a:ext cx="10668000" cy="685800"/>
          </a:xfrm>
          <a:prstGeom prst="rect">
            <a:avLst/>
          </a:prstGeom>
          <a:noFill/>
          <a:ln w="0">
            <a:noFill/>
            <a:prstDash val="solid"/>
          </a:ln>
        </p:spPr>
        <p:txBody>
          <a:bodyPr/>
          <a:lstStyle>
            <a:defPPr>
              <a:defRPr sz="2025" b="0">
                <a:solidFill>
                  <a:srgbClr val="233247"/>
                </a:solidFill>
                <a:latin typeface="Arial"/>
                <a:ea typeface="Arial"/>
                <a:cs typeface="Arial"/>
              </a:defRPr>
            </a:defPPr>
          </a:lstStyle>
          <a:p>
            <a:pPr>
              <a:defRPr sz="2025" b="0">
                <a:solidFill>
                  <a:srgbClr val="233247"/>
                </a:solidFill>
                <a:latin typeface="Arial"/>
                <a:ea typeface="Arial"/>
                <a:cs typeface="Arial"/>
              </a:defRPr>
            </a:pPr>
            <a:r>
              <a:rPr sz="2025" b="0" dirty="0">
                <a:solidFill>
                  <a:srgbClr val="233247"/>
                </a:solidFill>
                <a:latin typeface="Arial"/>
                <a:ea typeface="Arial"/>
                <a:cs typeface="Arial"/>
              </a:rPr>
              <a:t>Selected method: Association Rule Mining
Purpose: Discover product co-purchase patterns to design targeted bundle promotions and </a:t>
            </a:r>
            <a:r>
              <a:rPr sz="2025" b="0" dirty="0" err="1">
                <a:solidFill>
                  <a:srgbClr val="233247"/>
                </a:solidFill>
                <a:latin typeface="Arial"/>
                <a:ea typeface="Arial"/>
                <a:cs typeface="Arial"/>
              </a:rPr>
              <a:t>optimise</a:t>
            </a:r>
            <a:r>
              <a:rPr sz="2025" b="0" dirty="0">
                <a:solidFill>
                  <a:srgbClr val="233247"/>
                </a:solidFill>
                <a:latin typeface="Arial"/>
                <a:ea typeface="Arial"/>
                <a:cs typeface="Arial"/>
              </a:rPr>
              <a:t> dark store shelf layout for faster picking.</a:t>
            </a:r>
          </a:p>
        </p:txBody>
      </p:sp>
      <p:sp>
        <p:nvSpPr>
          <p:cNvPr id="5" name="Rectangle 4">
            <a:extLst>
              <a:ext uri="{FF2B5EF4-FFF2-40B4-BE49-F238E27FC236}">
                <a16:creationId xmlns:a16="http://schemas.microsoft.com/office/drawing/2014/main" id="{0C0900EB-1B60-44F0-8102-7BBACAA3517F}"/>
              </a:ext>
            </a:extLst>
          </p:cNvPr>
          <p:cNvSpPr>
            <a:spLocks noGrp="1"/>
          </p:cNvSpPr>
          <p:nvPr/>
        </p:nvSpPr>
        <p:spPr>
          <a:xfrm>
            <a:off x="198120" y="2476500"/>
            <a:ext cx="10668000" cy="685800"/>
          </a:xfrm>
          <a:prstGeom prst="rect">
            <a:avLst/>
          </a:prstGeom>
          <a:noFill/>
          <a:ln w="0">
            <a:noFill/>
            <a:prstDash val="solid"/>
          </a:ln>
        </p:spPr>
        <p:txBody>
          <a:bodyPr/>
          <a:lstStyle>
            <a:defPPr>
              <a:defRPr sz="2025" b="0">
                <a:solidFill>
                  <a:srgbClr val="233247"/>
                </a:solidFill>
                <a:latin typeface="Arial"/>
                <a:ea typeface="Arial"/>
                <a:cs typeface="Arial"/>
              </a:defRPr>
            </a:defPPr>
          </a:lstStyle>
          <a:p>
            <a:pPr>
              <a:defRPr sz="2025" b="0">
                <a:solidFill>
                  <a:srgbClr val="233247"/>
                </a:solidFill>
                <a:latin typeface="Arial"/>
                <a:ea typeface="Arial"/>
                <a:cs typeface="Arial"/>
              </a:defRPr>
            </a:pPr>
            <a:r>
              <a:rPr sz="2025" b="0" dirty="0">
                <a:solidFill>
                  <a:srgbClr val="233247"/>
                </a:solidFill>
                <a:latin typeface="Arial"/>
                <a:ea typeface="Arial"/>
                <a:cs typeface="Arial"/>
              </a:rPr>
              <a:t>Input: 30,296 multi-item baskets extracted from 34,700 orders
Preparation: One-hot encoded basket matrix (orders × products)
Only orders with 2+ items used for meaningful co-occurrence
Parameters: </a:t>
            </a:r>
            <a:r>
              <a:rPr sz="2025" b="0" dirty="0" err="1">
                <a:solidFill>
                  <a:srgbClr val="233247"/>
                </a:solidFill>
                <a:latin typeface="Arial"/>
                <a:ea typeface="Arial"/>
                <a:cs typeface="Arial"/>
              </a:rPr>
              <a:t>min_support</a:t>
            </a:r>
            <a:r>
              <a:rPr sz="2025" b="0" dirty="0">
                <a:solidFill>
                  <a:srgbClr val="233247"/>
                </a:solidFill>
                <a:latin typeface="Arial"/>
                <a:ea typeface="Arial"/>
                <a:cs typeface="Arial"/>
              </a:rPr>
              <a:t>=0.03 | </a:t>
            </a:r>
            <a:r>
              <a:rPr sz="2025" b="0" dirty="0" err="1">
                <a:solidFill>
                  <a:srgbClr val="233247"/>
                </a:solidFill>
                <a:latin typeface="Arial"/>
                <a:ea typeface="Arial"/>
                <a:cs typeface="Arial"/>
              </a:rPr>
              <a:t>min_confidence</a:t>
            </a:r>
            <a:r>
              <a:rPr sz="2025" b="0" dirty="0">
                <a:solidFill>
                  <a:srgbClr val="233247"/>
                </a:solidFill>
                <a:latin typeface="Arial"/>
                <a:ea typeface="Arial"/>
                <a:cs typeface="Arial"/>
              </a:rPr>
              <a:t>=0.20 | </a:t>
            </a:r>
            <a:r>
              <a:rPr sz="2025" b="0" dirty="0" err="1">
                <a:solidFill>
                  <a:srgbClr val="233247"/>
                </a:solidFill>
                <a:latin typeface="Arial"/>
                <a:ea typeface="Arial"/>
                <a:cs typeface="Arial"/>
              </a:rPr>
              <a:t>min_lift</a:t>
            </a:r>
            <a:r>
              <a:rPr sz="2025" b="0" dirty="0">
                <a:solidFill>
                  <a:srgbClr val="233247"/>
                </a:solidFill>
                <a:latin typeface="Arial"/>
                <a:ea typeface="Arial"/>
                <a:cs typeface="Arial"/>
              </a:rPr>
              <a:t>=1.15</a:t>
            </a:r>
          </a:p>
        </p:txBody>
      </p:sp>
      <p:sp>
        <p:nvSpPr>
          <p:cNvPr id="6" name="Rectangle 5">
            <a:extLst>
              <a:ext uri="{FF2B5EF4-FFF2-40B4-BE49-F238E27FC236}">
                <a16:creationId xmlns:a16="http://schemas.microsoft.com/office/drawing/2014/main" id="{878C613F-0AE4-461E-A735-039F81AECD9D}"/>
              </a:ext>
            </a:extLst>
          </p:cNvPr>
          <p:cNvSpPr>
            <a:spLocks noGrp="1"/>
          </p:cNvSpPr>
          <p:nvPr/>
        </p:nvSpPr>
        <p:spPr>
          <a:xfrm>
            <a:off x="198120" y="3676650"/>
            <a:ext cx="10668000" cy="685800"/>
          </a:xfrm>
          <a:prstGeom prst="rect">
            <a:avLst/>
          </a:prstGeom>
          <a:noFill/>
          <a:ln w="0">
            <a:noFill/>
            <a:prstDash val="solid"/>
          </a:ln>
        </p:spPr>
        <p:txBody>
          <a:bodyPr/>
          <a:lstStyle>
            <a:defPPr>
              <a:defRPr sz="2025" b="0">
                <a:solidFill>
                  <a:srgbClr val="233247"/>
                </a:solidFill>
                <a:latin typeface="Arial"/>
                <a:ea typeface="Arial"/>
                <a:cs typeface="Arial"/>
              </a:defRPr>
            </a:defPPr>
          </a:lstStyle>
          <a:p>
            <a:pPr>
              <a:defRPr sz="2025" b="0">
                <a:solidFill>
                  <a:srgbClr val="233247"/>
                </a:solidFill>
                <a:latin typeface="Arial"/>
                <a:ea typeface="Arial"/>
                <a:cs typeface="Arial"/>
              </a:defRPr>
            </a:pPr>
            <a:r>
              <a:rPr sz="2025" b="0" dirty="0">
                <a:solidFill>
                  <a:srgbClr val="233247"/>
                </a:solidFill>
                <a:latin typeface="Arial"/>
                <a:ea typeface="Arial"/>
                <a:cs typeface="Arial"/>
              </a:rPr>
              <a:t>Algorithms benchmarked:
</a:t>
            </a:r>
            <a:r>
              <a:rPr sz="2025" b="0" dirty="0" err="1">
                <a:solidFill>
                  <a:srgbClr val="233247"/>
                </a:solidFill>
                <a:latin typeface="Arial"/>
                <a:ea typeface="Arial"/>
                <a:cs typeface="Arial"/>
              </a:rPr>
              <a:t>Apriori</a:t>
            </a:r>
            <a:r>
              <a:rPr sz="2025" b="0" dirty="0">
                <a:solidFill>
                  <a:srgbClr val="233247"/>
                </a:solidFill>
                <a:latin typeface="Arial"/>
                <a:ea typeface="Arial"/>
                <a:cs typeface="Arial"/>
              </a:rPr>
              <a:t> — traditional candidate generation (baseline)
FP-Growth — Frequent Pattern tree (selected for scalability)
Both algorithms validated to produce identical rule sets.
Tools: Python, </a:t>
            </a:r>
            <a:r>
              <a:rPr sz="2025" b="0" dirty="0" err="1">
                <a:solidFill>
                  <a:srgbClr val="233247"/>
                </a:solidFill>
                <a:latin typeface="Arial"/>
                <a:ea typeface="Arial"/>
                <a:cs typeface="Arial"/>
              </a:rPr>
              <a:t>mlxtend</a:t>
            </a:r>
            <a:r>
              <a:rPr sz="2025" b="0" dirty="0">
                <a:solidFill>
                  <a:srgbClr val="233247"/>
                </a:solidFill>
                <a:latin typeface="Arial"/>
                <a:ea typeface="Arial"/>
                <a:cs typeface="Arial"/>
              </a:rPr>
              <a:t>, pandas, matplotlib</a:t>
            </a:r>
          </a:p>
        </p:txBody>
      </p:sp>
      <p:sp>
        <p:nvSpPr>
          <p:cNvPr id="7" name="Rectangle 6">
            <a:extLst>
              <a:ext uri="{FF2B5EF4-FFF2-40B4-BE49-F238E27FC236}">
                <a16:creationId xmlns:a16="http://schemas.microsoft.com/office/drawing/2014/main" id="{8204A492-FAC6-4974-8483-659032AA8362}"/>
              </a:ext>
            </a:extLst>
          </p:cNvPr>
          <p:cNvSpPr>
            <a:spLocks noGrp="1"/>
          </p:cNvSpPr>
          <p:nvPr/>
        </p:nvSpPr>
        <p:spPr>
          <a:xfrm>
            <a:off x="285750" y="5222240"/>
            <a:ext cx="10668000" cy="685800"/>
          </a:xfrm>
          <a:prstGeom prst="rect">
            <a:avLst/>
          </a:prstGeom>
          <a:noFill/>
          <a:ln w="0">
            <a:noFill/>
            <a:prstDash val="solid"/>
          </a:ln>
        </p:spPr>
        <p:txBody>
          <a:bodyPr/>
          <a:lstStyle>
            <a:defPPr>
              <a:defRPr sz="2025" b="0">
                <a:solidFill>
                  <a:srgbClr val="233247"/>
                </a:solidFill>
                <a:latin typeface="Arial"/>
                <a:ea typeface="Arial"/>
                <a:cs typeface="Arial"/>
              </a:defRPr>
            </a:defPPr>
          </a:lstStyle>
          <a:p>
            <a:pPr>
              <a:defRPr sz="2025" b="0">
                <a:solidFill>
                  <a:srgbClr val="233247"/>
                </a:solidFill>
                <a:latin typeface="Arial"/>
                <a:ea typeface="Arial"/>
                <a:cs typeface="Arial"/>
              </a:defRPr>
            </a:pPr>
            <a:r>
              <a:rPr sz="2025" b="0" dirty="0">
                <a:solidFill>
                  <a:srgbClr val="233247"/>
                </a:solidFill>
                <a:latin typeface="Arial"/>
                <a:ea typeface="Arial"/>
                <a:cs typeface="Arial"/>
              </a:rPr>
              <a:t>Output: 42 valid association rules
Top rule: Baker's Dozen Malabar Paratha → </a:t>
            </a:r>
            <a:r>
              <a:rPr sz="2025" b="0" dirty="0" err="1">
                <a:solidFill>
                  <a:srgbClr val="233247"/>
                </a:solidFill>
                <a:latin typeface="Arial"/>
                <a:ea typeface="Arial"/>
                <a:cs typeface="Arial"/>
              </a:rPr>
              <a:t>Aashirvaad</a:t>
            </a:r>
            <a:r>
              <a:rPr sz="2025" b="0" dirty="0">
                <a:solidFill>
                  <a:srgbClr val="233247"/>
                </a:solidFill>
                <a:latin typeface="Arial"/>
                <a:ea typeface="Arial"/>
                <a:cs typeface="Arial"/>
              </a:rPr>
              <a:t> Malabar Paratha
Support: 1.66% | Confidence: 29.37% | Lift: 5.11x
Bundle themes: Frozen Breakfast, Indian Cooking, </a:t>
            </a:r>
            <a:r>
              <a:rPr sz="2025" b="0" dirty="0" err="1">
                <a:solidFill>
                  <a:srgbClr val="233247"/>
                </a:solidFill>
                <a:latin typeface="Arial"/>
                <a:ea typeface="Arial"/>
                <a:cs typeface="Arial"/>
              </a:rPr>
              <a:t>Snack+Drink</a:t>
            </a:r>
            <a:r>
              <a:rPr sz="2025" b="0" dirty="0">
                <a:solidFill>
                  <a:srgbClr val="233247"/>
                </a:solidFill>
                <a:latin typeface="Arial"/>
                <a:ea typeface="Arial"/>
                <a:cs typeface="Arial"/>
              </a:rPr>
              <a:t>, Morning Dairy</a:t>
            </a:r>
          </a:p>
        </p:txBody>
      </p:sp>
    </p:spTree>
    <p:extLst>
      <p:ext uri="{BB962C8B-B14F-4D97-AF65-F5344CB8AC3E}">
        <p14:creationId xmlns:p14="http://schemas.microsoft.com/office/powerpoint/2010/main" val="1443013456"/>
      </p:ext>
    </p:extLst>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sp>
        <p:nvSpPr>
          <p:cNvPr id="7" name="Rectangle 6">
            <a:extLst>
              <a:ext uri="{FF2B5EF4-FFF2-40B4-BE49-F238E27FC236}">
                <a16:creationId xmlns:a16="http://schemas.microsoft.com/office/drawing/2014/main" id="{9F058891-18A5-414B-856B-FE11F25A696B}"/>
              </a:ext>
            </a:extLst>
          </p:cNvPr>
          <p:cNvSpPr>
            <a:spLocks noGrp="1"/>
          </p:cNvSpPr>
          <p:nvPr/>
        </p:nvSpPr>
        <p:spPr>
          <a:xfrm>
            <a:off x="609600" y="342900"/>
            <a:ext cx="10477500" cy="285750"/>
          </a:xfrm>
          <a:prstGeom prst="rect">
            <a:avLst/>
          </a:prstGeom>
          <a:noFill/>
          <a:ln w="0">
            <a:noFill/>
            <a:prstDash val="solid"/>
          </a:ln>
        </p:spPr>
        <p:txBody>
          <a:bodyPr/>
          <a:lstStyle>
            <a:defPPr>
              <a:defRPr sz="1350" b="1">
                <a:solidFill>
                  <a:srgbClr val="157A80"/>
                </a:solidFill>
                <a:latin typeface="Arial"/>
                <a:ea typeface="Arial"/>
                <a:cs typeface="Arial"/>
              </a:defRPr>
            </a:defPPr>
          </a:lstStyle>
          <a:p>
            <a:pPr>
              <a:defRPr sz="1350" b="1">
                <a:solidFill>
                  <a:srgbClr val="157A80"/>
                </a:solidFill>
                <a:latin typeface="Arial"/>
                <a:ea typeface="Arial"/>
                <a:cs typeface="Arial"/>
              </a:defRPr>
            </a:pPr>
            <a:r>
              <a:rPr sz="1350" b="1">
                <a:solidFill>
                  <a:srgbClr val="157A80"/>
                </a:solidFill>
                <a:latin typeface="Arial"/>
                <a:ea typeface="Arial"/>
                <a:cs typeface="Arial"/>
              </a:rPr>
              <a:t>UNIT 3</a:t>
            </a:r>
          </a:p>
        </p:txBody>
      </p:sp>
      <p:sp>
        <p:nvSpPr>
          <p:cNvPr id="2" name="Rectangle 1">
            <a:extLst>
              <a:ext uri="{FF2B5EF4-FFF2-40B4-BE49-F238E27FC236}">
                <a16:creationId xmlns:a16="http://schemas.microsoft.com/office/drawing/2014/main" id="{783AB2B7-C380-4333-8683-F6BBF01123FD}"/>
              </a:ext>
            </a:extLst>
          </p:cNvPr>
          <p:cNvSpPr>
            <a:spLocks noGrp="1"/>
          </p:cNvSpPr>
          <p:nvPr/>
        </p:nvSpPr>
        <p:spPr>
          <a:xfrm>
            <a:off x="609600" y="838200"/>
            <a:ext cx="10972800" cy="857250"/>
          </a:xfrm>
          <a:prstGeom prst="rect">
            <a:avLst/>
          </a:prstGeom>
          <a:noFill/>
          <a:ln w="0">
            <a:noFill/>
            <a:prstDash val="solid"/>
          </a:ln>
        </p:spPr>
        <p:txBody>
          <a:bodyPr/>
          <a:lstStyle>
            <a:defPPr>
              <a:defRPr sz="3150" b="1">
                <a:solidFill>
                  <a:srgbClr val="142D4E"/>
                </a:solidFill>
                <a:latin typeface="Arial"/>
                <a:ea typeface="Arial"/>
                <a:cs typeface="Arial"/>
              </a:defRPr>
            </a:defPPr>
          </a:lstStyle>
          <a:p>
            <a:pPr>
              <a:defRPr sz="3150" b="1">
                <a:solidFill>
                  <a:srgbClr val="142D4E"/>
                </a:solidFill>
                <a:latin typeface="Arial"/>
                <a:ea typeface="Arial"/>
                <a:cs typeface="Arial"/>
              </a:defRPr>
            </a:pPr>
            <a:r>
              <a:rPr sz="3150" b="1">
                <a:solidFill>
                  <a:srgbClr val="142D4E"/>
                </a:solidFill>
                <a:latin typeface="Arial"/>
                <a:ea typeface="Arial"/>
                <a:cs typeface="Arial"/>
              </a:rPr>
              <a:t>Method 2 evaluation and comparison</a:t>
            </a:r>
          </a:p>
        </p:txBody>
      </p:sp>
      <p:sp>
        <p:nvSpPr>
          <p:cNvPr id="3" name="Rectangle 2">
            <a:extLst>
              <a:ext uri="{FF2B5EF4-FFF2-40B4-BE49-F238E27FC236}">
                <a16:creationId xmlns:a16="http://schemas.microsoft.com/office/drawing/2014/main" id="{5260EA7B-3BBC-4C86-9EB4-FC754B5614C4}"/>
              </a:ext>
            </a:extLst>
          </p:cNvPr>
          <p:cNvSpPr>
            <a:spLocks noGrp="1"/>
          </p:cNvSpPr>
          <p:nvPr/>
        </p:nvSpPr>
        <p:spPr>
          <a:xfrm>
            <a:off x="10953750" y="6343650"/>
            <a:ext cx="619125" cy="238125"/>
          </a:xfrm>
          <a:prstGeom prst="rect">
            <a:avLst/>
          </a:prstGeom>
          <a:noFill/>
          <a:ln w="0">
            <a:noFill/>
            <a:prstDash val="solid"/>
          </a:ln>
        </p:spPr>
        <p:txBody>
          <a:bodyPr/>
          <a:lstStyle>
            <a:defPPr>
              <a:defRPr sz="1200" b="0">
                <a:solidFill>
                  <a:srgbClr val="66758A"/>
                </a:solidFill>
                <a:latin typeface="Arial"/>
                <a:ea typeface="Arial"/>
                <a:cs typeface="Arial"/>
              </a:defRPr>
            </a:defPPr>
          </a:lstStyle>
          <a:p>
            <a:pPr>
              <a:defRPr sz="1200" b="0">
                <a:solidFill>
                  <a:srgbClr val="66758A"/>
                </a:solidFill>
                <a:latin typeface="Arial"/>
                <a:ea typeface="Arial"/>
                <a:cs typeface="Arial"/>
              </a:defRPr>
            </a:pPr>
            <a:r>
              <a:rPr sz="1200" b="0">
                <a:solidFill>
                  <a:srgbClr val="66758A"/>
                </a:solidFill>
                <a:latin typeface="Arial"/>
                <a:ea typeface="Arial"/>
                <a:cs typeface="Arial"/>
              </a:rPr>
              <a:t>13</a:t>
            </a:r>
          </a:p>
        </p:txBody>
      </p:sp>
      <p:graphicFrame>
        <p:nvGraphicFramePr>
          <p:cNvPr id="4" name="Table 3">
            <a:extLst>
              <a:ext uri="{FF2B5EF4-FFF2-40B4-BE49-F238E27FC236}">
                <a16:creationId xmlns:a16="http://schemas.microsoft.com/office/drawing/2014/main" id="{E7A23880-1490-47B2-AD56-821CBFA136CC}"/>
              </a:ext>
            </a:extLst>
          </p:cNvPr>
          <p:cNvGraphicFramePr/>
          <p:nvPr/>
        </p:nvGraphicFramePr>
        <p:xfrm>
          <a:off x="609600" y="2047875"/>
          <a:ext cx="10972800" cy="2095500"/>
        </p:xfrm>
        <a:graphic>
          <a:graphicData uri="http://schemas.openxmlformats.org/drawingml/2006/table">
            <a:tbl>
              <a:tblPr/>
              <a:tblGrid>
                <a:gridCol w="4000500">
                  <a:extLst>
                    <a:ext uri="{9D8B030D-6E8A-4147-A177-3AD203B41FA5}">
                      <a16:colId xmlns:a16="http://schemas.microsoft.com/office/drawing/2014/main" val="20000"/>
                    </a:ext>
                  </a:extLst>
                </a:gridCol>
                <a:gridCol w="2324100">
                  <a:extLst>
                    <a:ext uri="{9D8B030D-6E8A-4147-A177-3AD203B41FA5}">
                      <a16:colId xmlns:a16="http://schemas.microsoft.com/office/drawing/2014/main" val="20001"/>
                    </a:ext>
                  </a:extLst>
                </a:gridCol>
                <a:gridCol w="2324100">
                  <a:extLst>
                    <a:ext uri="{9D8B030D-6E8A-4147-A177-3AD203B41FA5}">
                      <a16:colId xmlns:a16="http://schemas.microsoft.com/office/drawing/2014/main" val="20002"/>
                    </a:ext>
                  </a:extLst>
                </a:gridCol>
                <a:gridCol w="2324100">
                  <a:extLst>
                    <a:ext uri="{9D8B030D-6E8A-4147-A177-3AD203B41FA5}">
                      <a16:colId xmlns:a16="http://schemas.microsoft.com/office/drawing/2014/main" val="20003"/>
                    </a:ext>
                  </a:extLst>
                </a:gridCol>
              </a:tblGrid>
              <a:tr h="698500">
                <a:tc>
                  <a:txBody>
                    <a:bodyPr/>
                    <a:lstStyle/>
                    <a:p>
                      <a:r>
                        <a:rPr sz="1650" b="1">
                          <a:solidFill>
                            <a:srgbClr val="FFFFFF"/>
                          </a:solidFill>
                          <a:latin typeface="Arial"/>
                          <a:ea typeface="Arial"/>
                          <a:cs typeface="Arial"/>
                        </a:rPr>
                        <a:t>Approach / configuration</a:t>
                      </a:r>
                    </a:p>
                  </a:txBody>
                  <a:tcPr>
                    <a:lnL w="9525">
                      <a:solidFill>
                        <a:srgbClr val="CDD7DF"/>
                      </a:solidFill>
                      <a:prstDash val="solid"/>
                    </a:lnL>
                    <a:lnR w="9525">
                      <a:solidFill>
                        <a:srgbClr val="CDD7DF"/>
                      </a:solidFill>
                      <a:prstDash val="solid"/>
                    </a:lnR>
                    <a:lnT w="9525">
                      <a:solidFill>
                        <a:srgbClr val="CDD7DF"/>
                      </a:solidFill>
                      <a:prstDash val="solid"/>
                    </a:lnT>
                    <a:lnB w="9525">
                      <a:solidFill>
                        <a:srgbClr val="CDD7DF"/>
                      </a:solidFill>
                      <a:prstDash val="solid"/>
                    </a:lnB>
                    <a:solidFill>
                      <a:srgbClr val="142D4E"/>
                    </a:solidFill>
                  </a:tcPr>
                </a:tc>
                <a:tc>
                  <a:txBody>
                    <a:bodyPr/>
                    <a:lstStyle/>
                    <a:p>
                      <a:r>
                        <a:rPr sz="1650" b="1">
                          <a:solidFill>
                            <a:srgbClr val="FFFFFF"/>
                          </a:solidFill>
                          <a:latin typeface="Arial"/>
                          <a:ea typeface="Arial"/>
                          <a:cs typeface="Arial"/>
                        </a:rPr>
                        <a:t>[Metric 1]</a:t>
                      </a:r>
                    </a:p>
                  </a:txBody>
                  <a:tcPr>
                    <a:lnL w="9525" cap="flat" cmpd="sng" algn="ctr">
                      <a:solidFill>
                        <a:srgbClr val="CDD7DF"/>
                      </a:solidFill>
                      <a:prstDash val="solid"/>
                      <a:round/>
                      <a:headEnd type="none" w="med" len="med"/>
                      <a:tailEnd type="none" w="med" len="med"/>
                    </a:lnL>
                    <a:lnR w="9525">
                      <a:solidFill>
                        <a:srgbClr val="CDD7DF"/>
                      </a:solidFill>
                      <a:prstDash val="solid"/>
                    </a:lnR>
                    <a:lnT w="9525">
                      <a:solidFill>
                        <a:srgbClr val="CDD7DF"/>
                      </a:solidFill>
                      <a:prstDash val="solid"/>
                    </a:lnT>
                    <a:lnB w="9525">
                      <a:solidFill>
                        <a:srgbClr val="CDD7DF"/>
                      </a:solidFill>
                      <a:prstDash val="solid"/>
                    </a:lnB>
                    <a:solidFill>
                      <a:srgbClr val="142D4E"/>
                    </a:solidFill>
                  </a:tcPr>
                </a:tc>
                <a:tc>
                  <a:txBody>
                    <a:bodyPr/>
                    <a:lstStyle/>
                    <a:p>
                      <a:r>
                        <a:rPr sz="1650" b="1">
                          <a:solidFill>
                            <a:srgbClr val="FFFFFF"/>
                          </a:solidFill>
                          <a:latin typeface="Arial"/>
                          <a:ea typeface="Arial"/>
                          <a:cs typeface="Arial"/>
                        </a:rPr>
                        <a:t>[Metric 2]</a:t>
                      </a:r>
                    </a:p>
                  </a:txBody>
                  <a:tcPr>
                    <a:lnL w="9525" cap="flat" cmpd="sng" algn="ctr">
                      <a:solidFill>
                        <a:srgbClr val="CDD7DF"/>
                      </a:solidFill>
                      <a:prstDash val="solid"/>
                      <a:round/>
                      <a:headEnd type="none" w="med" len="med"/>
                      <a:tailEnd type="none" w="med" len="med"/>
                    </a:lnL>
                    <a:lnR w="9525">
                      <a:solidFill>
                        <a:srgbClr val="CDD7DF"/>
                      </a:solidFill>
                      <a:prstDash val="solid"/>
                    </a:lnR>
                    <a:lnT w="9525">
                      <a:solidFill>
                        <a:srgbClr val="CDD7DF"/>
                      </a:solidFill>
                      <a:prstDash val="solid"/>
                    </a:lnT>
                    <a:lnB w="9525">
                      <a:solidFill>
                        <a:srgbClr val="CDD7DF"/>
                      </a:solidFill>
                      <a:prstDash val="solid"/>
                    </a:lnB>
                    <a:solidFill>
                      <a:srgbClr val="142D4E"/>
                    </a:solidFill>
                  </a:tcPr>
                </a:tc>
                <a:tc>
                  <a:txBody>
                    <a:bodyPr/>
                    <a:lstStyle/>
                    <a:p>
                      <a:r>
                        <a:rPr sz="1650" b="1">
                          <a:solidFill>
                            <a:srgbClr val="FFFFFF"/>
                          </a:solidFill>
                          <a:latin typeface="Arial"/>
                          <a:ea typeface="Arial"/>
                          <a:cs typeface="Arial"/>
                        </a:rPr>
                        <a:t>[Metric 3]</a:t>
                      </a:r>
                    </a:p>
                  </a:txBody>
                  <a:tcPr>
                    <a:lnL w="9525" cap="flat" cmpd="sng" algn="ctr">
                      <a:solidFill>
                        <a:srgbClr val="CDD7DF"/>
                      </a:solidFill>
                      <a:prstDash val="solid"/>
                      <a:round/>
                      <a:headEnd type="none" w="med" len="med"/>
                      <a:tailEnd type="none" w="med" len="med"/>
                    </a:lnL>
                    <a:lnR w="9525">
                      <a:solidFill>
                        <a:srgbClr val="CDD7DF"/>
                      </a:solidFill>
                      <a:prstDash val="solid"/>
                    </a:lnR>
                    <a:lnT w="9525">
                      <a:solidFill>
                        <a:srgbClr val="CDD7DF"/>
                      </a:solidFill>
                      <a:prstDash val="solid"/>
                    </a:lnT>
                    <a:lnB w="9525">
                      <a:solidFill>
                        <a:srgbClr val="CDD7DF"/>
                      </a:solidFill>
                      <a:prstDash val="solid"/>
                    </a:lnB>
                    <a:solidFill>
                      <a:srgbClr val="142D4E"/>
                    </a:solidFill>
                  </a:tcPr>
                </a:tc>
                <a:extLst>
                  <a:ext uri="{0D108BD9-81ED-4DB2-BD59-A6C34878D82A}">
                    <a16:rowId xmlns:a16="http://schemas.microsoft.com/office/drawing/2014/main" val="10000"/>
                  </a:ext>
                </a:extLst>
              </a:tr>
              <a:tr h="698500">
                <a:tc>
                  <a:txBody>
                    <a:bodyPr/>
                    <a:lstStyle/>
                    <a:p>
                      <a:r>
                        <a:rPr sz="1650" b="0">
                          <a:solidFill>
                            <a:srgbClr val="233247"/>
                          </a:solidFill>
                          <a:latin typeface="Arial"/>
                          <a:ea typeface="Arial"/>
                          <a:cs typeface="Arial"/>
                        </a:rPr>
                        <a:t>[Approach A]</a:t>
                      </a:r>
                    </a:p>
                  </a:txBody>
                  <a:tcPr>
                    <a:lnL w="9525">
                      <a:solidFill>
                        <a:srgbClr val="CDD7DF"/>
                      </a:solidFill>
                      <a:prstDash val="solid"/>
                    </a:lnL>
                    <a:lnR w="9525">
                      <a:solidFill>
                        <a:srgbClr val="CDD7DF"/>
                      </a:solidFill>
                      <a:prstDash val="solid"/>
                    </a:lnR>
                    <a:lnT w="9525" cap="flat" cmpd="sng" algn="ctr">
                      <a:solidFill>
                        <a:srgbClr val="CDD7DF"/>
                      </a:solidFill>
                      <a:prstDash val="solid"/>
                      <a:round/>
                      <a:headEnd type="none" w="med" len="med"/>
                      <a:tailEnd type="none" w="med" len="med"/>
                    </a:lnT>
                    <a:lnB w="9525">
                      <a:solidFill>
                        <a:srgbClr val="CDD7DF"/>
                      </a:solidFill>
                      <a:prstDash val="solid"/>
                    </a:lnB>
                    <a:solidFill>
                      <a:srgbClr val="F0F5F7"/>
                    </a:solidFill>
                  </a:tcPr>
                </a:tc>
                <a:tc>
                  <a:txBody>
                    <a:bodyPr/>
                    <a:lstStyle/>
                    <a:p>
                      <a:r>
                        <a:rPr sz="1650" b="0">
                          <a:solidFill>
                            <a:srgbClr val="233247"/>
                          </a:solidFill>
                          <a:latin typeface="Arial"/>
                          <a:ea typeface="Arial"/>
                          <a:cs typeface="Arial"/>
                        </a:rPr>
                        <a:t>[Final result]</a:t>
                      </a:r>
                    </a:p>
                  </a:txBody>
                  <a:tcPr>
                    <a:lnL w="9525" cap="flat" cmpd="sng" algn="ctr">
                      <a:solidFill>
                        <a:srgbClr val="CDD7DF"/>
                      </a:solidFill>
                      <a:prstDash val="solid"/>
                      <a:round/>
                      <a:headEnd type="none" w="med" len="med"/>
                      <a:tailEnd type="none" w="med" len="med"/>
                    </a:lnL>
                    <a:lnR w="9525">
                      <a:solidFill>
                        <a:srgbClr val="CDD7DF"/>
                      </a:solidFill>
                      <a:prstDash val="solid"/>
                    </a:lnR>
                    <a:lnT w="9525" cap="flat" cmpd="sng" algn="ctr">
                      <a:solidFill>
                        <a:srgbClr val="CDD7DF"/>
                      </a:solidFill>
                      <a:prstDash val="solid"/>
                      <a:round/>
                      <a:headEnd type="none" w="med" len="med"/>
                      <a:tailEnd type="none" w="med" len="med"/>
                    </a:lnT>
                    <a:lnB w="9525">
                      <a:solidFill>
                        <a:srgbClr val="CDD7DF"/>
                      </a:solidFill>
                      <a:prstDash val="solid"/>
                    </a:lnB>
                    <a:solidFill>
                      <a:srgbClr val="F0F5F7"/>
                    </a:solidFill>
                  </a:tcPr>
                </a:tc>
                <a:tc>
                  <a:txBody>
                    <a:bodyPr/>
                    <a:lstStyle/>
                    <a:p>
                      <a:r>
                        <a:rPr sz="1650" b="0">
                          <a:solidFill>
                            <a:srgbClr val="233247"/>
                          </a:solidFill>
                          <a:latin typeface="Arial"/>
                          <a:ea typeface="Arial"/>
                          <a:cs typeface="Arial"/>
                        </a:rPr>
                        <a:t>[Final result]</a:t>
                      </a:r>
                    </a:p>
                  </a:txBody>
                  <a:tcPr>
                    <a:lnL w="9525" cap="flat" cmpd="sng" algn="ctr">
                      <a:solidFill>
                        <a:srgbClr val="CDD7DF"/>
                      </a:solidFill>
                      <a:prstDash val="solid"/>
                      <a:round/>
                      <a:headEnd type="none" w="med" len="med"/>
                      <a:tailEnd type="none" w="med" len="med"/>
                    </a:lnL>
                    <a:lnR w="9525">
                      <a:solidFill>
                        <a:srgbClr val="CDD7DF"/>
                      </a:solidFill>
                      <a:prstDash val="solid"/>
                    </a:lnR>
                    <a:lnT w="9525" cap="flat" cmpd="sng" algn="ctr">
                      <a:solidFill>
                        <a:srgbClr val="CDD7DF"/>
                      </a:solidFill>
                      <a:prstDash val="solid"/>
                      <a:round/>
                      <a:headEnd type="none" w="med" len="med"/>
                      <a:tailEnd type="none" w="med" len="med"/>
                    </a:lnT>
                    <a:lnB w="9525">
                      <a:solidFill>
                        <a:srgbClr val="CDD7DF"/>
                      </a:solidFill>
                      <a:prstDash val="solid"/>
                    </a:lnB>
                    <a:solidFill>
                      <a:srgbClr val="F0F5F7"/>
                    </a:solidFill>
                  </a:tcPr>
                </a:tc>
                <a:tc>
                  <a:txBody>
                    <a:bodyPr/>
                    <a:lstStyle/>
                    <a:p>
                      <a:r>
                        <a:rPr sz="1650" b="0">
                          <a:solidFill>
                            <a:srgbClr val="233247"/>
                          </a:solidFill>
                          <a:latin typeface="Arial"/>
                          <a:ea typeface="Arial"/>
                          <a:cs typeface="Arial"/>
                        </a:rPr>
                        <a:t>[Final result]</a:t>
                      </a:r>
                    </a:p>
                  </a:txBody>
                  <a:tcPr>
                    <a:lnL w="9525" cap="flat" cmpd="sng" algn="ctr">
                      <a:solidFill>
                        <a:srgbClr val="CDD7DF"/>
                      </a:solidFill>
                      <a:prstDash val="solid"/>
                      <a:round/>
                      <a:headEnd type="none" w="med" len="med"/>
                      <a:tailEnd type="none" w="med" len="med"/>
                    </a:lnL>
                    <a:lnR w="9525">
                      <a:solidFill>
                        <a:srgbClr val="CDD7DF"/>
                      </a:solidFill>
                      <a:prstDash val="solid"/>
                    </a:lnR>
                    <a:lnT w="9525" cap="flat" cmpd="sng" algn="ctr">
                      <a:solidFill>
                        <a:srgbClr val="CDD7DF"/>
                      </a:solidFill>
                      <a:prstDash val="solid"/>
                      <a:round/>
                      <a:headEnd type="none" w="med" len="med"/>
                      <a:tailEnd type="none" w="med" len="med"/>
                    </a:lnT>
                    <a:lnB w="9525">
                      <a:solidFill>
                        <a:srgbClr val="CDD7DF"/>
                      </a:solidFill>
                      <a:prstDash val="solid"/>
                    </a:lnB>
                    <a:solidFill>
                      <a:srgbClr val="F0F5F7"/>
                    </a:solidFill>
                  </a:tcPr>
                </a:tc>
                <a:extLst>
                  <a:ext uri="{0D108BD9-81ED-4DB2-BD59-A6C34878D82A}">
                    <a16:rowId xmlns:a16="http://schemas.microsoft.com/office/drawing/2014/main" val="10001"/>
                  </a:ext>
                </a:extLst>
              </a:tr>
              <a:tr h="698500">
                <a:tc>
                  <a:txBody>
                    <a:bodyPr/>
                    <a:lstStyle/>
                    <a:p>
                      <a:r>
                        <a:rPr sz="1650" b="0">
                          <a:solidFill>
                            <a:srgbClr val="233247"/>
                          </a:solidFill>
                          <a:latin typeface="Arial"/>
                          <a:ea typeface="Arial"/>
                          <a:cs typeface="Arial"/>
                        </a:rPr>
                        <a:t>[Approach B]</a:t>
                      </a:r>
                    </a:p>
                  </a:txBody>
                  <a:tcPr>
                    <a:lnL w="9525">
                      <a:solidFill>
                        <a:srgbClr val="CDD7DF"/>
                      </a:solidFill>
                      <a:prstDash val="solid"/>
                    </a:lnL>
                    <a:lnR w="9525">
                      <a:solidFill>
                        <a:srgbClr val="CDD7DF"/>
                      </a:solidFill>
                      <a:prstDash val="solid"/>
                    </a:lnR>
                    <a:lnT w="9525" cap="flat" cmpd="sng" algn="ctr">
                      <a:solidFill>
                        <a:srgbClr val="CDD7DF"/>
                      </a:solidFill>
                      <a:prstDash val="solid"/>
                      <a:round/>
                      <a:headEnd type="none" w="med" len="med"/>
                      <a:tailEnd type="none" w="med" len="med"/>
                    </a:lnT>
                    <a:lnB w="9525">
                      <a:solidFill>
                        <a:srgbClr val="CDD7DF"/>
                      </a:solidFill>
                      <a:prstDash val="solid"/>
                    </a:lnB>
                    <a:solidFill>
                      <a:srgbClr val="FFFFFF"/>
                    </a:solidFill>
                  </a:tcPr>
                </a:tc>
                <a:tc>
                  <a:txBody>
                    <a:bodyPr/>
                    <a:lstStyle/>
                    <a:p>
                      <a:r>
                        <a:rPr sz="1650" b="0">
                          <a:solidFill>
                            <a:srgbClr val="233247"/>
                          </a:solidFill>
                          <a:latin typeface="Arial"/>
                          <a:ea typeface="Arial"/>
                          <a:cs typeface="Arial"/>
                        </a:rPr>
                        <a:t>[Final result]</a:t>
                      </a:r>
                    </a:p>
                  </a:txBody>
                  <a:tcPr>
                    <a:lnL w="9525" cap="flat" cmpd="sng" algn="ctr">
                      <a:solidFill>
                        <a:srgbClr val="CDD7DF"/>
                      </a:solidFill>
                      <a:prstDash val="solid"/>
                      <a:round/>
                      <a:headEnd type="none" w="med" len="med"/>
                      <a:tailEnd type="none" w="med" len="med"/>
                    </a:lnL>
                    <a:lnR w="9525">
                      <a:solidFill>
                        <a:srgbClr val="CDD7DF"/>
                      </a:solidFill>
                      <a:prstDash val="solid"/>
                    </a:lnR>
                    <a:lnT w="9525" cap="flat" cmpd="sng" algn="ctr">
                      <a:solidFill>
                        <a:srgbClr val="CDD7DF"/>
                      </a:solidFill>
                      <a:prstDash val="solid"/>
                      <a:round/>
                      <a:headEnd type="none" w="med" len="med"/>
                      <a:tailEnd type="none" w="med" len="med"/>
                    </a:lnT>
                    <a:lnB w="9525">
                      <a:solidFill>
                        <a:srgbClr val="CDD7DF"/>
                      </a:solidFill>
                      <a:prstDash val="solid"/>
                    </a:lnB>
                    <a:solidFill>
                      <a:srgbClr val="FFFFFF"/>
                    </a:solidFill>
                  </a:tcPr>
                </a:tc>
                <a:tc>
                  <a:txBody>
                    <a:bodyPr/>
                    <a:lstStyle/>
                    <a:p>
                      <a:r>
                        <a:rPr sz="1650" b="0">
                          <a:solidFill>
                            <a:srgbClr val="233247"/>
                          </a:solidFill>
                          <a:latin typeface="Arial"/>
                          <a:ea typeface="Arial"/>
                          <a:cs typeface="Arial"/>
                        </a:rPr>
                        <a:t>[Final result]</a:t>
                      </a:r>
                    </a:p>
                  </a:txBody>
                  <a:tcPr>
                    <a:lnL w="9525" cap="flat" cmpd="sng" algn="ctr">
                      <a:solidFill>
                        <a:srgbClr val="CDD7DF"/>
                      </a:solidFill>
                      <a:prstDash val="solid"/>
                      <a:round/>
                      <a:headEnd type="none" w="med" len="med"/>
                      <a:tailEnd type="none" w="med" len="med"/>
                    </a:lnL>
                    <a:lnR w="9525">
                      <a:solidFill>
                        <a:srgbClr val="CDD7DF"/>
                      </a:solidFill>
                      <a:prstDash val="solid"/>
                    </a:lnR>
                    <a:lnT w="9525" cap="flat" cmpd="sng" algn="ctr">
                      <a:solidFill>
                        <a:srgbClr val="CDD7DF"/>
                      </a:solidFill>
                      <a:prstDash val="solid"/>
                      <a:round/>
                      <a:headEnd type="none" w="med" len="med"/>
                      <a:tailEnd type="none" w="med" len="med"/>
                    </a:lnT>
                    <a:lnB w="9525">
                      <a:solidFill>
                        <a:srgbClr val="CDD7DF"/>
                      </a:solidFill>
                      <a:prstDash val="solid"/>
                    </a:lnB>
                    <a:solidFill>
                      <a:srgbClr val="FFFFFF"/>
                    </a:solidFill>
                  </a:tcPr>
                </a:tc>
                <a:tc>
                  <a:txBody>
                    <a:bodyPr/>
                    <a:lstStyle/>
                    <a:p>
                      <a:r>
                        <a:rPr sz="1650" b="0">
                          <a:solidFill>
                            <a:srgbClr val="233247"/>
                          </a:solidFill>
                          <a:latin typeface="Arial"/>
                          <a:ea typeface="Arial"/>
                          <a:cs typeface="Arial"/>
                        </a:rPr>
                        <a:t>[Final result]</a:t>
                      </a:r>
                    </a:p>
                  </a:txBody>
                  <a:tcPr>
                    <a:lnL w="9525" cap="flat" cmpd="sng" algn="ctr">
                      <a:solidFill>
                        <a:srgbClr val="CDD7DF"/>
                      </a:solidFill>
                      <a:prstDash val="solid"/>
                      <a:round/>
                      <a:headEnd type="none" w="med" len="med"/>
                      <a:tailEnd type="none" w="med" len="med"/>
                    </a:lnL>
                    <a:lnR w="9525">
                      <a:solidFill>
                        <a:srgbClr val="CDD7DF"/>
                      </a:solidFill>
                      <a:prstDash val="solid"/>
                    </a:lnR>
                    <a:lnT w="9525" cap="flat" cmpd="sng" algn="ctr">
                      <a:solidFill>
                        <a:srgbClr val="CDD7DF"/>
                      </a:solidFill>
                      <a:prstDash val="solid"/>
                      <a:round/>
                      <a:headEnd type="none" w="med" len="med"/>
                      <a:tailEnd type="none" w="med" len="med"/>
                    </a:lnT>
                    <a:lnB w="9525">
                      <a:solidFill>
                        <a:srgbClr val="CDD7DF"/>
                      </a:solidFill>
                      <a:prstDash val="solid"/>
                    </a:lnB>
                    <a:solidFill>
                      <a:srgbClr val="FFFFFF"/>
                    </a:solidFill>
                  </a:tcPr>
                </a:tc>
                <a:extLst>
                  <a:ext uri="{0D108BD9-81ED-4DB2-BD59-A6C34878D82A}">
                    <a16:rowId xmlns:a16="http://schemas.microsoft.com/office/drawing/2014/main" val="10002"/>
                  </a:ext>
                </a:extLst>
              </a:tr>
            </a:tbl>
          </a:graphicData>
        </a:graphic>
      </p:graphicFrame>
      <p:sp>
        <p:nvSpPr>
          <p:cNvPr id="5" name="Rectangle 4">
            <a:extLst>
              <a:ext uri="{FF2B5EF4-FFF2-40B4-BE49-F238E27FC236}">
                <a16:creationId xmlns:a16="http://schemas.microsoft.com/office/drawing/2014/main" id="{DFBBCF54-64EE-45B6-BD01-F09AAEC5E7AF}"/>
              </a:ext>
            </a:extLst>
          </p:cNvPr>
          <p:cNvSpPr>
            <a:spLocks noGrp="1"/>
          </p:cNvSpPr>
          <p:nvPr/>
        </p:nvSpPr>
        <p:spPr>
          <a:xfrm>
            <a:off x="685800" y="4429125"/>
            <a:ext cx="10572750" cy="571500"/>
          </a:xfrm>
          <a:prstGeom prst="rect">
            <a:avLst/>
          </a:prstGeom>
          <a:noFill/>
          <a:ln w="0">
            <a:noFill/>
            <a:prstDash val="solid"/>
          </a:ln>
        </p:spPr>
        <p:txBody>
          <a:bodyPr/>
          <a:lstStyle>
            <a:defPPr>
              <a:defRPr sz="1875" b="0">
                <a:solidFill>
                  <a:srgbClr val="233247"/>
                </a:solidFill>
                <a:latin typeface="Arial"/>
                <a:ea typeface="Arial"/>
                <a:cs typeface="Arial"/>
              </a:defRPr>
            </a:defPPr>
          </a:lstStyle>
          <a:p>
            <a:pPr>
              <a:defRPr sz="1875" b="0">
                <a:solidFill>
                  <a:srgbClr val="233247"/>
                </a:solidFill>
                <a:latin typeface="Arial"/>
                <a:ea typeface="Arial"/>
                <a:cs typeface="Arial"/>
              </a:defRPr>
            </a:pPr>
            <a:r>
              <a:rPr sz="1875" b="0">
                <a:solidFill>
                  <a:srgbClr val="233247"/>
                </a:solidFill>
                <a:latin typeface="Arial"/>
                <a:ea typeface="Arial"/>
                <a:cs typeface="Arial"/>
              </a:rPr>
              <a:t>Evaluation data: 30,296 multi-item baskets from 34,700 orders
Metrics: Support, Confidence, Lift, Leverage, Conviction
Algorithm benchmark: Apriori vs FP-Growth across 5 support thresholds</a:t>
            </a:r>
          </a:p>
        </p:txBody>
      </p:sp>
      <p:sp>
        <p:nvSpPr>
          <p:cNvPr id="6" name="Rectangle 5">
            <a:extLst>
              <a:ext uri="{FF2B5EF4-FFF2-40B4-BE49-F238E27FC236}">
                <a16:creationId xmlns:a16="http://schemas.microsoft.com/office/drawing/2014/main" id="{5191BCC3-0A13-4EAB-B38D-D4450625F4BE}"/>
              </a:ext>
            </a:extLst>
          </p:cNvPr>
          <p:cNvSpPr>
            <a:spLocks noGrp="1"/>
          </p:cNvSpPr>
          <p:nvPr/>
        </p:nvSpPr>
        <p:spPr>
          <a:xfrm>
            <a:off x="685800" y="5286375"/>
            <a:ext cx="10572750" cy="619125"/>
          </a:xfrm>
          <a:prstGeom prst="rect">
            <a:avLst/>
          </a:prstGeom>
          <a:noFill/>
          <a:ln w="0">
            <a:noFill/>
            <a:prstDash val="solid"/>
          </a:ln>
        </p:spPr>
        <p:txBody>
          <a:bodyPr/>
          <a:lstStyle>
            <a:defPPr>
              <a:defRPr sz="1875" b="0">
                <a:solidFill>
                  <a:srgbClr val="233247"/>
                </a:solidFill>
                <a:latin typeface="Arial"/>
                <a:ea typeface="Arial"/>
                <a:cs typeface="Arial"/>
              </a:defRPr>
            </a:defPPr>
          </a:lstStyle>
          <a:p>
            <a:pPr>
              <a:defRPr sz="1875" b="0">
                <a:solidFill>
                  <a:srgbClr val="233247"/>
                </a:solidFill>
                <a:latin typeface="Arial"/>
                <a:ea typeface="Arial"/>
                <a:cs typeface="Arial"/>
              </a:defRPr>
            </a:pPr>
            <a:r>
              <a:rPr sz="1875" b="0">
                <a:solidFill>
                  <a:srgbClr val="233247"/>
                </a:solidFill>
                <a:latin typeface="Arial"/>
                <a:ea typeface="Arial"/>
                <a:cs typeface="Arial"/>
              </a:rPr>
              <a:t>Selected: FP-Growth (retained for scalability at min_support=0.03)
Algorithm comparison at support=0.03:
Apriori: 42 itemsets | 0.074s | FP-Growth: 42 itemsets | 0.169s
Note: Apriori is faster at low item counts; FP-Growth scales better &gt;10K SKUs
Top Rules:
1. Malabar Paratha bundle — Lift 5.11x — Frozen Breakfast
2. Spring Onion + Tomato — Lift 2.26x — Indian Cooking
3. Apple + Banana — Lift 2.26x — Fresh Fruit
4. Kettle Chips + 7UP — Lift 1.87x — Snack+Drink
5. Milk + Bread — Lift 1.85x — Morning Dairy
Limitation: Transaction data is synthetic (research-grounded);
real basket validation required before production deployment.</a:t>
            </a:r>
          </a:p>
        </p:txBody>
      </p:sp>
      <p:pic>
        <p:nvPicPr>
          <p:cNvPr id="8" name="Picture 7" descr="07_association_runtime_benchmark.png"/>
          <p:cNvPicPr>
            <a:picLocks noChangeAspect="1"/>
          </p:cNvPicPr>
          <p:nvPr/>
        </p:nvPicPr>
        <p:blipFill>
          <a:blip r:embed="rId3"/>
          <a:stretch>
            <a:fillRect/>
          </a:stretch>
        </p:blipFill>
        <p:spPr>
          <a:xfrm>
            <a:off x="182880" y="2286000"/>
            <a:ext cx="4389120" cy="2560320"/>
          </a:xfrm>
          <a:prstGeom prst="rect">
            <a:avLst/>
          </a:prstGeom>
        </p:spPr>
      </p:pic>
      <p:pic>
        <p:nvPicPr>
          <p:cNvPr id="9" name="Picture 8" descr="08_rules_support_confidence_lift.png"/>
          <p:cNvPicPr>
            <a:picLocks noChangeAspect="1"/>
          </p:cNvPicPr>
          <p:nvPr/>
        </p:nvPicPr>
        <p:blipFill>
          <a:blip r:embed="rId4"/>
          <a:stretch>
            <a:fillRect/>
          </a:stretch>
        </p:blipFill>
        <p:spPr>
          <a:xfrm>
            <a:off x="4754880" y="2286000"/>
            <a:ext cx="4389120" cy="2560320"/>
          </a:xfrm>
          <a:prstGeom prst="rect">
            <a:avLst/>
          </a:prstGeom>
        </p:spPr>
      </p:pic>
      <p:pic>
        <p:nvPicPr>
          <p:cNvPr id="10" name="Picture 9" descr="09_top10_bundle_recommendations.png"/>
          <p:cNvPicPr>
            <a:picLocks noChangeAspect="1"/>
          </p:cNvPicPr>
          <p:nvPr/>
        </p:nvPicPr>
        <p:blipFill>
          <a:blip r:embed="rId5"/>
          <a:stretch>
            <a:fillRect/>
          </a:stretch>
        </p:blipFill>
        <p:spPr>
          <a:xfrm>
            <a:off x="182880" y="5029200"/>
            <a:ext cx="8961120" cy="1828800"/>
          </a:xfrm>
          <a:prstGeom prst="rect">
            <a:avLst/>
          </a:prstGeom>
        </p:spPr>
      </p:pic>
    </p:spTree>
    <p:extLst>
      <p:ext uri="{BB962C8B-B14F-4D97-AF65-F5344CB8AC3E}">
        <p14:creationId xmlns:p14="http://schemas.microsoft.com/office/powerpoint/2010/main" val="1361466874"/>
      </p:ext>
    </p:extLst>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sp>
        <p:nvSpPr>
          <p:cNvPr id="6" name="Rectangle 5">
            <a:extLst>
              <a:ext uri="{FF2B5EF4-FFF2-40B4-BE49-F238E27FC236}">
                <a16:creationId xmlns:a16="http://schemas.microsoft.com/office/drawing/2014/main" id="{852DBF9C-744E-492C-A7E5-BDEFF7589C7B}"/>
              </a:ext>
            </a:extLst>
          </p:cNvPr>
          <p:cNvSpPr>
            <a:spLocks noGrp="1"/>
          </p:cNvSpPr>
          <p:nvPr/>
        </p:nvSpPr>
        <p:spPr>
          <a:xfrm>
            <a:off x="609600" y="342900"/>
            <a:ext cx="10477500" cy="285750"/>
          </a:xfrm>
          <a:prstGeom prst="rect">
            <a:avLst/>
          </a:prstGeom>
          <a:noFill/>
          <a:ln w="0">
            <a:noFill/>
            <a:prstDash val="solid"/>
          </a:ln>
        </p:spPr>
        <p:txBody>
          <a:bodyPr/>
          <a:lstStyle>
            <a:defPPr>
              <a:defRPr sz="1350" b="1">
                <a:solidFill>
                  <a:srgbClr val="157A80"/>
                </a:solidFill>
                <a:latin typeface="Arial"/>
                <a:ea typeface="Arial"/>
                <a:cs typeface="Arial"/>
              </a:defRPr>
            </a:defPPr>
          </a:lstStyle>
          <a:p>
            <a:pPr>
              <a:defRPr sz="1350" b="1">
                <a:solidFill>
                  <a:srgbClr val="157A80"/>
                </a:solidFill>
                <a:latin typeface="Arial"/>
                <a:ea typeface="Arial"/>
                <a:cs typeface="Arial"/>
              </a:defRPr>
            </a:pPr>
            <a:r>
              <a:rPr sz="1350" b="1">
                <a:solidFill>
                  <a:srgbClr val="157A80"/>
                </a:solidFill>
                <a:latin typeface="Arial"/>
                <a:ea typeface="Arial"/>
                <a:cs typeface="Arial"/>
              </a:rPr>
              <a:t>BUSINESS OUTCOMES</a:t>
            </a:r>
          </a:p>
        </p:txBody>
      </p:sp>
      <p:sp>
        <p:nvSpPr>
          <p:cNvPr id="2" name="Rectangle 1">
            <a:extLst>
              <a:ext uri="{FF2B5EF4-FFF2-40B4-BE49-F238E27FC236}">
                <a16:creationId xmlns:a16="http://schemas.microsoft.com/office/drawing/2014/main" id="{2DABD7BE-F155-4E5B-8B7C-CEB00E6CAB55}"/>
              </a:ext>
            </a:extLst>
          </p:cNvPr>
          <p:cNvSpPr>
            <a:spLocks noGrp="1"/>
          </p:cNvSpPr>
          <p:nvPr/>
        </p:nvSpPr>
        <p:spPr>
          <a:xfrm>
            <a:off x="609600" y="838200"/>
            <a:ext cx="10972800" cy="857250"/>
          </a:xfrm>
          <a:prstGeom prst="rect">
            <a:avLst/>
          </a:prstGeom>
          <a:noFill/>
          <a:ln w="0">
            <a:noFill/>
            <a:prstDash val="solid"/>
          </a:ln>
        </p:spPr>
        <p:txBody>
          <a:bodyPr/>
          <a:lstStyle>
            <a:defPPr>
              <a:defRPr sz="3150" b="1">
                <a:solidFill>
                  <a:srgbClr val="142D4E"/>
                </a:solidFill>
                <a:latin typeface="Arial"/>
                <a:ea typeface="Arial"/>
                <a:cs typeface="Arial"/>
              </a:defRPr>
            </a:defPPr>
          </a:lstStyle>
          <a:p>
            <a:pPr>
              <a:defRPr sz="3150" b="1">
                <a:solidFill>
                  <a:srgbClr val="142D4E"/>
                </a:solidFill>
                <a:latin typeface="Arial"/>
                <a:ea typeface="Arial"/>
                <a:cs typeface="Arial"/>
              </a:defRPr>
            </a:pPr>
            <a:r>
              <a:rPr sz="3150" b="1">
                <a:solidFill>
                  <a:srgbClr val="142D4E"/>
                </a:solidFill>
                <a:latin typeface="Arial"/>
                <a:ea typeface="Arial"/>
                <a:cs typeface="Arial"/>
              </a:rPr>
              <a:t>Combined insights and recommendations</a:t>
            </a:r>
          </a:p>
        </p:txBody>
      </p:sp>
      <p:sp>
        <p:nvSpPr>
          <p:cNvPr id="3" name="Rectangle 2">
            <a:extLst>
              <a:ext uri="{FF2B5EF4-FFF2-40B4-BE49-F238E27FC236}">
                <a16:creationId xmlns:a16="http://schemas.microsoft.com/office/drawing/2014/main" id="{8EB3C204-9B86-4425-8ACC-1F35AFE39C73}"/>
              </a:ext>
            </a:extLst>
          </p:cNvPr>
          <p:cNvSpPr>
            <a:spLocks noGrp="1"/>
          </p:cNvSpPr>
          <p:nvPr/>
        </p:nvSpPr>
        <p:spPr>
          <a:xfrm>
            <a:off x="10953750" y="6343650"/>
            <a:ext cx="619125" cy="238125"/>
          </a:xfrm>
          <a:prstGeom prst="rect">
            <a:avLst/>
          </a:prstGeom>
          <a:noFill/>
          <a:ln w="0">
            <a:noFill/>
            <a:prstDash val="solid"/>
          </a:ln>
        </p:spPr>
        <p:txBody>
          <a:bodyPr/>
          <a:lstStyle>
            <a:defPPr>
              <a:defRPr sz="1200" b="0">
                <a:solidFill>
                  <a:srgbClr val="66758A"/>
                </a:solidFill>
                <a:latin typeface="Arial"/>
                <a:ea typeface="Arial"/>
                <a:cs typeface="Arial"/>
              </a:defRPr>
            </a:defPPr>
          </a:lstStyle>
          <a:p>
            <a:pPr>
              <a:defRPr sz="1200" b="0">
                <a:solidFill>
                  <a:srgbClr val="66758A"/>
                </a:solidFill>
                <a:latin typeface="Arial"/>
                <a:ea typeface="Arial"/>
                <a:cs typeface="Arial"/>
              </a:defRPr>
            </a:pPr>
            <a:r>
              <a:rPr sz="1200" b="0">
                <a:solidFill>
                  <a:srgbClr val="66758A"/>
                </a:solidFill>
                <a:latin typeface="Arial"/>
                <a:ea typeface="Arial"/>
                <a:cs typeface="Arial"/>
              </a:rPr>
              <a:t>14</a:t>
            </a:r>
          </a:p>
        </p:txBody>
      </p:sp>
      <p:graphicFrame>
        <p:nvGraphicFramePr>
          <p:cNvPr id="4" name="Table 3">
            <a:extLst>
              <a:ext uri="{FF2B5EF4-FFF2-40B4-BE49-F238E27FC236}">
                <a16:creationId xmlns:a16="http://schemas.microsoft.com/office/drawing/2014/main" id="{E302BA3C-6A30-4CD9-AEDE-C59CC09F7462}"/>
              </a:ext>
            </a:extLst>
          </p:cNvPr>
          <p:cNvGraphicFramePr/>
          <p:nvPr/>
        </p:nvGraphicFramePr>
        <p:xfrm>
          <a:off x="609600" y="2143125"/>
          <a:ext cx="10972800" cy="2857500"/>
        </p:xfrm>
        <a:graphic>
          <a:graphicData uri="http://schemas.openxmlformats.org/drawingml/2006/table">
            <a:tbl>
              <a:tblPr/>
              <a:tblGrid>
                <a:gridCol w="4000500">
                  <a:extLst>
                    <a:ext uri="{9D8B030D-6E8A-4147-A177-3AD203B41FA5}">
                      <a16:colId xmlns:a16="http://schemas.microsoft.com/office/drawing/2014/main" val="20000"/>
                    </a:ext>
                  </a:extLst>
                </a:gridCol>
                <a:gridCol w="3619500">
                  <a:extLst>
                    <a:ext uri="{9D8B030D-6E8A-4147-A177-3AD203B41FA5}">
                      <a16:colId xmlns:a16="http://schemas.microsoft.com/office/drawing/2014/main" val="20001"/>
                    </a:ext>
                  </a:extLst>
                </a:gridCol>
                <a:gridCol w="3352800">
                  <a:extLst>
                    <a:ext uri="{9D8B030D-6E8A-4147-A177-3AD203B41FA5}">
                      <a16:colId xmlns:a16="http://schemas.microsoft.com/office/drawing/2014/main" val="20002"/>
                    </a:ext>
                  </a:extLst>
                </a:gridCol>
              </a:tblGrid>
              <a:tr h="952500">
                <a:tc>
                  <a:txBody>
                    <a:bodyPr/>
                    <a:lstStyle/>
                    <a:p>
                      <a:r>
                        <a:rPr sz="1650" b="1">
                          <a:solidFill>
                            <a:srgbClr val="FFFFFF"/>
                          </a:solidFill>
                          <a:latin typeface="Arial"/>
                          <a:ea typeface="Arial"/>
                          <a:cs typeface="Arial"/>
                        </a:rPr>
                        <a:t>Evidence from the project</a:t>
                      </a:r>
                    </a:p>
                  </a:txBody>
                  <a:tcPr>
                    <a:lnL w="9525">
                      <a:solidFill>
                        <a:srgbClr val="CDD7DF"/>
                      </a:solidFill>
                      <a:prstDash val="solid"/>
                    </a:lnL>
                    <a:lnR w="9525">
                      <a:solidFill>
                        <a:srgbClr val="CDD7DF"/>
                      </a:solidFill>
                      <a:prstDash val="solid"/>
                    </a:lnR>
                    <a:lnT w="9525">
                      <a:solidFill>
                        <a:srgbClr val="CDD7DF"/>
                      </a:solidFill>
                      <a:prstDash val="solid"/>
                    </a:lnT>
                    <a:lnB w="9525">
                      <a:solidFill>
                        <a:srgbClr val="CDD7DF"/>
                      </a:solidFill>
                      <a:prstDash val="solid"/>
                    </a:lnB>
                    <a:solidFill>
                      <a:srgbClr val="142D4E"/>
                    </a:solidFill>
                  </a:tcPr>
                </a:tc>
                <a:tc>
                  <a:txBody>
                    <a:bodyPr/>
                    <a:lstStyle/>
                    <a:p>
                      <a:r>
                        <a:rPr sz="1650" b="1">
                          <a:solidFill>
                            <a:srgbClr val="FFFFFF"/>
                          </a:solidFill>
                          <a:latin typeface="Arial"/>
                          <a:ea typeface="Arial"/>
                          <a:cs typeface="Arial"/>
                        </a:rPr>
                        <a:t>Recommended action</a:t>
                      </a:r>
                    </a:p>
                  </a:txBody>
                  <a:tcPr>
                    <a:lnL w="9525" cap="flat" cmpd="sng" algn="ctr">
                      <a:solidFill>
                        <a:srgbClr val="CDD7DF"/>
                      </a:solidFill>
                      <a:prstDash val="solid"/>
                      <a:round/>
                      <a:headEnd type="none" w="med" len="med"/>
                      <a:tailEnd type="none" w="med" len="med"/>
                    </a:lnL>
                    <a:lnR w="9525">
                      <a:solidFill>
                        <a:srgbClr val="CDD7DF"/>
                      </a:solidFill>
                      <a:prstDash val="solid"/>
                    </a:lnR>
                    <a:lnT w="9525">
                      <a:solidFill>
                        <a:srgbClr val="CDD7DF"/>
                      </a:solidFill>
                      <a:prstDash val="solid"/>
                    </a:lnT>
                    <a:lnB w="9525">
                      <a:solidFill>
                        <a:srgbClr val="CDD7DF"/>
                      </a:solidFill>
                      <a:prstDash val="solid"/>
                    </a:lnB>
                    <a:solidFill>
                      <a:srgbClr val="142D4E"/>
                    </a:solidFill>
                  </a:tcPr>
                </a:tc>
                <a:tc>
                  <a:txBody>
                    <a:bodyPr/>
                    <a:lstStyle/>
                    <a:p>
                      <a:r>
                        <a:rPr sz="1650" b="1">
                          <a:solidFill>
                            <a:srgbClr val="FFFFFF"/>
                          </a:solidFill>
                          <a:latin typeface="Arial"/>
                          <a:ea typeface="Arial"/>
                          <a:cs typeface="Arial"/>
                        </a:rPr>
                        <a:t>Expected benefit / limitation</a:t>
                      </a:r>
                    </a:p>
                  </a:txBody>
                  <a:tcPr>
                    <a:lnL w="9525" cap="flat" cmpd="sng" algn="ctr">
                      <a:solidFill>
                        <a:srgbClr val="CDD7DF"/>
                      </a:solidFill>
                      <a:prstDash val="solid"/>
                      <a:round/>
                      <a:headEnd type="none" w="med" len="med"/>
                      <a:tailEnd type="none" w="med" len="med"/>
                    </a:lnL>
                    <a:lnR w="9525">
                      <a:solidFill>
                        <a:srgbClr val="CDD7DF"/>
                      </a:solidFill>
                      <a:prstDash val="solid"/>
                    </a:lnR>
                    <a:lnT w="9525">
                      <a:solidFill>
                        <a:srgbClr val="CDD7DF"/>
                      </a:solidFill>
                      <a:prstDash val="solid"/>
                    </a:lnT>
                    <a:lnB w="9525">
                      <a:solidFill>
                        <a:srgbClr val="CDD7DF"/>
                      </a:solidFill>
                      <a:prstDash val="solid"/>
                    </a:lnB>
                    <a:solidFill>
                      <a:srgbClr val="142D4E"/>
                    </a:solidFill>
                  </a:tcPr>
                </a:tc>
                <a:extLst>
                  <a:ext uri="{0D108BD9-81ED-4DB2-BD59-A6C34878D82A}">
                    <a16:rowId xmlns:a16="http://schemas.microsoft.com/office/drawing/2014/main" val="10000"/>
                  </a:ext>
                </a:extLst>
              </a:tr>
              <a:tr h="952500">
                <a:tc>
                  <a:txBody>
                    <a:bodyPr/>
                    <a:lstStyle/>
                    <a:p>
                      <a:r>
                        <a:rPr sz="1650" b="0">
                          <a:solidFill>
                            <a:srgbClr val="233247"/>
                          </a:solidFill>
                          <a:latin typeface="Arial"/>
                          <a:ea typeface="Arial"/>
                          <a:cs typeface="Arial"/>
                        </a:rPr>
                        <a:t>[Unit 2 + Unit 3 finding]</a:t>
                      </a:r>
                    </a:p>
                  </a:txBody>
                  <a:tcPr>
                    <a:lnL w="9525">
                      <a:solidFill>
                        <a:srgbClr val="CDD7DF"/>
                      </a:solidFill>
                      <a:prstDash val="solid"/>
                    </a:lnL>
                    <a:lnR w="9525">
                      <a:solidFill>
                        <a:srgbClr val="CDD7DF"/>
                      </a:solidFill>
                      <a:prstDash val="solid"/>
                    </a:lnR>
                    <a:lnT w="9525" cap="flat" cmpd="sng" algn="ctr">
                      <a:solidFill>
                        <a:srgbClr val="CDD7DF"/>
                      </a:solidFill>
                      <a:prstDash val="solid"/>
                      <a:round/>
                      <a:headEnd type="none" w="med" len="med"/>
                      <a:tailEnd type="none" w="med" len="med"/>
                    </a:lnT>
                    <a:lnB w="9525">
                      <a:solidFill>
                        <a:srgbClr val="CDD7DF"/>
                      </a:solidFill>
                      <a:prstDash val="solid"/>
                    </a:lnB>
                    <a:solidFill>
                      <a:srgbClr val="F0F5F7"/>
                    </a:solidFill>
                  </a:tcPr>
                </a:tc>
                <a:tc>
                  <a:txBody>
                    <a:bodyPr/>
                    <a:lstStyle/>
                    <a:p>
                      <a:r>
                        <a:rPr sz="1650" b="0">
                          <a:solidFill>
                            <a:srgbClr val="233247"/>
                          </a:solidFill>
                          <a:latin typeface="Arial"/>
                          <a:ea typeface="Arial"/>
                          <a:cs typeface="Arial"/>
                        </a:rPr>
                        <a:t>[Specific business action]</a:t>
                      </a:r>
                    </a:p>
                  </a:txBody>
                  <a:tcPr>
                    <a:lnL w="9525" cap="flat" cmpd="sng" algn="ctr">
                      <a:solidFill>
                        <a:srgbClr val="CDD7DF"/>
                      </a:solidFill>
                      <a:prstDash val="solid"/>
                      <a:round/>
                      <a:headEnd type="none" w="med" len="med"/>
                      <a:tailEnd type="none" w="med" len="med"/>
                    </a:lnL>
                    <a:lnR w="9525">
                      <a:solidFill>
                        <a:srgbClr val="CDD7DF"/>
                      </a:solidFill>
                      <a:prstDash val="solid"/>
                    </a:lnR>
                    <a:lnT w="9525" cap="flat" cmpd="sng" algn="ctr">
                      <a:solidFill>
                        <a:srgbClr val="CDD7DF"/>
                      </a:solidFill>
                      <a:prstDash val="solid"/>
                      <a:round/>
                      <a:headEnd type="none" w="med" len="med"/>
                      <a:tailEnd type="none" w="med" len="med"/>
                    </a:lnT>
                    <a:lnB w="9525">
                      <a:solidFill>
                        <a:srgbClr val="CDD7DF"/>
                      </a:solidFill>
                      <a:prstDash val="solid"/>
                    </a:lnB>
                    <a:solidFill>
                      <a:srgbClr val="F0F5F7"/>
                    </a:solidFill>
                  </a:tcPr>
                </a:tc>
                <a:tc>
                  <a:txBody>
                    <a:bodyPr/>
                    <a:lstStyle/>
                    <a:p>
                      <a:r>
                        <a:rPr sz="1650" b="0">
                          <a:solidFill>
                            <a:srgbClr val="233247"/>
                          </a:solidFill>
                          <a:latin typeface="Arial"/>
                          <a:ea typeface="Arial"/>
                          <a:cs typeface="Arial"/>
                        </a:rPr>
                        <a:t>[Benefit and assumption]</a:t>
                      </a:r>
                    </a:p>
                  </a:txBody>
                  <a:tcPr>
                    <a:lnL w="9525" cap="flat" cmpd="sng" algn="ctr">
                      <a:solidFill>
                        <a:srgbClr val="CDD7DF"/>
                      </a:solidFill>
                      <a:prstDash val="solid"/>
                      <a:round/>
                      <a:headEnd type="none" w="med" len="med"/>
                      <a:tailEnd type="none" w="med" len="med"/>
                    </a:lnL>
                    <a:lnR w="9525">
                      <a:solidFill>
                        <a:srgbClr val="CDD7DF"/>
                      </a:solidFill>
                      <a:prstDash val="solid"/>
                    </a:lnR>
                    <a:lnT w="9525" cap="flat" cmpd="sng" algn="ctr">
                      <a:solidFill>
                        <a:srgbClr val="CDD7DF"/>
                      </a:solidFill>
                      <a:prstDash val="solid"/>
                      <a:round/>
                      <a:headEnd type="none" w="med" len="med"/>
                      <a:tailEnd type="none" w="med" len="med"/>
                    </a:lnT>
                    <a:lnB w="9525">
                      <a:solidFill>
                        <a:srgbClr val="CDD7DF"/>
                      </a:solidFill>
                      <a:prstDash val="solid"/>
                    </a:lnB>
                    <a:solidFill>
                      <a:srgbClr val="F0F5F7"/>
                    </a:solidFill>
                  </a:tcPr>
                </a:tc>
                <a:extLst>
                  <a:ext uri="{0D108BD9-81ED-4DB2-BD59-A6C34878D82A}">
                    <a16:rowId xmlns:a16="http://schemas.microsoft.com/office/drawing/2014/main" val="10001"/>
                  </a:ext>
                </a:extLst>
              </a:tr>
              <a:tr h="952500">
                <a:tc>
                  <a:txBody>
                    <a:bodyPr/>
                    <a:lstStyle/>
                    <a:p>
                      <a:r>
                        <a:rPr sz="1650" b="0">
                          <a:solidFill>
                            <a:srgbClr val="233247"/>
                          </a:solidFill>
                          <a:latin typeface="Arial"/>
                          <a:ea typeface="Arial"/>
                          <a:cs typeface="Arial"/>
                        </a:rPr>
                        <a:t>[Finding across both Unit 3 methods]</a:t>
                      </a:r>
                    </a:p>
                  </a:txBody>
                  <a:tcPr>
                    <a:lnL w="9525">
                      <a:solidFill>
                        <a:srgbClr val="CDD7DF"/>
                      </a:solidFill>
                      <a:prstDash val="solid"/>
                    </a:lnL>
                    <a:lnR w="9525">
                      <a:solidFill>
                        <a:srgbClr val="CDD7DF"/>
                      </a:solidFill>
                      <a:prstDash val="solid"/>
                    </a:lnR>
                    <a:lnT w="9525" cap="flat" cmpd="sng" algn="ctr">
                      <a:solidFill>
                        <a:srgbClr val="CDD7DF"/>
                      </a:solidFill>
                      <a:prstDash val="solid"/>
                      <a:round/>
                      <a:headEnd type="none" w="med" len="med"/>
                      <a:tailEnd type="none" w="med" len="med"/>
                    </a:lnT>
                    <a:lnB w="9525">
                      <a:solidFill>
                        <a:srgbClr val="CDD7DF"/>
                      </a:solidFill>
                      <a:prstDash val="solid"/>
                    </a:lnB>
                    <a:solidFill>
                      <a:srgbClr val="FFFFFF"/>
                    </a:solidFill>
                  </a:tcPr>
                </a:tc>
                <a:tc>
                  <a:txBody>
                    <a:bodyPr/>
                    <a:lstStyle/>
                    <a:p>
                      <a:r>
                        <a:rPr sz="1650" b="0">
                          <a:solidFill>
                            <a:srgbClr val="233247"/>
                          </a:solidFill>
                          <a:latin typeface="Arial"/>
                          <a:ea typeface="Arial"/>
                          <a:cs typeface="Arial"/>
                        </a:rPr>
                        <a:t>[Specific business action]</a:t>
                      </a:r>
                    </a:p>
                  </a:txBody>
                  <a:tcPr>
                    <a:lnL w="9525" cap="flat" cmpd="sng" algn="ctr">
                      <a:solidFill>
                        <a:srgbClr val="CDD7DF"/>
                      </a:solidFill>
                      <a:prstDash val="solid"/>
                      <a:round/>
                      <a:headEnd type="none" w="med" len="med"/>
                      <a:tailEnd type="none" w="med" len="med"/>
                    </a:lnL>
                    <a:lnR w="9525">
                      <a:solidFill>
                        <a:srgbClr val="CDD7DF"/>
                      </a:solidFill>
                      <a:prstDash val="solid"/>
                    </a:lnR>
                    <a:lnT w="9525" cap="flat" cmpd="sng" algn="ctr">
                      <a:solidFill>
                        <a:srgbClr val="CDD7DF"/>
                      </a:solidFill>
                      <a:prstDash val="solid"/>
                      <a:round/>
                      <a:headEnd type="none" w="med" len="med"/>
                      <a:tailEnd type="none" w="med" len="med"/>
                    </a:lnT>
                    <a:lnB w="9525">
                      <a:solidFill>
                        <a:srgbClr val="CDD7DF"/>
                      </a:solidFill>
                      <a:prstDash val="solid"/>
                    </a:lnB>
                    <a:solidFill>
                      <a:srgbClr val="FFFFFF"/>
                    </a:solidFill>
                  </a:tcPr>
                </a:tc>
                <a:tc>
                  <a:txBody>
                    <a:bodyPr/>
                    <a:lstStyle/>
                    <a:p>
                      <a:r>
                        <a:rPr sz="1650" b="0">
                          <a:solidFill>
                            <a:srgbClr val="233247"/>
                          </a:solidFill>
                          <a:latin typeface="Arial"/>
                          <a:ea typeface="Arial"/>
                          <a:cs typeface="Arial"/>
                        </a:rPr>
                        <a:t>[Benefit and limitation]</a:t>
                      </a:r>
                    </a:p>
                  </a:txBody>
                  <a:tcPr>
                    <a:lnL w="9525" cap="flat" cmpd="sng" algn="ctr">
                      <a:solidFill>
                        <a:srgbClr val="CDD7DF"/>
                      </a:solidFill>
                      <a:prstDash val="solid"/>
                      <a:round/>
                      <a:headEnd type="none" w="med" len="med"/>
                      <a:tailEnd type="none" w="med" len="med"/>
                    </a:lnL>
                    <a:lnR w="9525">
                      <a:solidFill>
                        <a:srgbClr val="CDD7DF"/>
                      </a:solidFill>
                      <a:prstDash val="solid"/>
                    </a:lnR>
                    <a:lnT w="9525" cap="flat" cmpd="sng" algn="ctr">
                      <a:solidFill>
                        <a:srgbClr val="CDD7DF"/>
                      </a:solidFill>
                      <a:prstDash val="solid"/>
                      <a:round/>
                      <a:headEnd type="none" w="med" len="med"/>
                      <a:tailEnd type="none" w="med" len="med"/>
                    </a:lnT>
                    <a:lnB w="9525">
                      <a:solidFill>
                        <a:srgbClr val="CDD7DF"/>
                      </a:solidFill>
                      <a:prstDash val="solid"/>
                    </a:lnB>
                    <a:solidFill>
                      <a:srgbClr val="FFFFFF"/>
                    </a:solidFill>
                  </a:tcPr>
                </a:tc>
                <a:extLst>
                  <a:ext uri="{0D108BD9-81ED-4DB2-BD59-A6C34878D82A}">
                    <a16:rowId xmlns:a16="http://schemas.microsoft.com/office/drawing/2014/main" val="10002"/>
                  </a:ext>
                </a:extLst>
              </a:tr>
            </a:tbl>
          </a:graphicData>
        </a:graphic>
      </p:graphicFrame>
      <p:sp>
        <p:nvSpPr>
          <p:cNvPr id="5" name="Rectangle 4">
            <a:extLst>
              <a:ext uri="{FF2B5EF4-FFF2-40B4-BE49-F238E27FC236}">
                <a16:creationId xmlns:a16="http://schemas.microsoft.com/office/drawing/2014/main" id="{7427B3EC-740C-4640-BB6D-A6F13A67A394}"/>
              </a:ext>
            </a:extLst>
          </p:cNvPr>
          <p:cNvSpPr>
            <a:spLocks noGrp="1"/>
          </p:cNvSpPr>
          <p:nvPr/>
        </p:nvSpPr>
        <p:spPr>
          <a:xfrm>
            <a:off x="685800" y="5476875"/>
            <a:ext cx="10572750" cy="571500"/>
          </a:xfrm>
          <a:prstGeom prst="rect">
            <a:avLst/>
          </a:prstGeom>
          <a:noFill/>
          <a:ln w="0">
            <a:noFill/>
            <a:prstDash val="solid"/>
          </a:ln>
        </p:spPr>
        <p:txBody>
          <a:bodyPr/>
          <a:lstStyle>
            <a:defPPr>
              <a:defRPr sz="1950" b="0">
                <a:solidFill>
                  <a:srgbClr val="233247"/>
                </a:solidFill>
                <a:latin typeface="Arial"/>
                <a:ea typeface="Arial"/>
                <a:cs typeface="Arial"/>
              </a:defRPr>
            </a:defPPr>
          </a:lstStyle>
          <a:p>
            <a:pPr>
              <a:defRPr sz="1950" b="0">
                <a:solidFill>
                  <a:srgbClr val="233247"/>
                </a:solidFill>
                <a:latin typeface="Arial"/>
                <a:ea typeface="Arial"/>
                <a:cs typeface="Arial"/>
              </a:defRPr>
            </a:pPr>
            <a:r>
              <a:rPr sz="1950" b="0">
                <a:solidFill>
                  <a:srgbClr val="233247"/>
                </a:solidFill>
                <a:latin typeface="Arial"/>
                <a:ea typeface="Arial"/>
                <a:cs typeface="Arial"/>
              </a:rPr>
              <a:t>Business objective addressed:
FORECASTING OUTCOMES:
• XGBoost predicts demand 30 days ahead with WAPE 8.29% — enables
  just-in-time replenishment and eliminates reactive emergency restocking.
• Weekend uplift (+35%) confirmed — trigger dairy/frozen stock increase
  every Friday by 18:00.
BUNDLE RECOMMENDATION OUTCOMES:
• 42 rules with Lift &gt;1.15 identify high-value cross-sell opportunities.
• Malabar Paratha bundle (5.11x lift) — highest-priority promotion.
• Sabzi Essentials (Tomato+Onion+Potato, 2.26x lift) — co-locate in store.
• Expected basket uplift: Rs 47–89 per order applying top 10 rules.
PRICING INSIGHTS:
• 44% of SKUs in 10–20% discount band — modal strategy validated.
• 100% MRP compliance confirmed across all 609 products.
• Reserve &gt;30% discounts exclusively for perishable clearance.
ESTIMATED REVENUE IMPACT:
• 1,500 orders/day × Rs 68 avg uplift × 365 = Rs 3.7 Cr annual opportunity</a:t>
            </a:r>
          </a:p>
        </p:txBody>
      </p:sp>
      <p:sp>
        <p:nvSpPr>
          <p:cNvPr id="7" name="TextBox 6"/>
          <p:cNvSpPr txBox="1"/>
          <p:nvPr/>
        </p:nvSpPr>
        <p:spPr>
          <a:xfrm>
            <a:off x="457200" y="5120640"/>
            <a:ext cx="2011680" cy="457200"/>
          </a:xfrm>
          <a:prstGeom prst="rect">
            <a:avLst/>
          </a:prstGeom>
          <a:noFill/>
        </p:spPr>
        <p:txBody>
          <a:bodyPr wrap="square">
            <a:spAutoFit/>
          </a:bodyPr>
          <a:lstStyle/>
          <a:p>
            <a:pPr algn="ctr"/>
            <a:r>
              <a:rPr sz="2000" b="1">
                <a:solidFill>
                  <a:srgbClr val="2ECC71"/>
                </a:solidFill>
              </a:rPr>
              <a:t>5.11x</a:t>
            </a:r>
          </a:p>
        </p:txBody>
      </p:sp>
      <p:sp>
        <p:nvSpPr>
          <p:cNvPr id="8" name="TextBox 7"/>
          <p:cNvSpPr txBox="1"/>
          <p:nvPr/>
        </p:nvSpPr>
        <p:spPr>
          <a:xfrm>
            <a:off x="457200" y="5596127"/>
            <a:ext cx="2011680" cy="365760"/>
          </a:xfrm>
          <a:prstGeom prst="rect">
            <a:avLst/>
          </a:prstGeom>
          <a:noFill/>
        </p:spPr>
        <p:txBody>
          <a:bodyPr wrap="square">
            <a:spAutoFit/>
          </a:bodyPr>
          <a:lstStyle/>
          <a:p>
            <a:pPr algn="ctr"/>
            <a:r>
              <a:rPr sz="1000" b="0">
                <a:solidFill>
                  <a:srgbClr val="ECF0F1"/>
                </a:solidFill>
              </a:rPr>
              <a:t>Top Lift Rule</a:t>
            </a:r>
          </a:p>
        </p:txBody>
      </p:sp>
      <p:sp>
        <p:nvSpPr>
          <p:cNvPr id="9" name="TextBox 8"/>
          <p:cNvSpPr txBox="1"/>
          <p:nvPr/>
        </p:nvSpPr>
        <p:spPr>
          <a:xfrm>
            <a:off x="2743200" y="5120640"/>
            <a:ext cx="2011680" cy="457200"/>
          </a:xfrm>
          <a:prstGeom prst="rect">
            <a:avLst/>
          </a:prstGeom>
          <a:noFill/>
        </p:spPr>
        <p:txBody>
          <a:bodyPr wrap="square">
            <a:spAutoFit/>
          </a:bodyPr>
          <a:lstStyle/>
          <a:p>
            <a:pPr algn="ctr"/>
            <a:r>
              <a:rPr sz="2000" b="1">
                <a:solidFill>
                  <a:srgbClr val="2ECC71"/>
                </a:solidFill>
              </a:rPr>
              <a:t>99.50</a:t>
            </a:r>
          </a:p>
        </p:txBody>
      </p:sp>
      <p:sp>
        <p:nvSpPr>
          <p:cNvPr id="10" name="TextBox 9"/>
          <p:cNvSpPr txBox="1"/>
          <p:nvPr/>
        </p:nvSpPr>
        <p:spPr>
          <a:xfrm>
            <a:off x="2743200" y="5596127"/>
            <a:ext cx="2011680" cy="365760"/>
          </a:xfrm>
          <a:prstGeom prst="rect">
            <a:avLst/>
          </a:prstGeom>
          <a:noFill/>
        </p:spPr>
        <p:txBody>
          <a:bodyPr wrap="square">
            <a:spAutoFit/>
          </a:bodyPr>
          <a:lstStyle/>
          <a:p>
            <a:pPr algn="ctr"/>
            <a:r>
              <a:rPr sz="1000" b="0">
                <a:solidFill>
                  <a:srgbClr val="ECF0F1"/>
                </a:solidFill>
              </a:rPr>
              <a:t>Best RMSE</a:t>
            </a:r>
          </a:p>
        </p:txBody>
      </p:sp>
      <p:sp>
        <p:nvSpPr>
          <p:cNvPr id="11" name="TextBox 10"/>
          <p:cNvSpPr txBox="1"/>
          <p:nvPr/>
        </p:nvSpPr>
        <p:spPr>
          <a:xfrm>
            <a:off x="5029200" y="5120640"/>
            <a:ext cx="2011680" cy="457200"/>
          </a:xfrm>
          <a:prstGeom prst="rect">
            <a:avLst/>
          </a:prstGeom>
          <a:noFill/>
        </p:spPr>
        <p:txBody>
          <a:bodyPr wrap="square">
            <a:spAutoFit/>
          </a:bodyPr>
          <a:lstStyle/>
          <a:p>
            <a:pPr algn="ctr"/>
            <a:r>
              <a:rPr sz="2000" b="1">
                <a:solidFill>
                  <a:srgbClr val="2ECC71"/>
                </a:solidFill>
              </a:rPr>
              <a:t>42</a:t>
            </a:r>
          </a:p>
        </p:txBody>
      </p:sp>
      <p:sp>
        <p:nvSpPr>
          <p:cNvPr id="12" name="TextBox 11"/>
          <p:cNvSpPr txBox="1"/>
          <p:nvPr/>
        </p:nvSpPr>
        <p:spPr>
          <a:xfrm>
            <a:off x="5029200" y="5596127"/>
            <a:ext cx="2011680" cy="365760"/>
          </a:xfrm>
          <a:prstGeom prst="rect">
            <a:avLst/>
          </a:prstGeom>
          <a:noFill/>
        </p:spPr>
        <p:txBody>
          <a:bodyPr wrap="square">
            <a:spAutoFit/>
          </a:bodyPr>
          <a:lstStyle/>
          <a:p>
            <a:pPr algn="ctr"/>
            <a:r>
              <a:rPr sz="1000" b="0">
                <a:solidFill>
                  <a:srgbClr val="ECF0F1"/>
                </a:solidFill>
              </a:rPr>
              <a:t>Rules Mined</a:t>
            </a:r>
          </a:p>
        </p:txBody>
      </p:sp>
      <p:sp>
        <p:nvSpPr>
          <p:cNvPr id="13" name="TextBox 12"/>
          <p:cNvSpPr txBox="1"/>
          <p:nvPr/>
        </p:nvSpPr>
        <p:spPr>
          <a:xfrm>
            <a:off x="7315200" y="5120640"/>
            <a:ext cx="2011680" cy="457200"/>
          </a:xfrm>
          <a:prstGeom prst="rect">
            <a:avLst/>
          </a:prstGeom>
          <a:noFill/>
        </p:spPr>
        <p:txBody>
          <a:bodyPr wrap="square">
            <a:spAutoFit/>
          </a:bodyPr>
          <a:lstStyle/>
          <a:p>
            <a:pPr algn="ctr"/>
            <a:r>
              <a:rPr sz="2000" b="1">
                <a:solidFill>
                  <a:srgbClr val="2ECC71"/>
                </a:solidFill>
              </a:rPr>
              <a:t>Rs 3.7 Cr</a:t>
            </a:r>
          </a:p>
        </p:txBody>
      </p:sp>
      <p:sp>
        <p:nvSpPr>
          <p:cNvPr id="14" name="TextBox 13"/>
          <p:cNvSpPr txBox="1"/>
          <p:nvPr/>
        </p:nvSpPr>
        <p:spPr>
          <a:xfrm>
            <a:off x="7315200" y="5596127"/>
            <a:ext cx="2011680" cy="365760"/>
          </a:xfrm>
          <a:prstGeom prst="rect">
            <a:avLst/>
          </a:prstGeom>
          <a:noFill/>
        </p:spPr>
        <p:txBody>
          <a:bodyPr wrap="square">
            <a:spAutoFit/>
          </a:bodyPr>
          <a:lstStyle/>
          <a:p>
            <a:pPr algn="ctr"/>
            <a:r>
              <a:rPr sz="1000" b="0">
                <a:solidFill>
                  <a:srgbClr val="ECF0F1"/>
                </a:solidFill>
              </a:rPr>
              <a:t>Est. Rev Impact</a:t>
            </a:r>
          </a:p>
        </p:txBody>
      </p:sp>
    </p:spTree>
    <p:extLst>
      <p:ext uri="{BB962C8B-B14F-4D97-AF65-F5344CB8AC3E}">
        <p14:creationId xmlns:p14="http://schemas.microsoft.com/office/powerpoint/2010/main" val="1936260327"/>
      </p:ext>
    </p:extLst>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sp>
        <p:nvSpPr>
          <p:cNvPr id="8" name="Rectangle 7">
            <a:extLst>
              <a:ext uri="{FF2B5EF4-FFF2-40B4-BE49-F238E27FC236}">
                <a16:creationId xmlns:a16="http://schemas.microsoft.com/office/drawing/2014/main" id="{A83E0F18-477D-4762-971E-5CA6A560D37E}"/>
              </a:ext>
            </a:extLst>
          </p:cNvPr>
          <p:cNvSpPr>
            <a:spLocks noGrp="1"/>
          </p:cNvSpPr>
          <p:nvPr/>
        </p:nvSpPr>
        <p:spPr>
          <a:xfrm>
            <a:off x="609600" y="342900"/>
            <a:ext cx="10477500" cy="285750"/>
          </a:xfrm>
          <a:prstGeom prst="rect">
            <a:avLst/>
          </a:prstGeom>
          <a:noFill/>
          <a:ln w="0">
            <a:noFill/>
            <a:prstDash val="solid"/>
          </a:ln>
        </p:spPr>
        <p:txBody>
          <a:bodyPr/>
          <a:lstStyle>
            <a:defPPr>
              <a:defRPr sz="1350" b="1">
                <a:solidFill>
                  <a:srgbClr val="157A80"/>
                </a:solidFill>
                <a:latin typeface="Arial"/>
                <a:ea typeface="Arial"/>
                <a:cs typeface="Arial"/>
              </a:defRPr>
            </a:defPPr>
          </a:lstStyle>
          <a:p>
            <a:pPr>
              <a:defRPr sz="1350" b="1">
                <a:solidFill>
                  <a:srgbClr val="157A80"/>
                </a:solidFill>
                <a:latin typeface="Arial"/>
                <a:ea typeface="Arial"/>
                <a:cs typeface="Arial"/>
              </a:defRPr>
            </a:pPr>
            <a:r>
              <a:rPr sz="1350" b="1">
                <a:solidFill>
                  <a:srgbClr val="157A80"/>
                </a:solidFill>
                <a:latin typeface="Arial"/>
                <a:ea typeface="Arial"/>
                <a:cs typeface="Arial"/>
              </a:rPr>
              <a:t>MANDATORY LIVE DEMONSTRATION</a:t>
            </a:r>
          </a:p>
        </p:txBody>
      </p:sp>
      <p:sp>
        <p:nvSpPr>
          <p:cNvPr id="2" name="Rectangle 1">
            <a:extLst>
              <a:ext uri="{FF2B5EF4-FFF2-40B4-BE49-F238E27FC236}">
                <a16:creationId xmlns:a16="http://schemas.microsoft.com/office/drawing/2014/main" id="{8C0E321D-DD7C-40A2-8CD0-AAF7C8D32984}"/>
              </a:ext>
            </a:extLst>
          </p:cNvPr>
          <p:cNvSpPr>
            <a:spLocks noGrp="1"/>
          </p:cNvSpPr>
          <p:nvPr/>
        </p:nvSpPr>
        <p:spPr>
          <a:xfrm>
            <a:off x="609600" y="838200"/>
            <a:ext cx="10972800" cy="857250"/>
          </a:xfrm>
          <a:prstGeom prst="rect">
            <a:avLst/>
          </a:prstGeom>
          <a:noFill/>
          <a:ln w="0">
            <a:noFill/>
            <a:prstDash val="solid"/>
          </a:ln>
        </p:spPr>
        <p:txBody>
          <a:bodyPr/>
          <a:lstStyle>
            <a:defPPr>
              <a:defRPr sz="3150" b="1">
                <a:solidFill>
                  <a:srgbClr val="142D4E"/>
                </a:solidFill>
                <a:latin typeface="Arial"/>
                <a:ea typeface="Arial"/>
                <a:cs typeface="Arial"/>
              </a:defRPr>
            </a:defPPr>
          </a:lstStyle>
          <a:p>
            <a:pPr>
              <a:defRPr sz="3150" b="1">
                <a:solidFill>
                  <a:srgbClr val="142D4E"/>
                </a:solidFill>
                <a:latin typeface="Arial"/>
                <a:ea typeface="Arial"/>
                <a:cs typeface="Arial"/>
              </a:defRPr>
            </a:pPr>
            <a:r>
              <a:rPr sz="3150" b="1">
                <a:solidFill>
                  <a:srgbClr val="142D4E"/>
                </a:solidFill>
                <a:latin typeface="Arial"/>
                <a:ea typeface="Arial"/>
                <a:cs typeface="Arial"/>
              </a:rPr>
              <a:t>Interactive dashboard or website</a:t>
            </a:r>
          </a:p>
        </p:txBody>
      </p:sp>
      <p:sp>
        <p:nvSpPr>
          <p:cNvPr id="3" name="Rectangle 2">
            <a:extLst>
              <a:ext uri="{FF2B5EF4-FFF2-40B4-BE49-F238E27FC236}">
                <a16:creationId xmlns:a16="http://schemas.microsoft.com/office/drawing/2014/main" id="{740C65A0-85F7-48CD-A9F0-1A88D47161BA}"/>
              </a:ext>
            </a:extLst>
          </p:cNvPr>
          <p:cNvSpPr>
            <a:spLocks noGrp="1"/>
          </p:cNvSpPr>
          <p:nvPr/>
        </p:nvSpPr>
        <p:spPr>
          <a:xfrm>
            <a:off x="10953750" y="6343650"/>
            <a:ext cx="619125" cy="238125"/>
          </a:xfrm>
          <a:prstGeom prst="rect">
            <a:avLst/>
          </a:prstGeom>
          <a:noFill/>
          <a:ln w="0">
            <a:noFill/>
            <a:prstDash val="solid"/>
          </a:ln>
        </p:spPr>
        <p:txBody>
          <a:bodyPr/>
          <a:lstStyle>
            <a:defPPr>
              <a:defRPr sz="1200" b="0">
                <a:solidFill>
                  <a:srgbClr val="66758A"/>
                </a:solidFill>
                <a:latin typeface="Arial"/>
                <a:ea typeface="Arial"/>
                <a:cs typeface="Arial"/>
              </a:defRPr>
            </a:defPPr>
          </a:lstStyle>
          <a:p>
            <a:pPr>
              <a:defRPr sz="1200" b="0">
                <a:solidFill>
                  <a:srgbClr val="66758A"/>
                </a:solidFill>
                <a:latin typeface="Arial"/>
                <a:ea typeface="Arial"/>
                <a:cs typeface="Arial"/>
              </a:defRPr>
            </a:pPr>
            <a:r>
              <a:rPr sz="1200" b="0">
                <a:solidFill>
                  <a:srgbClr val="66758A"/>
                </a:solidFill>
                <a:latin typeface="Arial"/>
                <a:ea typeface="Arial"/>
                <a:cs typeface="Arial"/>
              </a:rPr>
              <a:t>15</a:t>
            </a:r>
          </a:p>
        </p:txBody>
      </p:sp>
      <p:sp>
        <p:nvSpPr>
          <p:cNvPr id="4" name="Rectangle 3">
            <a:extLst>
              <a:ext uri="{FF2B5EF4-FFF2-40B4-BE49-F238E27FC236}">
                <a16:creationId xmlns:a16="http://schemas.microsoft.com/office/drawing/2014/main" id="{0880743C-0EA1-46B2-9CF4-F59562FB79C8}"/>
              </a:ext>
            </a:extLst>
          </p:cNvPr>
          <p:cNvSpPr>
            <a:spLocks noGrp="1"/>
          </p:cNvSpPr>
          <p:nvPr/>
        </p:nvSpPr>
        <p:spPr>
          <a:xfrm>
            <a:off x="685800" y="2019300"/>
            <a:ext cx="10668000" cy="685800"/>
          </a:xfrm>
          <a:prstGeom prst="rect">
            <a:avLst/>
          </a:prstGeom>
          <a:noFill/>
          <a:ln w="0">
            <a:noFill/>
            <a:prstDash val="solid"/>
          </a:ln>
        </p:spPr>
        <p:txBody>
          <a:bodyPr/>
          <a:lstStyle>
            <a:defPPr>
              <a:defRPr sz="2025" b="0">
                <a:solidFill>
                  <a:srgbClr val="233247"/>
                </a:solidFill>
                <a:latin typeface="Arial"/>
                <a:ea typeface="Arial"/>
                <a:cs typeface="Arial"/>
              </a:defRPr>
            </a:defPPr>
          </a:lstStyle>
          <a:p>
            <a:pPr>
              <a:defRPr sz="2025" b="0">
                <a:solidFill>
                  <a:srgbClr val="233247"/>
                </a:solidFill>
                <a:latin typeface="Arial"/>
                <a:ea typeface="Arial"/>
                <a:cs typeface="Arial"/>
              </a:defRPr>
            </a:pPr>
            <a:r>
              <a:rPr sz="2025" b="0">
                <a:solidFill>
                  <a:srgbClr val="233247"/>
                </a:solidFill>
                <a:latin typeface="Arial"/>
                <a:ea typeface="Arial"/>
                <a:cs typeface="Arial"/>
              </a:rPr>
              <a:t>Application: Blinkit Dark Store Analytics Dashboard
Launch: Open review2_blinkit/website/index.html in Chrome or Firefox
No server required — fully client-side HTML5/CSS3/JavaScript/Chart.js</a:t>
            </a:r>
          </a:p>
        </p:txBody>
      </p:sp>
      <p:sp>
        <p:nvSpPr>
          <p:cNvPr id="5" name="Rectangle 4">
            <a:extLst>
              <a:ext uri="{FF2B5EF4-FFF2-40B4-BE49-F238E27FC236}">
                <a16:creationId xmlns:a16="http://schemas.microsoft.com/office/drawing/2014/main" id="{27A83C2B-91B9-4C74-A867-C6B158403C13}"/>
              </a:ext>
            </a:extLst>
          </p:cNvPr>
          <p:cNvSpPr>
            <a:spLocks noGrp="1"/>
          </p:cNvSpPr>
          <p:nvPr/>
        </p:nvSpPr>
        <p:spPr>
          <a:xfrm>
            <a:off x="685800" y="2838450"/>
            <a:ext cx="10668000" cy="685800"/>
          </a:xfrm>
          <a:prstGeom prst="rect">
            <a:avLst/>
          </a:prstGeom>
          <a:noFill/>
          <a:ln w="0">
            <a:noFill/>
            <a:prstDash val="solid"/>
          </a:ln>
        </p:spPr>
        <p:txBody>
          <a:bodyPr/>
          <a:lstStyle>
            <a:defPPr>
              <a:defRPr sz="2025" b="0">
                <a:solidFill>
                  <a:srgbClr val="233247"/>
                </a:solidFill>
                <a:latin typeface="Arial"/>
                <a:ea typeface="Arial"/>
                <a:cs typeface="Arial"/>
              </a:defRPr>
            </a:defPPr>
          </a:lstStyle>
          <a:p>
            <a:pPr>
              <a:defRPr sz="2025" b="0">
                <a:solidFill>
                  <a:srgbClr val="233247"/>
                </a:solidFill>
                <a:latin typeface="Arial"/>
                <a:ea typeface="Arial"/>
                <a:cs typeface="Arial"/>
              </a:defRPr>
            </a:pPr>
            <a:r>
              <a:rPr sz="2025" b="0">
                <a:solidFill>
                  <a:srgbClr val="233247"/>
                </a:solidFill>
                <a:latin typeface="Arial"/>
                <a:ea typeface="Arial"/>
                <a:cs typeface="Arial"/>
              </a:rPr>
              <a:t>[Screenshot: Blinkit Dark Store Dashboard — Forecast &amp; Bundle Explorer]</a:t>
            </a:r>
          </a:p>
        </p:txBody>
      </p:sp>
      <p:sp>
        <p:nvSpPr>
          <p:cNvPr id="6" name="Rectangle 5">
            <a:extLst>
              <a:ext uri="{FF2B5EF4-FFF2-40B4-BE49-F238E27FC236}">
                <a16:creationId xmlns:a16="http://schemas.microsoft.com/office/drawing/2014/main" id="{93497154-6AB2-4230-8A48-5CCF86C6154E}"/>
              </a:ext>
            </a:extLst>
          </p:cNvPr>
          <p:cNvSpPr>
            <a:spLocks noGrp="1"/>
          </p:cNvSpPr>
          <p:nvPr/>
        </p:nvSpPr>
        <p:spPr>
          <a:xfrm>
            <a:off x="685800" y="3657600"/>
            <a:ext cx="10668000" cy="685800"/>
          </a:xfrm>
          <a:prstGeom prst="rect">
            <a:avLst/>
          </a:prstGeom>
          <a:noFill/>
          <a:ln w="0">
            <a:noFill/>
            <a:prstDash val="solid"/>
          </a:ln>
        </p:spPr>
        <p:txBody>
          <a:bodyPr/>
          <a:lstStyle>
            <a:defPPr>
              <a:defRPr sz="2025" b="0">
                <a:solidFill>
                  <a:srgbClr val="233247"/>
                </a:solidFill>
                <a:latin typeface="Arial"/>
                <a:ea typeface="Arial"/>
                <a:cs typeface="Arial"/>
              </a:defRPr>
            </a:defPPr>
          </a:lstStyle>
          <a:p>
            <a:pPr>
              <a:defRPr sz="2025" b="0">
                <a:solidFill>
                  <a:srgbClr val="233247"/>
                </a:solidFill>
                <a:latin typeface="Arial"/>
                <a:ea typeface="Arial"/>
                <a:cs typeface="Arial"/>
              </a:defRPr>
            </a:pPr>
            <a:r>
              <a:rPr sz="2025" b="0">
                <a:solidFill>
                  <a:srgbClr val="233247"/>
                </a:solidFill>
                <a:latin typeface="Arial"/>
                <a:ea typeface="Arial"/>
                <a:cs typeface="Arial"/>
              </a:rPr>
              <a:t>Live demo steps:
1. Open index.html — dashboard loads with all 6 models pre-rendered
2. Click model selector — toggle between XGBoost / SARIMA / Holt-Winters
3. Move Lift slider from 1.15 to 2.0 — filter shows high-affinity rules only
4. Search 'Paratha' in product catalogue — 5 matching SKUs highlighted</a:t>
            </a:r>
          </a:p>
        </p:txBody>
      </p:sp>
      <p:sp>
        <p:nvSpPr>
          <p:cNvPr id="7" name="Rectangle 6">
            <a:extLst>
              <a:ext uri="{FF2B5EF4-FFF2-40B4-BE49-F238E27FC236}">
                <a16:creationId xmlns:a16="http://schemas.microsoft.com/office/drawing/2014/main" id="{9A38DA68-B5B4-4369-B709-940A40FCC51E}"/>
              </a:ext>
            </a:extLst>
          </p:cNvPr>
          <p:cNvSpPr>
            <a:spLocks noGrp="1"/>
          </p:cNvSpPr>
          <p:nvPr/>
        </p:nvSpPr>
        <p:spPr>
          <a:xfrm>
            <a:off x="685800" y="4476750"/>
            <a:ext cx="10668000" cy="685800"/>
          </a:xfrm>
          <a:prstGeom prst="rect">
            <a:avLst/>
          </a:prstGeom>
          <a:noFill/>
          <a:ln w="0">
            <a:noFill/>
            <a:prstDash val="solid"/>
          </a:ln>
        </p:spPr>
        <p:txBody>
          <a:bodyPr/>
          <a:lstStyle>
            <a:defPPr>
              <a:defRPr sz="2025" b="0">
                <a:solidFill>
                  <a:srgbClr val="233247"/>
                </a:solidFill>
                <a:latin typeface="Arial"/>
                <a:ea typeface="Arial"/>
                <a:cs typeface="Arial"/>
              </a:defRPr>
            </a:defPPr>
          </a:lstStyle>
          <a:p>
            <a:pPr>
              <a:defRPr sz="2025" b="0">
                <a:solidFill>
                  <a:srgbClr val="233247"/>
                </a:solidFill>
                <a:latin typeface="Arial"/>
                <a:ea typeface="Arial"/>
                <a:cs typeface="Arial"/>
              </a:defRPr>
            </a:pPr>
            <a:r>
              <a:rPr sz="2025" b="0">
                <a:solidFill>
                  <a:srgbClr val="233247"/>
                </a:solidFill>
                <a:latin typeface="Arial"/>
                <a:ea typeface="Arial"/>
                <a:cs typeface="Arial"/>
              </a:rPr>
              <a:t>Business scenario: 'What should we stock extra of this Friday for the weekend?'
→ Select XGBoost forecast → Saturday/Sunday bars show +35% demand spike
→ Filter rules by category Dairy → Milk+Bread bundle (1.85x lift) surfaces
→ Action: Order +35% extra Milk + Bread before Friday 18:00 cutoff</a:t>
            </a:r>
          </a:p>
        </p:txBody>
      </p:sp>
    </p:spTree>
    <p:extLst>
      <p:ext uri="{BB962C8B-B14F-4D97-AF65-F5344CB8AC3E}">
        <p14:creationId xmlns:p14="http://schemas.microsoft.com/office/powerpoint/2010/main" val="1478103795"/>
      </p:ext>
    </p:extLst>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sp>
        <p:nvSpPr>
          <p:cNvPr id="6" name="Rectangle 5">
            <a:extLst>
              <a:ext uri="{FF2B5EF4-FFF2-40B4-BE49-F238E27FC236}">
                <a16:creationId xmlns:a16="http://schemas.microsoft.com/office/drawing/2014/main" id="{DFE938C6-860B-4635-A66D-4DF17DF3BAD0}"/>
              </a:ext>
            </a:extLst>
          </p:cNvPr>
          <p:cNvSpPr>
            <a:spLocks noGrp="1"/>
          </p:cNvSpPr>
          <p:nvPr/>
        </p:nvSpPr>
        <p:spPr>
          <a:xfrm>
            <a:off x="609600" y="342900"/>
            <a:ext cx="10477500" cy="285750"/>
          </a:xfrm>
          <a:prstGeom prst="rect">
            <a:avLst/>
          </a:prstGeom>
          <a:noFill/>
          <a:ln w="0">
            <a:noFill/>
            <a:prstDash val="solid"/>
          </a:ln>
        </p:spPr>
        <p:txBody>
          <a:bodyPr/>
          <a:lstStyle>
            <a:defPPr>
              <a:defRPr sz="1350" b="1">
                <a:solidFill>
                  <a:srgbClr val="157A80"/>
                </a:solidFill>
                <a:latin typeface="Arial"/>
                <a:ea typeface="Arial"/>
                <a:cs typeface="Arial"/>
              </a:defRPr>
            </a:defPPr>
          </a:lstStyle>
          <a:p>
            <a:pPr>
              <a:defRPr sz="1350" b="1">
                <a:solidFill>
                  <a:srgbClr val="157A80"/>
                </a:solidFill>
                <a:latin typeface="Arial"/>
                <a:ea typeface="Arial"/>
                <a:cs typeface="Arial"/>
              </a:defRPr>
            </a:pPr>
            <a:r>
              <a:rPr sz="1350" b="1">
                <a:solidFill>
                  <a:srgbClr val="157A80"/>
                </a:solidFill>
                <a:latin typeface="Arial"/>
                <a:ea typeface="Arial"/>
                <a:cs typeface="Arial"/>
              </a:rPr>
              <a:t>100% PROJECT IMPLEMENTATION</a:t>
            </a:r>
          </a:p>
        </p:txBody>
      </p:sp>
      <p:sp>
        <p:nvSpPr>
          <p:cNvPr id="2" name="Rectangle 1">
            <a:extLst>
              <a:ext uri="{FF2B5EF4-FFF2-40B4-BE49-F238E27FC236}">
                <a16:creationId xmlns:a16="http://schemas.microsoft.com/office/drawing/2014/main" id="{53E8BDEE-51BC-4EB0-9606-BE325A7B9E2E}"/>
              </a:ext>
            </a:extLst>
          </p:cNvPr>
          <p:cNvSpPr>
            <a:spLocks noGrp="1"/>
          </p:cNvSpPr>
          <p:nvPr/>
        </p:nvSpPr>
        <p:spPr>
          <a:xfrm>
            <a:off x="609600" y="838200"/>
            <a:ext cx="10972800" cy="857250"/>
          </a:xfrm>
          <a:prstGeom prst="rect">
            <a:avLst/>
          </a:prstGeom>
          <a:noFill/>
          <a:ln w="0">
            <a:noFill/>
            <a:prstDash val="solid"/>
          </a:ln>
        </p:spPr>
        <p:txBody>
          <a:bodyPr/>
          <a:lstStyle>
            <a:defPPr>
              <a:defRPr sz="3150" b="1">
                <a:solidFill>
                  <a:srgbClr val="142D4E"/>
                </a:solidFill>
                <a:latin typeface="Arial"/>
                <a:ea typeface="Arial"/>
                <a:cs typeface="Arial"/>
              </a:defRPr>
            </a:defPPr>
          </a:lstStyle>
          <a:p>
            <a:pPr>
              <a:defRPr sz="3150" b="1">
                <a:solidFill>
                  <a:srgbClr val="142D4E"/>
                </a:solidFill>
                <a:latin typeface="Arial"/>
                <a:ea typeface="Arial"/>
                <a:cs typeface="Arial"/>
              </a:defRPr>
            </a:pPr>
            <a:r>
              <a:rPr sz="3150" b="1">
                <a:solidFill>
                  <a:srgbClr val="142D4E"/>
                </a:solidFill>
                <a:latin typeface="Arial"/>
                <a:ea typeface="Arial"/>
                <a:cs typeface="Arial"/>
              </a:rPr>
              <a:t>Completion and individual contribution</a:t>
            </a:r>
          </a:p>
        </p:txBody>
      </p:sp>
      <p:sp>
        <p:nvSpPr>
          <p:cNvPr id="3" name="Rectangle 2">
            <a:extLst>
              <a:ext uri="{FF2B5EF4-FFF2-40B4-BE49-F238E27FC236}">
                <a16:creationId xmlns:a16="http://schemas.microsoft.com/office/drawing/2014/main" id="{2CE01CEC-B3F6-4B79-ABAA-76237ECB70C5}"/>
              </a:ext>
            </a:extLst>
          </p:cNvPr>
          <p:cNvSpPr>
            <a:spLocks noGrp="1"/>
          </p:cNvSpPr>
          <p:nvPr/>
        </p:nvSpPr>
        <p:spPr>
          <a:xfrm>
            <a:off x="10953750" y="6343650"/>
            <a:ext cx="619125" cy="238125"/>
          </a:xfrm>
          <a:prstGeom prst="rect">
            <a:avLst/>
          </a:prstGeom>
          <a:noFill/>
          <a:ln w="0">
            <a:noFill/>
            <a:prstDash val="solid"/>
          </a:ln>
        </p:spPr>
        <p:txBody>
          <a:bodyPr/>
          <a:lstStyle>
            <a:defPPr>
              <a:defRPr sz="1200" b="0">
                <a:solidFill>
                  <a:srgbClr val="66758A"/>
                </a:solidFill>
                <a:latin typeface="Arial"/>
                <a:ea typeface="Arial"/>
                <a:cs typeface="Arial"/>
              </a:defRPr>
            </a:defPPr>
          </a:lstStyle>
          <a:p>
            <a:pPr>
              <a:defRPr sz="1200" b="0">
                <a:solidFill>
                  <a:srgbClr val="66758A"/>
                </a:solidFill>
                <a:latin typeface="Arial"/>
                <a:ea typeface="Arial"/>
                <a:cs typeface="Arial"/>
              </a:defRPr>
            </a:pPr>
            <a:r>
              <a:rPr sz="1200" b="0">
                <a:solidFill>
                  <a:srgbClr val="66758A"/>
                </a:solidFill>
                <a:latin typeface="Arial"/>
                <a:ea typeface="Arial"/>
                <a:cs typeface="Arial"/>
              </a:rPr>
              <a:t>16</a:t>
            </a:r>
          </a:p>
        </p:txBody>
      </p:sp>
      <p:graphicFrame>
        <p:nvGraphicFramePr>
          <p:cNvPr id="4" name="Table 3">
            <a:extLst>
              <a:ext uri="{FF2B5EF4-FFF2-40B4-BE49-F238E27FC236}">
                <a16:creationId xmlns:a16="http://schemas.microsoft.com/office/drawing/2014/main" id="{5C96931B-A7B7-41CA-AFD9-EBB6170071EC}"/>
              </a:ext>
            </a:extLst>
          </p:cNvPr>
          <p:cNvGraphicFramePr/>
          <p:nvPr/>
        </p:nvGraphicFramePr>
        <p:xfrm>
          <a:off x="609600" y="2047875"/>
          <a:ext cx="10972800" cy="3238500"/>
        </p:xfrm>
        <a:graphic>
          <a:graphicData uri="http://schemas.openxmlformats.org/drawingml/2006/table">
            <a:tbl>
              <a:tblPr/>
              <a:tblGrid>
                <a:gridCol w="3143250">
                  <a:extLst>
                    <a:ext uri="{9D8B030D-6E8A-4147-A177-3AD203B41FA5}">
                      <a16:colId xmlns:a16="http://schemas.microsoft.com/office/drawing/2014/main" val="20000"/>
                    </a:ext>
                  </a:extLst>
                </a:gridCol>
                <a:gridCol w="4095750">
                  <a:extLst>
                    <a:ext uri="{9D8B030D-6E8A-4147-A177-3AD203B41FA5}">
                      <a16:colId xmlns:a16="http://schemas.microsoft.com/office/drawing/2014/main" val="20001"/>
                    </a:ext>
                  </a:extLst>
                </a:gridCol>
                <a:gridCol w="3733800">
                  <a:extLst>
                    <a:ext uri="{9D8B030D-6E8A-4147-A177-3AD203B41FA5}">
                      <a16:colId xmlns:a16="http://schemas.microsoft.com/office/drawing/2014/main" val="20002"/>
                    </a:ext>
                  </a:extLst>
                </a:gridCol>
              </a:tblGrid>
              <a:tr h="539750">
                <a:tc>
                  <a:txBody>
                    <a:bodyPr/>
                    <a:lstStyle/>
                    <a:p>
                      <a:r>
                        <a:rPr sz="1650" b="1">
                          <a:solidFill>
                            <a:srgbClr val="FFFFFF"/>
                          </a:solidFill>
                          <a:latin typeface="Arial"/>
                          <a:ea typeface="Arial"/>
                          <a:cs typeface="Arial"/>
                        </a:rPr>
                        <a:t>Team member</a:t>
                      </a:r>
                    </a:p>
                  </a:txBody>
                  <a:tcPr>
                    <a:lnL w="9525">
                      <a:solidFill>
                        <a:srgbClr val="CDD7DF"/>
                      </a:solidFill>
                      <a:prstDash val="solid"/>
                    </a:lnL>
                    <a:lnR w="9525">
                      <a:solidFill>
                        <a:srgbClr val="CDD7DF"/>
                      </a:solidFill>
                      <a:prstDash val="solid"/>
                    </a:lnR>
                    <a:lnT w="9525">
                      <a:solidFill>
                        <a:srgbClr val="CDD7DF"/>
                      </a:solidFill>
                      <a:prstDash val="solid"/>
                    </a:lnT>
                    <a:lnB w="9525">
                      <a:solidFill>
                        <a:srgbClr val="CDD7DF"/>
                      </a:solidFill>
                      <a:prstDash val="solid"/>
                    </a:lnB>
                    <a:solidFill>
                      <a:srgbClr val="142D4E"/>
                    </a:solidFill>
                  </a:tcPr>
                </a:tc>
                <a:tc>
                  <a:txBody>
                    <a:bodyPr/>
                    <a:lstStyle/>
                    <a:p>
                      <a:r>
                        <a:rPr sz="1650" b="1">
                          <a:solidFill>
                            <a:srgbClr val="FFFFFF"/>
                          </a:solidFill>
                          <a:latin typeface="Arial"/>
                          <a:ea typeface="Arial"/>
                          <a:cs typeface="Arial"/>
                        </a:rPr>
                        <a:t>Completed responsibility</a:t>
                      </a:r>
                    </a:p>
                  </a:txBody>
                  <a:tcPr>
                    <a:lnL w="9525" cap="flat" cmpd="sng" algn="ctr">
                      <a:solidFill>
                        <a:srgbClr val="CDD7DF"/>
                      </a:solidFill>
                      <a:prstDash val="solid"/>
                      <a:round/>
                      <a:headEnd type="none" w="med" len="med"/>
                      <a:tailEnd type="none" w="med" len="med"/>
                    </a:lnL>
                    <a:lnR w="9525">
                      <a:solidFill>
                        <a:srgbClr val="CDD7DF"/>
                      </a:solidFill>
                      <a:prstDash val="solid"/>
                    </a:lnR>
                    <a:lnT w="9525">
                      <a:solidFill>
                        <a:srgbClr val="CDD7DF"/>
                      </a:solidFill>
                      <a:prstDash val="solid"/>
                    </a:lnT>
                    <a:lnB w="9525">
                      <a:solidFill>
                        <a:srgbClr val="CDD7DF"/>
                      </a:solidFill>
                      <a:prstDash val="solid"/>
                    </a:lnB>
                    <a:solidFill>
                      <a:srgbClr val="142D4E"/>
                    </a:solidFill>
                  </a:tcPr>
                </a:tc>
                <a:tc>
                  <a:txBody>
                    <a:bodyPr/>
                    <a:lstStyle/>
                    <a:p>
                      <a:r>
                        <a:rPr sz="1650" b="1">
                          <a:solidFill>
                            <a:srgbClr val="FFFFFF"/>
                          </a:solidFill>
                          <a:latin typeface="Arial"/>
                          <a:ea typeface="Arial"/>
                          <a:cs typeface="Arial"/>
                        </a:rPr>
                        <a:t>Evidence / project-board task</a:t>
                      </a:r>
                    </a:p>
                  </a:txBody>
                  <a:tcPr>
                    <a:lnL w="9525" cap="flat" cmpd="sng" algn="ctr">
                      <a:solidFill>
                        <a:srgbClr val="CDD7DF"/>
                      </a:solidFill>
                      <a:prstDash val="solid"/>
                      <a:round/>
                      <a:headEnd type="none" w="med" len="med"/>
                      <a:tailEnd type="none" w="med" len="med"/>
                    </a:lnL>
                    <a:lnR w="9525">
                      <a:solidFill>
                        <a:srgbClr val="CDD7DF"/>
                      </a:solidFill>
                      <a:prstDash val="solid"/>
                    </a:lnR>
                    <a:lnT w="9525">
                      <a:solidFill>
                        <a:srgbClr val="CDD7DF"/>
                      </a:solidFill>
                      <a:prstDash val="solid"/>
                    </a:lnT>
                    <a:lnB w="9525">
                      <a:solidFill>
                        <a:srgbClr val="CDD7DF"/>
                      </a:solidFill>
                      <a:prstDash val="solid"/>
                    </a:lnB>
                    <a:solidFill>
                      <a:srgbClr val="142D4E"/>
                    </a:solidFill>
                  </a:tcPr>
                </a:tc>
                <a:extLst>
                  <a:ext uri="{0D108BD9-81ED-4DB2-BD59-A6C34878D82A}">
                    <a16:rowId xmlns:a16="http://schemas.microsoft.com/office/drawing/2014/main" val="10000"/>
                  </a:ext>
                </a:extLst>
              </a:tr>
              <a:tr h="539750">
                <a:tc>
                  <a:txBody>
                    <a:bodyPr/>
                    <a:lstStyle/>
                    <a:p>
                      <a:r>
                        <a:rPr sz="1650" b="0">
                          <a:solidFill>
                            <a:srgbClr val="233247"/>
                          </a:solidFill>
                          <a:latin typeface="Arial"/>
                          <a:ea typeface="Arial"/>
                          <a:cs typeface="Arial"/>
                        </a:rPr>
                        <a:t>[Name and register no.]</a:t>
                      </a:r>
                    </a:p>
                  </a:txBody>
                  <a:tcPr>
                    <a:lnL w="9525">
                      <a:solidFill>
                        <a:srgbClr val="CDD7DF"/>
                      </a:solidFill>
                      <a:prstDash val="solid"/>
                    </a:lnL>
                    <a:lnR w="9525">
                      <a:solidFill>
                        <a:srgbClr val="CDD7DF"/>
                      </a:solidFill>
                      <a:prstDash val="solid"/>
                    </a:lnR>
                    <a:lnT w="9525" cap="flat" cmpd="sng" algn="ctr">
                      <a:solidFill>
                        <a:srgbClr val="CDD7DF"/>
                      </a:solidFill>
                      <a:prstDash val="solid"/>
                      <a:round/>
                      <a:headEnd type="none" w="med" len="med"/>
                      <a:tailEnd type="none" w="med" len="med"/>
                    </a:lnT>
                    <a:lnB w="9525">
                      <a:solidFill>
                        <a:srgbClr val="CDD7DF"/>
                      </a:solidFill>
                      <a:prstDash val="solid"/>
                    </a:lnB>
                    <a:solidFill>
                      <a:srgbClr val="F0F5F7"/>
                    </a:solidFill>
                  </a:tcPr>
                </a:tc>
                <a:tc>
                  <a:txBody>
                    <a:bodyPr/>
                    <a:lstStyle/>
                    <a:p>
                      <a:r>
                        <a:rPr sz="1650" b="0">
                          <a:solidFill>
                            <a:srgbClr val="233247"/>
                          </a:solidFill>
                          <a:latin typeface="Arial"/>
                          <a:ea typeface="Arial"/>
                          <a:cs typeface="Arial"/>
                        </a:rPr>
                        <a:t>[Specific work completed]</a:t>
                      </a:r>
                    </a:p>
                  </a:txBody>
                  <a:tcPr>
                    <a:lnL w="9525" cap="flat" cmpd="sng" algn="ctr">
                      <a:solidFill>
                        <a:srgbClr val="CDD7DF"/>
                      </a:solidFill>
                      <a:prstDash val="solid"/>
                      <a:round/>
                      <a:headEnd type="none" w="med" len="med"/>
                      <a:tailEnd type="none" w="med" len="med"/>
                    </a:lnL>
                    <a:lnR w="9525">
                      <a:solidFill>
                        <a:srgbClr val="CDD7DF"/>
                      </a:solidFill>
                      <a:prstDash val="solid"/>
                    </a:lnR>
                    <a:lnT w="9525" cap="flat" cmpd="sng" algn="ctr">
                      <a:solidFill>
                        <a:srgbClr val="CDD7DF"/>
                      </a:solidFill>
                      <a:prstDash val="solid"/>
                      <a:round/>
                      <a:headEnd type="none" w="med" len="med"/>
                      <a:tailEnd type="none" w="med" len="med"/>
                    </a:lnT>
                    <a:lnB w="9525">
                      <a:solidFill>
                        <a:srgbClr val="CDD7DF"/>
                      </a:solidFill>
                      <a:prstDash val="solid"/>
                    </a:lnB>
                    <a:solidFill>
                      <a:srgbClr val="F0F5F7"/>
                    </a:solidFill>
                  </a:tcPr>
                </a:tc>
                <a:tc>
                  <a:txBody>
                    <a:bodyPr/>
                    <a:lstStyle/>
                    <a:p>
                      <a:r>
                        <a:rPr sz="1650" b="0">
                          <a:solidFill>
                            <a:srgbClr val="233247"/>
                          </a:solidFill>
                          <a:latin typeface="Arial"/>
                          <a:ea typeface="Arial"/>
                          <a:cs typeface="Arial"/>
                        </a:rPr>
                        <a:t>[Task / file / link]</a:t>
                      </a:r>
                    </a:p>
                  </a:txBody>
                  <a:tcPr>
                    <a:lnL w="9525" cap="flat" cmpd="sng" algn="ctr">
                      <a:solidFill>
                        <a:srgbClr val="CDD7DF"/>
                      </a:solidFill>
                      <a:prstDash val="solid"/>
                      <a:round/>
                      <a:headEnd type="none" w="med" len="med"/>
                      <a:tailEnd type="none" w="med" len="med"/>
                    </a:lnL>
                    <a:lnR w="9525">
                      <a:solidFill>
                        <a:srgbClr val="CDD7DF"/>
                      </a:solidFill>
                      <a:prstDash val="solid"/>
                    </a:lnR>
                    <a:lnT w="9525" cap="flat" cmpd="sng" algn="ctr">
                      <a:solidFill>
                        <a:srgbClr val="CDD7DF"/>
                      </a:solidFill>
                      <a:prstDash val="solid"/>
                      <a:round/>
                      <a:headEnd type="none" w="med" len="med"/>
                      <a:tailEnd type="none" w="med" len="med"/>
                    </a:lnT>
                    <a:lnB w="9525">
                      <a:solidFill>
                        <a:srgbClr val="CDD7DF"/>
                      </a:solidFill>
                      <a:prstDash val="solid"/>
                    </a:lnB>
                    <a:solidFill>
                      <a:srgbClr val="F0F5F7"/>
                    </a:solidFill>
                  </a:tcPr>
                </a:tc>
                <a:extLst>
                  <a:ext uri="{0D108BD9-81ED-4DB2-BD59-A6C34878D82A}">
                    <a16:rowId xmlns:a16="http://schemas.microsoft.com/office/drawing/2014/main" val="10001"/>
                  </a:ext>
                </a:extLst>
              </a:tr>
              <a:tr h="539750">
                <a:tc>
                  <a:txBody>
                    <a:bodyPr/>
                    <a:lstStyle/>
                    <a:p>
                      <a:r>
                        <a:rPr sz="1650" b="0">
                          <a:solidFill>
                            <a:srgbClr val="233247"/>
                          </a:solidFill>
                          <a:latin typeface="Arial"/>
                          <a:ea typeface="Arial"/>
                          <a:cs typeface="Arial"/>
                        </a:rPr>
                        <a:t>[Name and register no.]</a:t>
                      </a:r>
                    </a:p>
                  </a:txBody>
                  <a:tcPr>
                    <a:lnL w="9525">
                      <a:solidFill>
                        <a:srgbClr val="CDD7DF"/>
                      </a:solidFill>
                      <a:prstDash val="solid"/>
                    </a:lnL>
                    <a:lnR w="9525">
                      <a:solidFill>
                        <a:srgbClr val="CDD7DF"/>
                      </a:solidFill>
                      <a:prstDash val="solid"/>
                    </a:lnR>
                    <a:lnT w="9525" cap="flat" cmpd="sng" algn="ctr">
                      <a:solidFill>
                        <a:srgbClr val="CDD7DF"/>
                      </a:solidFill>
                      <a:prstDash val="solid"/>
                      <a:round/>
                      <a:headEnd type="none" w="med" len="med"/>
                      <a:tailEnd type="none" w="med" len="med"/>
                    </a:lnT>
                    <a:lnB w="9525">
                      <a:solidFill>
                        <a:srgbClr val="CDD7DF"/>
                      </a:solidFill>
                      <a:prstDash val="solid"/>
                    </a:lnB>
                    <a:solidFill>
                      <a:srgbClr val="FFFFFF"/>
                    </a:solidFill>
                  </a:tcPr>
                </a:tc>
                <a:tc>
                  <a:txBody>
                    <a:bodyPr/>
                    <a:lstStyle/>
                    <a:p>
                      <a:r>
                        <a:rPr sz="1650" b="0">
                          <a:solidFill>
                            <a:srgbClr val="233247"/>
                          </a:solidFill>
                          <a:latin typeface="Arial"/>
                          <a:ea typeface="Arial"/>
                          <a:cs typeface="Arial"/>
                        </a:rPr>
                        <a:t>[Specific work completed]</a:t>
                      </a:r>
                    </a:p>
                  </a:txBody>
                  <a:tcPr>
                    <a:lnL w="9525" cap="flat" cmpd="sng" algn="ctr">
                      <a:solidFill>
                        <a:srgbClr val="CDD7DF"/>
                      </a:solidFill>
                      <a:prstDash val="solid"/>
                      <a:round/>
                      <a:headEnd type="none" w="med" len="med"/>
                      <a:tailEnd type="none" w="med" len="med"/>
                    </a:lnL>
                    <a:lnR w="9525">
                      <a:solidFill>
                        <a:srgbClr val="CDD7DF"/>
                      </a:solidFill>
                      <a:prstDash val="solid"/>
                    </a:lnR>
                    <a:lnT w="9525" cap="flat" cmpd="sng" algn="ctr">
                      <a:solidFill>
                        <a:srgbClr val="CDD7DF"/>
                      </a:solidFill>
                      <a:prstDash val="solid"/>
                      <a:round/>
                      <a:headEnd type="none" w="med" len="med"/>
                      <a:tailEnd type="none" w="med" len="med"/>
                    </a:lnT>
                    <a:lnB w="9525">
                      <a:solidFill>
                        <a:srgbClr val="CDD7DF"/>
                      </a:solidFill>
                      <a:prstDash val="solid"/>
                    </a:lnB>
                    <a:solidFill>
                      <a:srgbClr val="FFFFFF"/>
                    </a:solidFill>
                  </a:tcPr>
                </a:tc>
                <a:tc>
                  <a:txBody>
                    <a:bodyPr/>
                    <a:lstStyle/>
                    <a:p>
                      <a:r>
                        <a:rPr sz="1650" b="0">
                          <a:solidFill>
                            <a:srgbClr val="233247"/>
                          </a:solidFill>
                          <a:latin typeface="Arial"/>
                          <a:ea typeface="Arial"/>
                          <a:cs typeface="Arial"/>
                        </a:rPr>
                        <a:t>[Task / file / link]</a:t>
                      </a:r>
                    </a:p>
                  </a:txBody>
                  <a:tcPr>
                    <a:lnL w="9525" cap="flat" cmpd="sng" algn="ctr">
                      <a:solidFill>
                        <a:srgbClr val="CDD7DF"/>
                      </a:solidFill>
                      <a:prstDash val="solid"/>
                      <a:round/>
                      <a:headEnd type="none" w="med" len="med"/>
                      <a:tailEnd type="none" w="med" len="med"/>
                    </a:lnL>
                    <a:lnR w="9525">
                      <a:solidFill>
                        <a:srgbClr val="CDD7DF"/>
                      </a:solidFill>
                      <a:prstDash val="solid"/>
                    </a:lnR>
                    <a:lnT w="9525" cap="flat" cmpd="sng" algn="ctr">
                      <a:solidFill>
                        <a:srgbClr val="CDD7DF"/>
                      </a:solidFill>
                      <a:prstDash val="solid"/>
                      <a:round/>
                      <a:headEnd type="none" w="med" len="med"/>
                      <a:tailEnd type="none" w="med" len="med"/>
                    </a:lnT>
                    <a:lnB w="9525">
                      <a:solidFill>
                        <a:srgbClr val="CDD7DF"/>
                      </a:solidFill>
                      <a:prstDash val="solid"/>
                    </a:lnB>
                    <a:solidFill>
                      <a:srgbClr val="FFFFFF"/>
                    </a:solidFill>
                  </a:tcPr>
                </a:tc>
                <a:extLst>
                  <a:ext uri="{0D108BD9-81ED-4DB2-BD59-A6C34878D82A}">
                    <a16:rowId xmlns:a16="http://schemas.microsoft.com/office/drawing/2014/main" val="10002"/>
                  </a:ext>
                </a:extLst>
              </a:tr>
              <a:tr h="539750">
                <a:tc>
                  <a:txBody>
                    <a:bodyPr/>
                    <a:lstStyle/>
                    <a:p>
                      <a:r>
                        <a:rPr sz="1650" b="0">
                          <a:solidFill>
                            <a:srgbClr val="233247"/>
                          </a:solidFill>
                          <a:latin typeface="Arial"/>
                          <a:ea typeface="Arial"/>
                          <a:cs typeface="Arial"/>
                        </a:rPr>
                        <a:t>[Name and register no.]</a:t>
                      </a:r>
                    </a:p>
                  </a:txBody>
                  <a:tcPr>
                    <a:lnL w="9525">
                      <a:solidFill>
                        <a:srgbClr val="CDD7DF"/>
                      </a:solidFill>
                      <a:prstDash val="solid"/>
                    </a:lnL>
                    <a:lnR w="9525">
                      <a:solidFill>
                        <a:srgbClr val="CDD7DF"/>
                      </a:solidFill>
                      <a:prstDash val="solid"/>
                    </a:lnR>
                    <a:lnT w="9525" cap="flat" cmpd="sng" algn="ctr">
                      <a:solidFill>
                        <a:srgbClr val="CDD7DF"/>
                      </a:solidFill>
                      <a:prstDash val="solid"/>
                      <a:round/>
                      <a:headEnd type="none" w="med" len="med"/>
                      <a:tailEnd type="none" w="med" len="med"/>
                    </a:lnT>
                    <a:lnB w="9525">
                      <a:solidFill>
                        <a:srgbClr val="CDD7DF"/>
                      </a:solidFill>
                      <a:prstDash val="solid"/>
                    </a:lnB>
                    <a:solidFill>
                      <a:srgbClr val="F0F5F7"/>
                    </a:solidFill>
                  </a:tcPr>
                </a:tc>
                <a:tc>
                  <a:txBody>
                    <a:bodyPr/>
                    <a:lstStyle/>
                    <a:p>
                      <a:r>
                        <a:rPr sz="1650" b="0">
                          <a:solidFill>
                            <a:srgbClr val="233247"/>
                          </a:solidFill>
                          <a:latin typeface="Arial"/>
                          <a:ea typeface="Arial"/>
                          <a:cs typeface="Arial"/>
                        </a:rPr>
                        <a:t>[Specific work completed]</a:t>
                      </a:r>
                    </a:p>
                  </a:txBody>
                  <a:tcPr>
                    <a:lnL w="9525" cap="flat" cmpd="sng" algn="ctr">
                      <a:solidFill>
                        <a:srgbClr val="CDD7DF"/>
                      </a:solidFill>
                      <a:prstDash val="solid"/>
                      <a:round/>
                      <a:headEnd type="none" w="med" len="med"/>
                      <a:tailEnd type="none" w="med" len="med"/>
                    </a:lnL>
                    <a:lnR w="9525">
                      <a:solidFill>
                        <a:srgbClr val="CDD7DF"/>
                      </a:solidFill>
                      <a:prstDash val="solid"/>
                    </a:lnR>
                    <a:lnT w="9525" cap="flat" cmpd="sng" algn="ctr">
                      <a:solidFill>
                        <a:srgbClr val="CDD7DF"/>
                      </a:solidFill>
                      <a:prstDash val="solid"/>
                      <a:round/>
                      <a:headEnd type="none" w="med" len="med"/>
                      <a:tailEnd type="none" w="med" len="med"/>
                    </a:lnT>
                    <a:lnB w="9525">
                      <a:solidFill>
                        <a:srgbClr val="CDD7DF"/>
                      </a:solidFill>
                      <a:prstDash val="solid"/>
                    </a:lnB>
                    <a:solidFill>
                      <a:srgbClr val="F0F5F7"/>
                    </a:solidFill>
                  </a:tcPr>
                </a:tc>
                <a:tc>
                  <a:txBody>
                    <a:bodyPr/>
                    <a:lstStyle/>
                    <a:p>
                      <a:r>
                        <a:rPr sz="1650" b="0">
                          <a:solidFill>
                            <a:srgbClr val="233247"/>
                          </a:solidFill>
                          <a:latin typeface="Arial"/>
                          <a:ea typeface="Arial"/>
                          <a:cs typeface="Arial"/>
                        </a:rPr>
                        <a:t>[Task / file / link]</a:t>
                      </a:r>
                    </a:p>
                  </a:txBody>
                  <a:tcPr>
                    <a:lnL w="9525" cap="flat" cmpd="sng" algn="ctr">
                      <a:solidFill>
                        <a:srgbClr val="CDD7DF"/>
                      </a:solidFill>
                      <a:prstDash val="solid"/>
                      <a:round/>
                      <a:headEnd type="none" w="med" len="med"/>
                      <a:tailEnd type="none" w="med" len="med"/>
                    </a:lnL>
                    <a:lnR w="9525">
                      <a:solidFill>
                        <a:srgbClr val="CDD7DF"/>
                      </a:solidFill>
                      <a:prstDash val="solid"/>
                    </a:lnR>
                    <a:lnT w="9525" cap="flat" cmpd="sng" algn="ctr">
                      <a:solidFill>
                        <a:srgbClr val="CDD7DF"/>
                      </a:solidFill>
                      <a:prstDash val="solid"/>
                      <a:round/>
                      <a:headEnd type="none" w="med" len="med"/>
                      <a:tailEnd type="none" w="med" len="med"/>
                    </a:lnT>
                    <a:lnB w="9525">
                      <a:solidFill>
                        <a:srgbClr val="CDD7DF"/>
                      </a:solidFill>
                      <a:prstDash val="solid"/>
                    </a:lnB>
                    <a:solidFill>
                      <a:srgbClr val="F0F5F7"/>
                    </a:solidFill>
                  </a:tcPr>
                </a:tc>
                <a:extLst>
                  <a:ext uri="{0D108BD9-81ED-4DB2-BD59-A6C34878D82A}">
                    <a16:rowId xmlns:a16="http://schemas.microsoft.com/office/drawing/2014/main" val="10003"/>
                  </a:ext>
                </a:extLst>
              </a:tr>
              <a:tr h="539750">
                <a:tc>
                  <a:txBody>
                    <a:bodyPr/>
                    <a:lstStyle/>
                    <a:p>
                      <a:r>
                        <a:rPr sz="1650" b="0">
                          <a:solidFill>
                            <a:srgbClr val="233247"/>
                          </a:solidFill>
                          <a:latin typeface="Arial"/>
                          <a:ea typeface="Arial"/>
                          <a:cs typeface="Arial"/>
                        </a:rPr>
                        <a:t>[Name and register no.]</a:t>
                      </a:r>
                    </a:p>
                  </a:txBody>
                  <a:tcPr>
                    <a:lnL w="9525">
                      <a:solidFill>
                        <a:srgbClr val="CDD7DF"/>
                      </a:solidFill>
                      <a:prstDash val="solid"/>
                    </a:lnL>
                    <a:lnR w="9525">
                      <a:solidFill>
                        <a:srgbClr val="CDD7DF"/>
                      </a:solidFill>
                      <a:prstDash val="solid"/>
                    </a:lnR>
                    <a:lnT w="9525" cap="flat" cmpd="sng" algn="ctr">
                      <a:solidFill>
                        <a:srgbClr val="CDD7DF"/>
                      </a:solidFill>
                      <a:prstDash val="solid"/>
                      <a:round/>
                      <a:headEnd type="none" w="med" len="med"/>
                      <a:tailEnd type="none" w="med" len="med"/>
                    </a:lnT>
                    <a:lnB w="9525">
                      <a:solidFill>
                        <a:srgbClr val="CDD7DF"/>
                      </a:solidFill>
                      <a:prstDash val="solid"/>
                    </a:lnB>
                    <a:solidFill>
                      <a:srgbClr val="FFFFFF"/>
                    </a:solidFill>
                  </a:tcPr>
                </a:tc>
                <a:tc>
                  <a:txBody>
                    <a:bodyPr/>
                    <a:lstStyle/>
                    <a:p>
                      <a:r>
                        <a:rPr sz="1650" b="0">
                          <a:solidFill>
                            <a:srgbClr val="233247"/>
                          </a:solidFill>
                          <a:latin typeface="Arial"/>
                          <a:ea typeface="Arial"/>
                          <a:cs typeface="Arial"/>
                        </a:rPr>
                        <a:t>[Specific work completed]</a:t>
                      </a:r>
                    </a:p>
                  </a:txBody>
                  <a:tcPr>
                    <a:lnL w="9525" cap="flat" cmpd="sng" algn="ctr">
                      <a:solidFill>
                        <a:srgbClr val="CDD7DF"/>
                      </a:solidFill>
                      <a:prstDash val="solid"/>
                      <a:round/>
                      <a:headEnd type="none" w="med" len="med"/>
                      <a:tailEnd type="none" w="med" len="med"/>
                    </a:lnL>
                    <a:lnR w="9525">
                      <a:solidFill>
                        <a:srgbClr val="CDD7DF"/>
                      </a:solidFill>
                      <a:prstDash val="solid"/>
                    </a:lnR>
                    <a:lnT w="9525" cap="flat" cmpd="sng" algn="ctr">
                      <a:solidFill>
                        <a:srgbClr val="CDD7DF"/>
                      </a:solidFill>
                      <a:prstDash val="solid"/>
                      <a:round/>
                      <a:headEnd type="none" w="med" len="med"/>
                      <a:tailEnd type="none" w="med" len="med"/>
                    </a:lnT>
                    <a:lnB w="9525">
                      <a:solidFill>
                        <a:srgbClr val="CDD7DF"/>
                      </a:solidFill>
                      <a:prstDash val="solid"/>
                    </a:lnB>
                    <a:solidFill>
                      <a:srgbClr val="FFFFFF"/>
                    </a:solidFill>
                  </a:tcPr>
                </a:tc>
                <a:tc>
                  <a:txBody>
                    <a:bodyPr/>
                    <a:lstStyle/>
                    <a:p>
                      <a:r>
                        <a:rPr sz="1650" b="0">
                          <a:solidFill>
                            <a:srgbClr val="233247"/>
                          </a:solidFill>
                          <a:latin typeface="Arial"/>
                          <a:ea typeface="Arial"/>
                          <a:cs typeface="Arial"/>
                        </a:rPr>
                        <a:t>[Task / file / link]</a:t>
                      </a:r>
                    </a:p>
                  </a:txBody>
                  <a:tcPr>
                    <a:lnL w="9525" cap="flat" cmpd="sng" algn="ctr">
                      <a:solidFill>
                        <a:srgbClr val="CDD7DF"/>
                      </a:solidFill>
                      <a:prstDash val="solid"/>
                      <a:round/>
                      <a:headEnd type="none" w="med" len="med"/>
                      <a:tailEnd type="none" w="med" len="med"/>
                    </a:lnL>
                    <a:lnR w="9525">
                      <a:solidFill>
                        <a:srgbClr val="CDD7DF"/>
                      </a:solidFill>
                      <a:prstDash val="solid"/>
                    </a:lnR>
                    <a:lnT w="9525" cap="flat" cmpd="sng" algn="ctr">
                      <a:solidFill>
                        <a:srgbClr val="CDD7DF"/>
                      </a:solidFill>
                      <a:prstDash val="solid"/>
                      <a:round/>
                      <a:headEnd type="none" w="med" len="med"/>
                      <a:tailEnd type="none" w="med" len="med"/>
                    </a:lnT>
                    <a:lnB w="9525">
                      <a:solidFill>
                        <a:srgbClr val="CDD7DF"/>
                      </a:solidFill>
                      <a:prstDash val="solid"/>
                    </a:lnB>
                    <a:solidFill>
                      <a:srgbClr val="FFFFFF"/>
                    </a:solidFill>
                  </a:tcPr>
                </a:tc>
                <a:extLst>
                  <a:ext uri="{0D108BD9-81ED-4DB2-BD59-A6C34878D82A}">
                    <a16:rowId xmlns:a16="http://schemas.microsoft.com/office/drawing/2014/main" val="10004"/>
                  </a:ext>
                </a:extLst>
              </a:tr>
              <a:tr h="539750">
                <a:tc>
                  <a:txBody>
                    <a:bodyPr/>
                    <a:lstStyle/>
                    <a:p>
                      <a:r>
                        <a:rPr sz="1650" b="0">
                          <a:solidFill>
                            <a:srgbClr val="233247"/>
                          </a:solidFill>
                          <a:latin typeface="Arial"/>
                          <a:ea typeface="Arial"/>
                          <a:cs typeface="Arial"/>
                        </a:rPr>
                        <a:t>[Name and register no.]</a:t>
                      </a:r>
                    </a:p>
                  </a:txBody>
                  <a:tcPr>
                    <a:lnL w="9525">
                      <a:solidFill>
                        <a:srgbClr val="CDD7DF"/>
                      </a:solidFill>
                      <a:prstDash val="solid"/>
                    </a:lnL>
                    <a:lnR w="9525">
                      <a:solidFill>
                        <a:srgbClr val="CDD7DF"/>
                      </a:solidFill>
                      <a:prstDash val="solid"/>
                    </a:lnR>
                    <a:lnT w="9525" cap="flat" cmpd="sng" algn="ctr">
                      <a:solidFill>
                        <a:srgbClr val="CDD7DF"/>
                      </a:solidFill>
                      <a:prstDash val="solid"/>
                      <a:round/>
                      <a:headEnd type="none" w="med" len="med"/>
                      <a:tailEnd type="none" w="med" len="med"/>
                    </a:lnT>
                    <a:lnB w="9525">
                      <a:solidFill>
                        <a:srgbClr val="CDD7DF"/>
                      </a:solidFill>
                      <a:prstDash val="solid"/>
                    </a:lnB>
                    <a:solidFill>
                      <a:srgbClr val="F0F5F7"/>
                    </a:solidFill>
                  </a:tcPr>
                </a:tc>
                <a:tc>
                  <a:txBody>
                    <a:bodyPr/>
                    <a:lstStyle/>
                    <a:p>
                      <a:r>
                        <a:rPr sz="1650" b="0">
                          <a:solidFill>
                            <a:srgbClr val="233247"/>
                          </a:solidFill>
                          <a:latin typeface="Arial"/>
                          <a:ea typeface="Arial"/>
                          <a:cs typeface="Arial"/>
                        </a:rPr>
                        <a:t>[Specific work completed]</a:t>
                      </a:r>
                    </a:p>
                  </a:txBody>
                  <a:tcPr>
                    <a:lnL w="9525" cap="flat" cmpd="sng" algn="ctr">
                      <a:solidFill>
                        <a:srgbClr val="CDD7DF"/>
                      </a:solidFill>
                      <a:prstDash val="solid"/>
                      <a:round/>
                      <a:headEnd type="none" w="med" len="med"/>
                      <a:tailEnd type="none" w="med" len="med"/>
                    </a:lnL>
                    <a:lnR w="9525">
                      <a:solidFill>
                        <a:srgbClr val="CDD7DF"/>
                      </a:solidFill>
                      <a:prstDash val="solid"/>
                    </a:lnR>
                    <a:lnT w="9525" cap="flat" cmpd="sng" algn="ctr">
                      <a:solidFill>
                        <a:srgbClr val="CDD7DF"/>
                      </a:solidFill>
                      <a:prstDash val="solid"/>
                      <a:round/>
                      <a:headEnd type="none" w="med" len="med"/>
                      <a:tailEnd type="none" w="med" len="med"/>
                    </a:lnT>
                    <a:lnB w="9525">
                      <a:solidFill>
                        <a:srgbClr val="CDD7DF"/>
                      </a:solidFill>
                      <a:prstDash val="solid"/>
                    </a:lnB>
                    <a:solidFill>
                      <a:srgbClr val="F0F5F7"/>
                    </a:solidFill>
                  </a:tcPr>
                </a:tc>
                <a:tc>
                  <a:txBody>
                    <a:bodyPr/>
                    <a:lstStyle/>
                    <a:p>
                      <a:r>
                        <a:rPr sz="1650" b="0">
                          <a:solidFill>
                            <a:srgbClr val="233247"/>
                          </a:solidFill>
                          <a:latin typeface="Arial"/>
                          <a:ea typeface="Arial"/>
                          <a:cs typeface="Arial"/>
                        </a:rPr>
                        <a:t>[Task / file / link]</a:t>
                      </a:r>
                    </a:p>
                  </a:txBody>
                  <a:tcPr>
                    <a:lnL w="9525" cap="flat" cmpd="sng" algn="ctr">
                      <a:solidFill>
                        <a:srgbClr val="CDD7DF"/>
                      </a:solidFill>
                      <a:prstDash val="solid"/>
                      <a:round/>
                      <a:headEnd type="none" w="med" len="med"/>
                      <a:tailEnd type="none" w="med" len="med"/>
                    </a:lnL>
                    <a:lnR w="9525">
                      <a:solidFill>
                        <a:srgbClr val="CDD7DF"/>
                      </a:solidFill>
                      <a:prstDash val="solid"/>
                    </a:lnR>
                    <a:lnT w="9525" cap="flat" cmpd="sng" algn="ctr">
                      <a:solidFill>
                        <a:srgbClr val="CDD7DF"/>
                      </a:solidFill>
                      <a:prstDash val="solid"/>
                      <a:round/>
                      <a:headEnd type="none" w="med" len="med"/>
                      <a:tailEnd type="none" w="med" len="med"/>
                    </a:lnT>
                    <a:lnB w="9525">
                      <a:solidFill>
                        <a:srgbClr val="CDD7DF"/>
                      </a:solidFill>
                      <a:prstDash val="solid"/>
                    </a:lnB>
                    <a:solidFill>
                      <a:srgbClr val="F0F5F7"/>
                    </a:solidFill>
                  </a:tcPr>
                </a:tc>
                <a:extLst>
                  <a:ext uri="{0D108BD9-81ED-4DB2-BD59-A6C34878D82A}">
                    <a16:rowId xmlns:a16="http://schemas.microsoft.com/office/drawing/2014/main" val="10005"/>
                  </a:ext>
                </a:extLst>
              </a:tr>
            </a:tbl>
          </a:graphicData>
        </a:graphic>
      </p:graphicFrame>
      <p:sp>
        <p:nvSpPr>
          <p:cNvPr id="5" name="Rectangle 4">
            <a:extLst>
              <a:ext uri="{FF2B5EF4-FFF2-40B4-BE49-F238E27FC236}">
                <a16:creationId xmlns:a16="http://schemas.microsoft.com/office/drawing/2014/main" id="{32CF6CB9-3CF9-4DC7-906F-7E9CEC23CFA8}"/>
              </a:ext>
            </a:extLst>
          </p:cNvPr>
          <p:cNvSpPr>
            <a:spLocks noGrp="1"/>
          </p:cNvSpPr>
          <p:nvPr/>
        </p:nvSpPr>
        <p:spPr>
          <a:xfrm>
            <a:off x="685800" y="5619750"/>
            <a:ext cx="10572750" cy="523875"/>
          </a:xfrm>
          <a:prstGeom prst="rect">
            <a:avLst/>
          </a:prstGeom>
          <a:noFill/>
          <a:ln w="0">
            <a:noFill/>
            <a:prstDash val="solid"/>
          </a:ln>
        </p:spPr>
        <p:txBody>
          <a:bodyPr/>
          <a:lstStyle>
            <a:defPPr>
              <a:defRPr sz="1800" b="0">
                <a:solidFill>
                  <a:srgbClr val="233247"/>
                </a:solidFill>
                <a:latin typeface="Arial"/>
                <a:ea typeface="Arial"/>
                <a:cs typeface="Arial"/>
              </a:defRPr>
            </a:defPPr>
          </a:lstStyle>
          <a:p>
            <a:pPr>
              <a:defRPr sz="1800" b="0">
                <a:solidFill>
                  <a:srgbClr val="233247"/>
                </a:solidFill>
                <a:latin typeface="Arial"/>
                <a:ea typeface="Arial"/>
                <a:cs typeface="Arial"/>
              </a:defRPr>
            </a:pPr>
            <a:r>
              <a:rPr sz="1800" b="0">
                <a:solidFill>
                  <a:srgbClr val="233247"/>
                </a:solidFill>
                <a:latin typeface="Arial"/>
                <a:ea typeface="Arial"/>
                <a:cs typeface="Arial"/>
              </a:rPr>
              <a:t>Repository: c:/Users/Sunny-Cherry/Desktop/BA/BA_Project/review2_blinkit/
Deliverables: src/ (pipeline) | results/charts/ (9 figures) | notebooks/ (6 Jupyter) | website/ (dashboard) | reports/ (final report)
Individual contributions:
Leena Sri K — Data collection, web scraping, EDA
A.C. Sanhitha Reddy — Data validation, preprocessing pipeline
Kanish Kumaran M — Time-series forecasting, model evaluation
Ande Taraka Srinivas — Association rule mining, FP-Growth implementation
Ajay N Mukunth — Interactive dashboard, final report, presentation</a:t>
            </a:r>
          </a:p>
        </p:txBody>
      </p:sp>
    </p:spTree>
    <p:extLst>
      <p:ext uri="{BB962C8B-B14F-4D97-AF65-F5344CB8AC3E}">
        <p14:creationId xmlns:p14="http://schemas.microsoft.com/office/powerpoint/2010/main" val="1533976908"/>
      </p:ext>
    </p:extLst>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sp>
        <p:nvSpPr>
          <p:cNvPr id="8" name="Rectangle 7">
            <a:extLst>
              <a:ext uri="{FF2B5EF4-FFF2-40B4-BE49-F238E27FC236}">
                <a16:creationId xmlns:a16="http://schemas.microsoft.com/office/drawing/2014/main" id="{9B6803CC-FC81-4DB3-867E-9169406E566E}"/>
              </a:ext>
            </a:extLst>
          </p:cNvPr>
          <p:cNvSpPr>
            <a:spLocks noGrp="1"/>
          </p:cNvSpPr>
          <p:nvPr/>
        </p:nvSpPr>
        <p:spPr>
          <a:xfrm>
            <a:off x="609600" y="342900"/>
            <a:ext cx="10477500" cy="285750"/>
          </a:xfrm>
          <a:prstGeom prst="rect">
            <a:avLst/>
          </a:prstGeom>
          <a:noFill/>
          <a:ln w="0">
            <a:noFill/>
            <a:prstDash val="solid"/>
          </a:ln>
        </p:spPr>
        <p:txBody>
          <a:bodyPr/>
          <a:lstStyle>
            <a:defPPr>
              <a:defRPr sz="1350" b="1">
                <a:solidFill>
                  <a:srgbClr val="157A80"/>
                </a:solidFill>
                <a:latin typeface="Arial"/>
                <a:ea typeface="Arial"/>
                <a:cs typeface="Arial"/>
              </a:defRPr>
            </a:defPPr>
          </a:lstStyle>
          <a:p>
            <a:pPr>
              <a:defRPr sz="1350" b="1">
                <a:solidFill>
                  <a:srgbClr val="157A80"/>
                </a:solidFill>
                <a:latin typeface="Arial"/>
                <a:ea typeface="Arial"/>
                <a:cs typeface="Arial"/>
              </a:defRPr>
            </a:pPr>
            <a:r>
              <a:rPr sz="1350" b="1">
                <a:solidFill>
                  <a:srgbClr val="157A80"/>
                </a:solidFill>
                <a:latin typeface="Arial"/>
                <a:ea typeface="Arial"/>
                <a:cs typeface="Arial"/>
              </a:rPr>
              <a:t>FINAL PROJECT OUTCOME</a:t>
            </a:r>
          </a:p>
        </p:txBody>
      </p:sp>
      <p:sp>
        <p:nvSpPr>
          <p:cNvPr id="2" name="Rectangle 1">
            <a:extLst>
              <a:ext uri="{FF2B5EF4-FFF2-40B4-BE49-F238E27FC236}">
                <a16:creationId xmlns:a16="http://schemas.microsoft.com/office/drawing/2014/main" id="{D8153AE4-85B4-4AC7-8DCC-765143766944}"/>
              </a:ext>
            </a:extLst>
          </p:cNvPr>
          <p:cNvSpPr>
            <a:spLocks noGrp="1"/>
          </p:cNvSpPr>
          <p:nvPr/>
        </p:nvSpPr>
        <p:spPr>
          <a:xfrm>
            <a:off x="609600" y="838200"/>
            <a:ext cx="10972800" cy="857250"/>
          </a:xfrm>
          <a:prstGeom prst="rect">
            <a:avLst/>
          </a:prstGeom>
          <a:noFill/>
          <a:ln w="0">
            <a:noFill/>
            <a:prstDash val="solid"/>
          </a:ln>
        </p:spPr>
        <p:txBody>
          <a:bodyPr/>
          <a:lstStyle>
            <a:defPPr>
              <a:defRPr sz="3150" b="1">
                <a:solidFill>
                  <a:srgbClr val="142D4E"/>
                </a:solidFill>
                <a:latin typeface="Arial"/>
                <a:ea typeface="Arial"/>
                <a:cs typeface="Arial"/>
              </a:defRPr>
            </a:defPPr>
          </a:lstStyle>
          <a:p>
            <a:pPr>
              <a:defRPr sz="3150" b="1">
                <a:solidFill>
                  <a:srgbClr val="142D4E"/>
                </a:solidFill>
                <a:latin typeface="Arial"/>
                <a:ea typeface="Arial"/>
                <a:cs typeface="Arial"/>
              </a:defRPr>
            </a:pPr>
            <a:r>
              <a:rPr sz="3150" b="1">
                <a:solidFill>
                  <a:srgbClr val="142D4E"/>
                </a:solidFill>
                <a:latin typeface="Arial"/>
                <a:ea typeface="Arial"/>
                <a:cs typeface="Arial"/>
              </a:rPr>
              <a:t>Conclusion and limitations</a:t>
            </a:r>
          </a:p>
        </p:txBody>
      </p:sp>
      <p:sp>
        <p:nvSpPr>
          <p:cNvPr id="3" name="Rectangle 2">
            <a:extLst>
              <a:ext uri="{FF2B5EF4-FFF2-40B4-BE49-F238E27FC236}">
                <a16:creationId xmlns:a16="http://schemas.microsoft.com/office/drawing/2014/main" id="{EF2C747F-EA61-439C-89A8-AD7274EEF46E}"/>
              </a:ext>
            </a:extLst>
          </p:cNvPr>
          <p:cNvSpPr>
            <a:spLocks noGrp="1"/>
          </p:cNvSpPr>
          <p:nvPr/>
        </p:nvSpPr>
        <p:spPr>
          <a:xfrm>
            <a:off x="10953750" y="6343650"/>
            <a:ext cx="619125" cy="238125"/>
          </a:xfrm>
          <a:prstGeom prst="rect">
            <a:avLst/>
          </a:prstGeom>
          <a:noFill/>
          <a:ln w="0">
            <a:noFill/>
            <a:prstDash val="solid"/>
          </a:ln>
        </p:spPr>
        <p:txBody>
          <a:bodyPr/>
          <a:lstStyle>
            <a:defPPr>
              <a:defRPr sz="1200" b="0">
                <a:solidFill>
                  <a:srgbClr val="66758A"/>
                </a:solidFill>
                <a:latin typeface="Arial"/>
                <a:ea typeface="Arial"/>
                <a:cs typeface="Arial"/>
              </a:defRPr>
            </a:defPPr>
          </a:lstStyle>
          <a:p>
            <a:pPr>
              <a:defRPr sz="1200" b="0">
                <a:solidFill>
                  <a:srgbClr val="66758A"/>
                </a:solidFill>
                <a:latin typeface="Arial"/>
                <a:ea typeface="Arial"/>
                <a:cs typeface="Arial"/>
              </a:defRPr>
            </a:pPr>
            <a:r>
              <a:rPr sz="1200" b="0">
                <a:solidFill>
                  <a:srgbClr val="66758A"/>
                </a:solidFill>
                <a:latin typeface="Arial"/>
                <a:ea typeface="Arial"/>
                <a:cs typeface="Arial"/>
              </a:rPr>
              <a:t>17</a:t>
            </a:r>
          </a:p>
        </p:txBody>
      </p:sp>
      <p:sp>
        <p:nvSpPr>
          <p:cNvPr id="4" name="Rectangle 3">
            <a:extLst>
              <a:ext uri="{FF2B5EF4-FFF2-40B4-BE49-F238E27FC236}">
                <a16:creationId xmlns:a16="http://schemas.microsoft.com/office/drawing/2014/main" id="{A090B09B-3D22-4D3D-9291-CD42A174B0F2}"/>
              </a:ext>
            </a:extLst>
          </p:cNvPr>
          <p:cNvSpPr>
            <a:spLocks noGrp="1"/>
          </p:cNvSpPr>
          <p:nvPr/>
        </p:nvSpPr>
        <p:spPr>
          <a:xfrm>
            <a:off x="685800" y="2019300"/>
            <a:ext cx="10668000" cy="685800"/>
          </a:xfrm>
          <a:prstGeom prst="rect">
            <a:avLst/>
          </a:prstGeom>
          <a:noFill/>
          <a:ln w="0">
            <a:noFill/>
            <a:prstDash val="solid"/>
          </a:ln>
        </p:spPr>
        <p:txBody>
          <a:bodyPr/>
          <a:lstStyle>
            <a:defPPr>
              <a:defRPr sz="2025" b="0">
                <a:solidFill>
                  <a:srgbClr val="233247"/>
                </a:solidFill>
                <a:latin typeface="Arial"/>
                <a:ea typeface="Arial"/>
                <a:cs typeface="Arial"/>
              </a:defRPr>
            </a:defPPr>
          </a:lstStyle>
          <a:p>
            <a:pPr>
              <a:defRPr sz="2025" b="0">
                <a:solidFill>
                  <a:srgbClr val="233247"/>
                </a:solidFill>
                <a:latin typeface="Arial"/>
                <a:ea typeface="Arial"/>
                <a:cs typeface="Arial"/>
              </a:defRPr>
            </a:pPr>
            <a:r>
              <a:rPr sz="2025" b="0">
                <a:solidFill>
                  <a:srgbClr val="233247"/>
                </a:solidFill>
                <a:latin typeface="Arial"/>
                <a:ea typeface="Arial"/>
                <a:cs typeface="Arial"/>
              </a:rPr>
              <a:t>Main outcome: Successfully built a reproducible dual-method analytics pipeline
for quick-commerce dark store optimization using 609 real Blinkit SKUs and
106,398 research-grounded synthetic transactions.</a:t>
            </a:r>
          </a:p>
        </p:txBody>
      </p:sp>
      <p:sp>
        <p:nvSpPr>
          <p:cNvPr id="5" name="Rectangle 4">
            <a:extLst>
              <a:ext uri="{FF2B5EF4-FFF2-40B4-BE49-F238E27FC236}">
                <a16:creationId xmlns:a16="http://schemas.microsoft.com/office/drawing/2014/main" id="{7F33CED7-ECE6-4436-B3FC-9B1FEB2006FC}"/>
              </a:ext>
            </a:extLst>
          </p:cNvPr>
          <p:cNvSpPr>
            <a:spLocks noGrp="1"/>
          </p:cNvSpPr>
          <p:nvPr/>
        </p:nvSpPr>
        <p:spPr>
          <a:xfrm>
            <a:off x="685800" y="2838450"/>
            <a:ext cx="10668000" cy="685800"/>
          </a:xfrm>
          <a:prstGeom prst="rect">
            <a:avLst/>
          </a:prstGeom>
          <a:noFill/>
          <a:ln w="0">
            <a:noFill/>
            <a:prstDash val="solid"/>
          </a:ln>
        </p:spPr>
        <p:txBody>
          <a:bodyPr/>
          <a:lstStyle>
            <a:defPPr>
              <a:defRPr sz="2025" b="0">
                <a:solidFill>
                  <a:srgbClr val="233247"/>
                </a:solidFill>
                <a:latin typeface="Arial"/>
                <a:ea typeface="Arial"/>
                <a:cs typeface="Arial"/>
              </a:defRPr>
            </a:defPPr>
          </a:lstStyle>
          <a:p>
            <a:pPr>
              <a:defRPr sz="2025" b="0">
                <a:solidFill>
                  <a:srgbClr val="233247"/>
                </a:solidFill>
                <a:latin typeface="Arial"/>
                <a:ea typeface="Arial"/>
                <a:cs typeface="Arial"/>
              </a:defRPr>
            </a:pPr>
            <a:r>
              <a:rPr sz="2025" b="0">
                <a:solidFill>
                  <a:srgbClr val="233247"/>
                </a:solidFill>
                <a:latin typeface="Arial"/>
                <a:ea typeface="Arial"/>
                <a:cs typeface="Arial"/>
              </a:rPr>
              <a:t>Business value:
• XGBoost forecasting (WAPE 8.29%) enables proactive inventory replenishment
  — preventing stockouts during weekend demand peaks.
• 42 association rules (top lift 5.11x) identify actionable bundle promotions
  estimated to deliver Rs 3.7 Cr annual revenue uplift at 1,500 orders/day.
• Real-time interactive dashboard enables non-technical stakeholders to
  explore forecasts and bundle rules without coding.</a:t>
            </a:r>
          </a:p>
        </p:txBody>
      </p:sp>
      <p:sp>
        <p:nvSpPr>
          <p:cNvPr id="6" name="Rectangle 5">
            <a:extLst>
              <a:ext uri="{FF2B5EF4-FFF2-40B4-BE49-F238E27FC236}">
                <a16:creationId xmlns:a16="http://schemas.microsoft.com/office/drawing/2014/main" id="{62C3EDBE-8DDB-4748-8A2E-63915D6FAF3E}"/>
              </a:ext>
            </a:extLst>
          </p:cNvPr>
          <p:cNvSpPr>
            <a:spLocks noGrp="1"/>
          </p:cNvSpPr>
          <p:nvPr/>
        </p:nvSpPr>
        <p:spPr>
          <a:xfrm>
            <a:off x="685800" y="3657600"/>
            <a:ext cx="10668000" cy="685800"/>
          </a:xfrm>
          <a:prstGeom prst="rect">
            <a:avLst/>
          </a:prstGeom>
          <a:noFill/>
          <a:ln w="0">
            <a:noFill/>
            <a:prstDash val="solid"/>
          </a:ln>
        </p:spPr>
        <p:txBody>
          <a:bodyPr/>
          <a:lstStyle>
            <a:defPPr>
              <a:defRPr sz="2025" b="0">
                <a:solidFill>
                  <a:srgbClr val="233247"/>
                </a:solidFill>
                <a:latin typeface="Arial"/>
                <a:ea typeface="Arial"/>
                <a:cs typeface="Arial"/>
              </a:defRPr>
            </a:defPPr>
          </a:lstStyle>
          <a:p>
            <a:pPr>
              <a:defRPr sz="2025" b="0">
                <a:solidFill>
                  <a:srgbClr val="233247"/>
                </a:solidFill>
                <a:latin typeface="Arial"/>
                <a:ea typeface="Arial"/>
                <a:cs typeface="Arial"/>
              </a:defRPr>
            </a:pPr>
            <a:r>
              <a:rPr sz="2025" b="0">
                <a:solidFill>
                  <a:srgbClr val="233247"/>
                </a:solidFill>
                <a:latin typeface="Arial"/>
                <a:ea typeface="Arial"/>
                <a:cs typeface="Arial"/>
              </a:rPr>
              <a:t>Limitations:
• Single-point price scrape — MRP compliance justifies price stability
• Synthetic transactions — grounded to real SKUs + published research
• 183-day series — limits multi-year seasonal decomposition
• Single platform/city — Blinkit #1 q-commerce India; directionally valid</a:t>
            </a:r>
          </a:p>
        </p:txBody>
      </p:sp>
      <p:sp>
        <p:nvSpPr>
          <p:cNvPr id="7" name="Rectangle 6">
            <a:extLst>
              <a:ext uri="{FF2B5EF4-FFF2-40B4-BE49-F238E27FC236}">
                <a16:creationId xmlns:a16="http://schemas.microsoft.com/office/drawing/2014/main" id="{267F9F37-67EA-4B36-8737-F205DB4ECA6F}"/>
              </a:ext>
            </a:extLst>
          </p:cNvPr>
          <p:cNvSpPr>
            <a:spLocks noGrp="1"/>
          </p:cNvSpPr>
          <p:nvPr/>
        </p:nvSpPr>
        <p:spPr>
          <a:xfrm>
            <a:off x="685800" y="4476750"/>
            <a:ext cx="10668000" cy="685800"/>
          </a:xfrm>
          <a:prstGeom prst="rect">
            <a:avLst/>
          </a:prstGeom>
          <a:noFill/>
          <a:ln w="0">
            <a:noFill/>
            <a:prstDash val="solid"/>
          </a:ln>
        </p:spPr>
        <p:txBody>
          <a:bodyPr/>
          <a:lstStyle>
            <a:defPPr>
              <a:defRPr sz="2025" b="0">
                <a:solidFill>
                  <a:srgbClr val="233247"/>
                </a:solidFill>
                <a:latin typeface="Arial"/>
                <a:ea typeface="Arial"/>
                <a:cs typeface="Arial"/>
              </a:defRPr>
            </a:defPPr>
          </a:lstStyle>
          <a:p>
            <a:pPr>
              <a:defRPr sz="2025" b="0">
                <a:solidFill>
                  <a:srgbClr val="233247"/>
                </a:solidFill>
                <a:latin typeface="Arial"/>
                <a:ea typeface="Arial"/>
                <a:cs typeface="Arial"/>
              </a:defRPr>
            </a:pPr>
            <a:r>
              <a:rPr sz="2025" b="0">
                <a:solidFill>
                  <a:srgbClr val="233247"/>
                </a:solidFill>
                <a:latin typeface="Arial"/>
                <a:ea typeface="Arial"/>
                <a:cs typeface="Arial"/>
              </a:rPr>
              <a:t>Future scope:
• Multi-zone scraping (Chennai, Bangalore, Mumbai) — geographic comparison
• Hourly price tracking — build price-elasticity model per SKU
• Temporal Fusion Transformer (TFT) — multi-variate deep learning forecast
• User-level collaborative filtering — personalised bundle recommendations</a:t>
            </a:r>
          </a:p>
        </p:txBody>
      </p:sp>
    </p:spTree>
    <p:extLst>
      <p:ext uri="{BB962C8B-B14F-4D97-AF65-F5344CB8AC3E}">
        <p14:creationId xmlns:p14="http://schemas.microsoft.com/office/powerpoint/2010/main" val="1957275870"/>
      </p:ext>
    </p:extLst>
  </p:cSld>
  <p:clrMapOvr>
    <a:masterClrMapping/>
  </p:clrMapOvr>
</p:sld>
</file>

<file path=ppt/theme/theme1.xml><?xml version="1.0" encoding="utf-8"?>
<a:theme xmlns:a="http://schemas.openxmlformats.org/drawingml/2006/main" name="ChatGPT">
  <a:themeElements>
    <a:clrScheme name="ChatGPT">
      <a:dk1>
        <a:srgbClr val="000000"/>
      </a:dk1>
      <a:lt1>
        <a:srgbClr val="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
      <a:majorFont>
        <a:latin typeface="Aptos"/>
        <a:ea typeface=""/>
        <a:cs typeface=""/>
      </a:majorFont>
      <a:minorFont>
        <a:latin typeface="Aptos"/>
        <a:ea typeface=""/>
        <a:cs typeface=""/>
      </a:minorFont>
    </a:fontScheme>
    <a:fmtScheme name="ChatGPT">
      <a:fillStyleLst>
        <a:solidFill>
          <a:schemeClr val="phClr"/>
        </a:solidFill>
        <a:gradFill>
          <a:gsLst>
            <a:gs pos="0">
              <a:schemeClr val="phClr">
                <a:tint val="67000"/>
                <a:lumMod val="110000"/>
                <a:satMod val="105000"/>
              </a:schemeClr>
            </a:gs>
            <a:gs pos="50000">
              <a:schemeClr val="phClr">
                <a:tint val="73000"/>
                <a:lumMod val="105000"/>
                <a:satMod val="103000"/>
              </a:schemeClr>
            </a:gs>
            <a:gs pos="100000">
              <a:schemeClr val="phClr">
                <a:tint val="81000"/>
                <a:lumMod val="105000"/>
                <a:satMod val="109000"/>
              </a:schemeClr>
            </a:gs>
          </a:gsLst>
          <a:lin ang="5400000" scaled="0"/>
        </a:gradFill>
        <a:gradFill>
          <a:gsLst>
            <a:gs pos="0">
              <a:schemeClr val="phClr">
                <a:tint val="94000"/>
                <a:lumMod val="102000"/>
                <a:satMod val="103000"/>
              </a:schemeClr>
            </a:gs>
            <a:gs pos="50000">
              <a:schemeClr val="phClr">
                <a:shade val="100000"/>
                <a:lumMod val="100000"/>
                <a:satMod val="110000"/>
              </a:schemeClr>
            </a:gs>
            <a:gs pos="100000">
              <a:schemeClr val="phClr">
                <a:shade val="78000"/>
                <a:lumMod val="99000"/>
                <a:satMod val="120000"/>
              </a:schemeClr>
            </a:gs>
          </a:gsLst>
          <a:lin ang="5400000" scaled="0"/>
        </a:gradFill>
      </a:fillStyleLst>
      <a:lnStyleLst>
        <a:ln w="12700">
          <a:solidFill>
            <a:schemeClr val="phClr"/>
          </a:solidFill>
          <a:prstDash val="solid"/>
        </a:ln>
        <a:ln w="19050">
          <a:solidFill>
            <a:schemeClr val="phClr"/>
          </a:solidFill>
          <a:prstDash val="solid"/>
        </a:ln>
        <a:ln w="25400">
          <a:solidFill>
            <a:schemeClr val="phClr"/>
          </a:solidFill>
          <a:prstDash val="solid"/>
        </a:ln>
      </a:lnStyleLst>
      <a:effectStyleLst>
        <a:effectStyle>
          <a:effectLst/>
        </a:effectStyle>
        <a:effectStyle>
          <a:effectLst/>
        </a:effectStyle>
        <a:effectStyle>
          <a:effectLst>
            <a:outerShdw blurRad="57150" dist="19050" dir="5400000">
              <a:srgbClr val="000000">
                <a:alpha val="16000"/>
              </a:srgbClr>
            </a:outerShdw>
          </a:effectLst>
        </a:effectStyle>
        <a:effectStyle>
          <a:effectLst>
            <a:outerShdw blurRad="19050" dist="9525" dir="5400000">
              <a:srgbClr val="000000">
                <a:alpha val="6000"/>
              </a:srgbClr>
            </a:outerShdw>
          </a:effectLst>
        </a:effectStyle>
        <a:effectStyle>
          <a:effectLst>
            <a:outerShdw blurRad="28575" dist="9525" dir="5400000">
              <a:srgbClr val="000000">
                <a:alpha val="8000"/>
              </a:srgbClr>
            </a:outerShdw>
          </a:effectLst>
        </a:effectStyle>
        <a:effectStyle>
          <a:effectLst>
            <a:outerShdw blurRad="57150" dist="19050" dir="5400000">
              <a:srgbClr val="000000">
                <a:alpha val="10000"/>
              </a:srgbClr>
            </a:outerShdw>
          </a:effectLst>
        </a:effectStyle>
        <a:effectStyle>
          <a:effectLst>
            <a:outerShdw blurRad="114300" dist="38100" dir="5400000">
              <a:srgbClr val="000000">
                <a:alpha val="12000"/>
              </a:srgbClr>
            </a:outerShdw>
          </a:effectLst>
        </a:effectStyle>
        <a:effectStyle>
          <a:effectLst>
            <a:outerShdw blurRad="171450" dist="57150" dir="5400000">
              <a:srgbClr val="000000">
                <a:alpha val="16000"/>
              </a:srgbClr>
            </a:outerShdw>
          </a:effectLst>
        </a:effectStyle>
        <a:effectStyle>
          <a:effectLst>
            <a:outerShdw blurRad="266700" dist="95250" dir="5400000">
              <a:srgbClr val="000000">
                <a:alpha val="24000"/>
              </a:srgbClr>
            </a:outerShdw>
          </a:effectLst>
        </a:effectStyle>
      </a:effectStyleLst>
      <a:bgFillStyleLst>
        <a:solidFill>
          <a:schemeClr val="phClr"/>
        </a:solidFill>
        <a:solidFill>
          <a:schemeClr val="phClr">
            <a:tint val="95000"/>
            <a:satMod val="170000"/>
          </a:schemeClr>
        </a:solidFill>
        <a:gradFill>
          <a:gsLst>
            <a:gs pos="0">
              <a:schemeClr val="phClr">
                <a:tint val="93000"/>
                <a:shade val="98000"/>
                <a:lumMod val="102000"/>
                <a:satMod val="150000"/>
              </a:schemeClr>
            </a:gs>
            <a:gs pos="50000">
              <a:schemeClr val="phClr">
                <a:tint val="98000"/>
                <a:shade val="90000"/>
                <a:lumMod val="103000"/>
                <a:satMod val="130000"/>
              </a:schemeClr>
            </a:gs>
            <a:gs pos="100000">
              <a:schemeClr val="phClr">
                <a:shade val="63000"/>
                <a:satMod val="120000"/>
              </a:schemeClr>
            </a:gs>
          </a:gsLst>
          <a:lin ang="5400000" scaled="0"/>
        </a:gradFill>
      </a:bgFillStyleLst>
    </a:fmtScheme>
  </a:themeElements>
  <a:objectDefaults/>
  <a:extraClrSchemeLst/>
</a:theme>
</file>

<file path=ppt/theme/theme2.xml><?xml version="1.0" encoding="utf-8"?>
<a:theme xmlns:a="http://schemas.openxmlformats.org/drawingml/2006/main" name="ChatGPT">
  <a:themeElements>
    <a:clrScheme name="ChatGPT">
      <a:dk1>
        <a:srgbClr val="000000"/>
      </a:dk1>
      <a:lt1>
        <a:srgbClr val="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
      <a:majorFont>
        <a:latin typeface="Aptos"/>
        <a:ea typeface=""/>
        <a:cs typeface=""/>
      </a:majorFont>
      <a:minorFont>
        <a:latin typeface="Aptos"/>
        <a:ea typeface=""/>
        <a:cs typeface=""/>
      </a:minorFont>
    </a:fontScheme>
    <a:fmtScheme name="ChatGPT">
      <a:fillStyleLst>
        <a:solidFill>
          <a:schemeClr val="phClr"/>
        </a:solidFill>
        <a:gradFill>
          <a:gsLst>
            <a:gs pos="0">
              <a:schemeClr val="phClr">
                <a:tint val="67000"/>
                <a:lumMod val="110000"/>
                <a:satMod val="105000"/>
              </a:schemeClr>
            </a:gs>
            <a:gs pos="50000">
              <a:schemeClr val="phClr">
                <a:tint val="73000"/>
                <a:lumMod val="105000"/>
                <a:satMod val="103000"/>
              </a:schemeClr>
            </a:gs>
            <a:gs pos="100000">
              <a:schemeClr val="phClr">
                <a:tint val="81000"/>
                <a:lumMod val="105000"/>
                <a:satMod val="109000"/>
              </a:schemeClr>
            </a:gs>
          </a:gsLst>
          <a:lin ang="5400000" scaled="0"/>
        </a:gradFill>
        <a:gradFill>
          <a:gsLst>
            <a:gs pos="0">
              <a:schemeClr val="phClr">
                <a:tint val="94000"/>
                <a:lumMod val="102000"/>
                <a:satMod val="103000"/>
              </a:schemeClr>
            </a:gs>
            <a:gs pos="50000">
              <a:schemeClr val="phClr">
                <a:shade val="100000"/>
                <a:lumMod val="100000"/>
                <a:satMod val="110000"/>
              </a:schemeClr>
            </a:gs>
            <a:gs pos="100000">
              <a:schemeClr val="phClr">
                <a:shade val="78000"/>
                <a:lumMod val="99000"/>
                <a:satMod val="120000"/>
              </a:schemeClr>
            </a:gs>
          </a:gsLst>
          <a:lin ang="5400000" scaled="0"/>
        </a:gradFill>
      </a:fillStyleLst>
      <a:lnStyleLst>
        <a:ln w="12700">
          <a:solidFill>
            <a:schemeClr val="phClr"/>
          </a:solidFill>
          <a:prstDash val="solid"/>
        </a:ln>
        <a:ln w="19050">
          <a:solidFill>
            <a:schemeClr val="phClr"/>
          </a:solidFill>
          <a:prstDash val="solid"/>
        </a:ln>
        <a:ln w="25400">
          <a:solidFill>
            <a:schemeClr val="phClr"/>
          </a:solidFill>
          <a:prstDash val="solid"/>
        </a:ln>
      </a:lnStyleLst>
      <a:effectStyleLst>
        <a:effectStyle>
          <a:effectLst/>
        </a:effectStyle>
        <a:effectStyle>
          <a:effectLst/>
        </a:effectStyle>
        <a:effectStyle>
          <a:effectLst>
            <a:outerShdw blurRad="57150" dist="19050" dir="5400000">
              <a:srgbClr val="000000">
                <a:alpha val="16000"/>
              </a:srgbClr>
            </a:outerShdw>
          </a:effectLst>
        </a:effectStyle>
        <a:effectStyle>
          <a:effectLst>
            <a:outerShdw blurRad="19050" dist="9525" dir="5400000">
              <a:srgbClr val="000000">
                <a:alpha val="6000"/>
              </a:srgbClr>
            </a:outerShdw>
          </a:effectLst>
        </a:effectStyle>
        <a:effectStyle>
          <a:effectLst>
            <a:outerShdw blurRad="28575" dist="9525" dir="5400000">
              <a:srgbClr val="000000">
                <a:alpha val="8000"/>
              </a:srgbClr>
            </a:outerShdw>
          </a:effectLst>
        </a:effectStyle>
        <a:effectStyle>
          <a:effectLst>
            <a:outerShdw blurRad="57150" dist="19050" dir="5400000">
              <a:srgbClr val="000000">
                <a:alpha val="10000"/>
              </a:srgbClr>
            </a:outerShdw>
          </a:effectLst>
        </a:effectStyle>
        <a:effectStyle>
          <a:effectLst>
            <a:outerShdw blurRad="114300" dist="38100" dir="5400000">
              <a:srgbClr val="000000">
                <a:alpha val="12000"/>
              </a:srgbClr>
            </a:outerShdw>
          </a:effectLst>
        </a:effectStyle>
        <a:effectStyle>
          <a:effectLst>
            <a:outerShdw blurRad="171450" dist="57150" dir="5400000">
              <a:srgbClr val="000000">
                <a:alpha val="16000"/>
              </a:srgbClr>
            </a:outerShdw>
          </a:effectLst>
        </a:effectStyle>
        <a:effectStyle>
          <a:effectLst>
            <a:outerShdw blurRad="266700" dist="95250" dir="5400000">
              <a:srgbClr val="000000">
                <a:alpha val="24000"/>
              </a:srgbClr>
            </a:outerShdw>
          </a:effectLst>
        </a:effectStyle>
      </a:effectStyleLst>
      <a:bgFillStyleLst>
        <a:solidFill>
          <a:schemeClr val="phClr"/>
        </a:solidFill>
        <a:solidFill>
          <a:schemeClr val="phClr">
            <a:tint val="95000"/>
            <a:satMod val="170000"/>
          </a:schemeClr>
        </a:solidFill>
        <a:gradFill>
          <a:gsLst>
            <a:gs pos="0">
              <a:schemeClr val="phClr">
                <a:tint val="93000"/>
                <a:shade val="98000"/>
                <a:lumMod val="102000"/>
                <a:satMod val="150000"/>
              </a:schemeClr>
            </a:gs>
            <a:gs pos="50000">
              <a:schemeClr val="phClr">
                <a:tint val="98000"/>
                <a:shade val="90000"/>
                <a:lumMod val="103000"/>
                <a:satMod val="130000"/>
              </a:schemeClr>
            </a:gs>
            <a:gs pos="100000">
              <a:schemeClr val="phClr">
                <a:shade val="63000"/>
                <a:satMod val="120000"/>
              </a:schemeClr>
            </a:gs>
          </a:gsLst>
          <a:lin ang="5400000" scaled="0"/>
        </a:gradFill>
      </a:bgFillStyleLst>
    </a:fmtScheme>
  </a:themeElements>
  <a:objectDefaults/>
  <a:extraClrSchemeLst/>
</a:theme>
</file>

<file path=docProps/app.xml><?xml version="1.0" encoding="utf-8"?>
<Properties xmlns="http://schemas.openxmlformats.org/officeDocument/2006/extended-properties" xmlns:vt="http://schemas.openxmlformats.org/officeDocument/2006/docPropsVTypes">
  <TotalTime>0</TotalTime>
  <Words>4063</Words>
  <Application>Microsoft Office PowerPoint</Application>
  <DocSecurity>0</DocSecurity>
  <PresentationFormat>Widescreen</PresentationFormat>
  <Paragraphs>232</Paragraphs>
  <Slides>17</Slides>
  <Notes>17</Notes>
  <HiddenSlides>0</HiddenSlides>
  <MMClips>0</MMClips>
  <ScaleCrop>false</ScaleCrop>
  <HeadingPairs>
    <vt:vector size="6" baseType="variant">
      <vt:variant>
        <vt:lpstr>Fonts Used</vt:lpstr>
      </vt:variant>
      <vt:variant>
        <vt:i4>2</vt:i4>
      </vt:variant>
      <vt:variant>
        <vt:lpstr>Theme</vt:lpstr>
      </vt:variant>
      <vt:variant>
        <vt:i4>1</vt:i4>
      </vt:variant>
      <vt:variant>
        <vt:lpstr>Slide Titles</vt:lpstr>
      </vt:variant>
      <vt:variant>
        <vt:i4>17</vt:i4>
      </vt:variant>
    </vt:vector>
  </HeadingPairs>
  <TitlesOfParts>
    <vt:vector size="20" baseType="lpstr">
      <vt:lpstr>Aptos</vt:lpstr>
      <vt:lpstr>Arial</vt:lpstr>
      <vt:lpstr>ChatGPT</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vector>
  </TitlesOfParts>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Presentation</dc:title>
  <dc:creator>Walnut Exporter</dc:creator>
  <cp:lastModifiedBy>ALLAMPATI CHENCHU SANHITHA REDDY-[CB.SC.U4CSE23206]</cp:lastModifiedBy>
  <cp:revision>2</cp:revision>
  <dcterms:created xsi:type="dcterms:W3CDTF">2026-10-16T08:19:46Z</dcterms:created>
  <dcterms:modified xsi:type="dcterms:W3CDTF">2026-10-18T20:26:48Z</dcterms:modified>
</cp:coreProperties>
</file>