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22bb6a846c4e28" /><Relationship Type="http://schemas.openxmlformats.org/officeDocument/2006/relationships/extended-properties" Target="/docProps/app.xml" Id="R0c79fec2c46743c0" /><Relationship Type="http://schemas.openxmlformats.org/officeDocument/2006/relationships/officeDocument" Target="/ppt/presentation.xml" Id="R1315f9d550d74942" /></Relationships>
</file>

<file path=ppt/presentation.xml><?xml version="1.0" encoding="utf-8"?>
<p:presentation xmlns:p="http://schemas.openxmlformats.org/presentationml/2006/main">
  <p:sldMasterIdLst>
    <p:sldMasterId xmlns:r="http://schemas.openxmlformats.org/officeDocument/2006/relationships" id="2147483648" r:id="R28d7e6fc42bd4879"/>
  </p:sldMasterIdLst>
  <p:notesMasterIdLst>
    <p:notesMasterId xmlns:r="http://schemas.openxmlformats.org/officeDocument/2006/relationships" r:id="Ra96d0fca12c64f79"/>
  </p:notesMasterIdLst>
  <p:sldIdLst>
    <p:sldId xmlns:r="http://schemas.openxmlformats.org/officeDocument/2006/relationships" id="256" r:id="R9328a8c28d5a43ba"/>
    <p:sldId xmlns:r="http://schemas.openxmlformats.org/officeDocument/2006/relationships" id="257" r:id="Rc30c4e036793450e"/>
    <p:sldId xmlns:r="http://schemas.openxmlformats.org/officeDocument/2006/relationships" id="258" r:id="R84be3cd66da145d8"/>
    <p:sldId xmlns:r="http://schemas.openxmlformats.org/officeDocument/2006/relationships" id="259" r:id="Rdab56d6de65443aa"/>
    <p:sldId xmlns:r="http://schemas.openxmlformats.org/officeDocument/2006/relationships" id="260" r:id="R56c54f390aab4e6f"/>
    <p:sldId xmlns:r="http://schemas.openxmlformats.org/officeDocument/2006/relationships" id="261" r:id="Rcdb49c028e314ea1"/>
    <p:sldId xmlns:r="http://schemas.openxmlformats.org/officeDocument/2006/relationships" id="262" r:id="R14c78c32adbc45b3"/>
    <p:sldId xmlns:r="http://schemas.openxmlformats.org/officeDocument/2006/relationships" id="263" r:id="Rb2ccc4eace8642f4"/>
    <p:sldId xmlns:r="http://schemas.openxmlformats.org/officeDocument/2006/relationships" id="264" r:id="R2432138f375d4f6f"/>
    <p:sldId xmlns:r="http://schemas.openxmlformats.org/officeDocument/2006/relationships" id="265" r:id="Rc5e53e3b48fb4bde"/>
    <p:sldId xmlns:r="http://schemas.openxmlformats.org/officeDocument/2006/relationships" id="266" r:id="Rda9f68c7d5914242"/>
    <p:sldId xmlns:r="http://schemas.openxmlformats.org/officeDocument/2006/relationships" id="267" r:id="R422860c0b274425a"/>
    <p:sldId xmlns:r="http://schemas.openxmlformats.org/officeDocument/2006/relationships" id="268" r:id="R7c0ae61b31f74095"/>
    <p:sldId xmlns:r="http://schemas.openxmlformats.org/officeDocument/2006/relationships" id="269" r:id="Ra78f76bec3d04acf"/>
    <p:sldId xmlns:r="http://schemas.openxmlformats.org/officeDocument/2006/relationships" id="270" r:id="R2e171858890a4a8a"/>
    <p:sldId xmlns:r="http://schemas.openxmlformats.org/officeDocument/2006/relationships" id="271" r:id="Rd363396806b54603"/>
    <p:sldId xmlns:r="http://schemas.openxmlformats.org/officeDocument/2006/relationships" id="272" r:id="Ra40b414c916644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f164a9eb4e4ada" /><Relationship Type="http://schemas.openxmlformats.org/officeDocument/2006/relationships/slideMaster" Target="/ppt/slideMasters/slideMaster1.xml" Id="R28d7e6fc42bd4879" /><Relationship Type="http://schemas.openxmlformats.org/officeDocument/2006/relationships/notesMaster" Target="/ppt/notesMasters/notesMaster1.xml" Id="Ra96d0fca12c64f79" /><Relationship Type="http://schemas.openxmlformats.org/officeDocument/2006/relationships/presProps" Target="/ppt/presProps.xml" Id="Rbeaa53c418c04112" /><Relationship Type="http://schemas.openxmlformats.org/officeDocument/2006/relationships/tableStyles" Target="/ppt/tableStyles.xml" Id="R3b9192d29ac841aa" /><Relationship Type="http://schemas.openxmlformats.org/officeDocument/2006/relationships/slide" Target="/ppt/slides/slide1.xml" Id="R9328a8c28d5a43ba" /><Relationship Type="http://schemas.openxmlformats.org/officeDocument/2006/relationships/slide" Target="/ppt/slides/slide2.xml" Id="Rc30c4e036793450e" /><Relationship Type="http://schemas.openxmlformats.org/officeDocument/2006/relationships/slide" Target="/ppt/slides/slide3.xml" Id="R84be3cd66da145d8" /><Relationship Type="http://schemas.openxmlformats.org/officeDocument/2006/relationships/slide" Target="/ppt/slides/slide4.xml" Id="Rdab56d6de65443aa" /><Relationship Type="http://schemas.openxmlformats.org/officeDocument/2006/relationships/slide" Target="/ppt/slides/slide5.xml" Id="R56c54f390aab4e6f" /><Relationship Type="http://schemas.openxmlformats.org/officeDocument/2006/relationships/slide" Target="/ppt/slides/slide6.xml" Id="Rcdb49c028e314ea1" /><Relationship Type="http://schemas.openxmlformats.org/officeDocument/2006/relationships/slide" Target="/ppt/slides/slide7.xml" Id="R14c78c32adbc45b3" /><Relationship Type="http://schemas.openxmlformats.org/officeDocument/2006/relationships/slide" Target="/ppt/slides/slide8.xml" Id="Rb2ccc4eace8642f4" /><Relationship Type="http://schemas.openxmlformats.org/officeDocument/2006/relationships/slide" Target="/ppt/slides/slide9.xml" Id="R2432138f375d4f6f" /><Relationship Type="http://schemas.openxmlformats.org/officeDocument/2006/relationships/slide" Target="/ppt/slides/slide10.xml" Id="Rc5e53e3b48fb4bde" /><Relationship Type="http://schemas.openxmlformats.org/officeDocument/2006/relationships/slide" Target="/ppt/slides/slide11.xml" Id="Rda9f68c7d5914242" /><Relationship Type="http://schemas.openxmlformats.org/officeDocument/2006/relationships/slide" Target="/ppt/slides/slide12.xml" Id="R422860c0b274425a" /><Relationship Type="http://schemas.openxmlformats.org/officeDocument/2006/relationships/slide" Target="/ppt/slides/slide13.xml" Id="R7c0ae61b31f74095" /><Relationship Type="http://schemas.openxmlformats.org/officeDocument/2006/relationships/slide" Target="/ppt/slides/slide14.xml" Id="Ra78f76bec3d04acf" /><Relationship Type="http://schemas.openxmlformats.org/officeDocument/2006/relationships/slide" Target="/ppt/slides/slide15.xml" Id="R2e171858890a4a8a" /><Relationship Type="http://schemas.openxmlformats.org/officeDocument/2006/relationships/slide" Target="/ppt/slides/slide16.xml" Id="Rd363396806b54603" /><Relationship Type="http://schemas.openxmlformats.org/officeDocument/2006/relationships/slide" Target="/ppt/slides/slide17.xml" Id="Ra40b414c916644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b3f9cb819743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58460ae1ca4da5" /><Relationship Type="http://schemas.openxmlformats.org/officeDocument/2006/relationships/notesMaster" Target="/ppt/notesMasters/notesMaster1.xml" Id="R304078ad52bd4c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80457b192748d8" /><Relationship Type="http://schemas.openxmlformats.org/officeDocument/2006/relationships/notesMaster" Target="/ppt/notesMasters/notesMaster1.xml" Id="R6bee326e7cd146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9f68dccf74432d" /><Relationship Type="http://schemas.openxmlformats.org/officeDocument/2006/relationships/notesMaster" Target="/ppt/notesMasters/notesMaster1.xml" Id="Rf1baf54b45ff49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e04dc4e19c474d" /><Relationship Type="http://schemas.openxmlformats.org/officeDocument/2006/relationships/notesMaster" Target="/ppt/notesMasters/notesMaster1.xml" Id="R9e616c0cbd654e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1fa86432884a7e" /><Relationship Type="http://schemas.openxmlformats.org/officeDocument/2006/relationships/notesMaster" Target="/ppt/notesMasters/notesMaster1.xml" Id="R55d1b95d77db41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07bd5b07ad44c4" /><Relationship Type="http://schemas.openxmlformats.org/officeDocument/2006/relationships/notesMaster" Target="/ppt/notesMasters/notesMaster1.xml" Id="R72ba9303d5ba40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859d0eab8c41a2" /><Relationship Type="http://schemas.openxmlformats.org/officeDocument/2006/relationships/notesMaster" Target="/ppt/notesMasters/notesMaster1.xml" Id="R875fd122141441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2335ccdfd04383" /><Relationship Type="http://schemas.openxmlformats.org/officeDocument/2006/relationships/notesMaster" Target="/ppt/notesMasters/notesMaster1.xml" Id="R05bacbaffa984e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920705bc0f4412" /><Relationship Type="http://schemas.openxmlformats.org/officeDocument/2006/relationships/notesMaster" Target="/ppt/notesMasters/notesMaster1.xml" Id="R05549406135c4e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c95f3809eb4f5e" /><Relationship Type="http://schemas.openxmlformats.org/officeDocument/2006/relationships/notesMaster" Target="/ppt/notesMasters/notesMaster1.xml" Id="R13d21fef58e145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f1f079221d4b4a" /><Relationship Type="http://schemas.openxmlformats.org/officeDocument/2006/relationships/notesMaster" Target="/ppt/notesMasters/notesMaster1.xml" Id="Rce40a3f64b6c4c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c4bc5529814cd4" /><Relationship Type="http://schemas.openxmlformats.org/officeDocument/2006/relationships/notesMaster" Target="/ppt/notesMasters/notesMaster1.xml" Id="R0bb950c8c6a14f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110307d8104f0c" /><Relationship Type="http://schemas.openxmlformats.org/officeDocument/2006/relationships/notesMaster" Target="/ppt/notesMasters/notesMaster1.xml" Id="R117d9d5ed6744f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5e43e6bdfd43fc" /><Relationship Type="http://schemas.openxmlformats.org/officeDocument/2006/relationships/notesMaster" Target="/ppt/notesMasters/notesMaster1.xml" Id="Raaf58fe3cc0e4d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fb455b47444486" /><Relationship Type="http://schemas.openxmlformats.org/officeDocument/2006/relationships/notesMaster" Target="/ppt/notesMasters/notesMaster1.xml" Id="Ra94d271366d442c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5742b7047f94805" /><Relationship Type="http://schemas.openxmlformats.org/officeDocument/2006/relationships/notesMaster" Target="/ppt/notesMasters/notesMaster1.xml" Id="R8cc1b8720a214a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7fd481a1b5b4701" /><Relationship Type="http://schemas.openxmlformats.org/officeDocument/2006/relationships/notesMaster" Target="/ppt/notesMasters/notesMaster1.xml" Id="R555b70d9677e45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 Replace bracketed prompts with your project evidence. Present actual results only. Target 15 minutes including the live demonstration. Cover the whole project. Review 2 assessment primarily focuses on two Unit 3 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 Replace bracketed prompts with your project evidence. Present actual results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 Replace bracketed prompts with your project evidence. Present actual results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 Replace bracketed prompts with your project evidence. Present actual results only. Document original collection or generation. Pre-built datasets from Kaggle, UCI, GitHub or similar repositories are not permitted under the project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 Replace bracketed prompts with your project evidence. Present actual results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 Replace bracketed prompts with your project evidence. Present actual results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55 seconds. Replace bracketed prompts with your project evidence. Present actual results only. Replace the chart prompt with actual charts. Explain what changed after preprocessing and connect findings to the business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65 seconds. Replace bracketed prompts with your project evidence. Present actual results only. Evaluate predictive models on held-out records from the final validated project dataset. Fit preprocessing only on training data. Compare models on the same test records. Choose task-appropriate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 Replace bracketed prompts with your project evidence. Present actual results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 Replace bracketed prompts with your project evidence. Present actual results only. For time series, explain frequency and time split. For text, explain cleaning and representation. For association rules, explain transactions and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65 seconds. Replace bracketed prompts with your project evidence. Present actual results only. Compare alternatives within the same task using consistent data and conditions. Forecasting: MAE / RMSE on future held-out periods. Text classification: precision, recall, F1 and confusion matrix on test messages. Association rules: support, confidence and lift on final transaction data. Explain any threshold comparison. Do not compare unrelated tasks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 Replace bracketed prompts with your project evidence. Present actual results only. For time series, explain frequency and time split. For text, explain cleaning and representation. For association rules, explain transactions and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65 seconds. Replace bracketed prompts with your project evidence. Present actual results only. Compare alternatives within the same task using consistent data and conditions. Forecasting: MAE / RMSE on future held-out periods. Text classification: precision, recall, F1 and confusion matrix on test messages. Association rules: support, confidence and lift on final transaction data. Explain any threshold comparison. Do not compare unrelated tasks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55 seconds. Replace bracketed prompts with your project evidence. Present actual results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120 seconds. Replace bracketed prompts with your project evidence. Present actual results only. Switch to the working application. Demonstrate meaningful interaction using the final project data and results. Show relevant findings from the complete project. A screenshot supports the presentation but does not replace the live demonstration. Test the application before the panel.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 Replace bracketed prompts with your project evidence. Present actual results only. Delete the fifth member row for a four-member team. Confirm all Units 1–3 components, final evaluation and interactive application are complete. Use activity history and task evidence to support individual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 Replace bracketed prompts with your project evidence. Present actual results only. Core implementation must be complete. Future scope should describe extensions, not unfinished mandatory components. Keep detailed references, additional charts and code explanations in optional backup slides. Reserve panel questions for after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022756585d46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d37d6c453845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a6b77d07724e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a9127ae2e7d40b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50b05ba7f8742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652dd002c9e44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C7C01F-B57D-44F3-8FAC-15DC9FB8E3B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680C61-2321-44D1-978C-C3A3D47FBD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F49B2A-3E42-4857-B789-03C280FD8F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E0E629-5117-4A73-86AF-8C85277847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FB44AE-6C6B-4962-8488-921E00208F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48ED88-4CFD-4979-86CC-188CAAAB87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F1CC07-64B5-4319-AD0C-752262F69E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EC947F-2793-4E6A-B45C-99105680566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3BE2C0-EB59-4049-88F4-F466718828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9BDD25-6828-4F8F-9ADE-78224F8403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3a177f639b4a07" /><Relationship Type="http://schemas.openxmlformats.org/officeDocument/2006/relationships/slideLayout" Target="/ppt/slideLayouts/slideLayout1.xml" Id="R8c7a749b09184180" /><Relationship Type="http://schemas.openxmlformats.org/officeDocument/2006/relationships/slideLayout" Target="/ppt/slideLayouts/slideLayout2.xml" Id="R867931169c7c42a9" /><Relationship Type="http://schemas.openxmlformats.org/officeDocument/2006/relationships/slideLayout" Target="/ppt/slideLayouts/slideLayout3.xml" Id="Rb2d72513e8df4be6" /><Relationship Type="http://schemas.openxmlformats.org/officeDocument/2006/relationships/slideLayout" Target="/ppt/slideLayouts/slideLayout4.xml" Id="R076f31b9958a40a7" /><Relationship Type="http://schemas.openxmlformats.org/officeDocument/2006/relationships/slideLayout" Target="/ppt/slideLayouts/slideLayout5.xml" Id="Rf0703841aa5e4fae" /><Relationship Type="http://schemas.openxmlformats.org/officeDocument/2006/relationships/slideLayout" Target="/ppt/slideLayouts/slideLayout6.xml" Id="R20814bc9495840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7a749b09184180"/>
    <p:sldLayoutId xmlns:r="http://schemas.openxmlformats.org/officeDocument/2006/relationships" id="2147483650" r:id="R867931169c7c42a9"/>
    <p:sldLayoutId xmlns:r="http://schemas.openxmlformats.org/officeDocument/2006/relationships" id="2147483651" r:id="Rb2d72513e8df4be6"/>
    <p:sldLayoutId xmlns:r="http://schemas.openxmlformats.org/officeDocument/2006/relationships" id="2147483652" r:id="R076f31b9958a40a7"/>
    <p:sldLayoutId xmlns:r="http://schemas.openxmlformats.org/officeDocument/2006/relationships" id="2147483653" r:id="Rf0703841aa5e4fae"/>
    <p:sldLayoutId xmlns:r="http://schemas.openxmlformats.org/officeDocument/2006/relationships" id="2147483654" r:id="R20814bc9495840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5771460536493d" /><Relationship Type="http://schemas.openxmlformats.org/officeDocument/2006/relationships/notesSlide" Target="/ppt/notesSlides/notesSlide1.xml" Id="Rea340ad89b8145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1a6751f31ad4dc2" /><Relationship Type="http://schemas.openxmlformats.org/officeDocument/2006/relationships/notesSlide" Target="/ppt/notesSlides/notesSlide2.xml" Id="R87a74da8cc9249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40e56ebb38c405f" /><Relationship Type="http://schemas.openxmlformats.org/officeDocument/2006/relationships/notesSlide" Target="/ppt/notesSlides/notesSlide3.xml" Id="Rbc5ba185cde54a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0203877a67346b4" /><Relationship Type="http://schemas.openxmlformats.org/officeDocument/2006/relationships/notesSlide" Target="/ppt/notesSlides/notesSlide4.xml" Id="R08039b446a9248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05c8a2fac443fb" /><Relationship Type="http://schemas.openxmlformats.org/officeDocument/2006/relationships/notesSlide" Target="/ppt/notesSlides/notesSlide5.xml" Id="Re162a8108f904a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34e84d539345c1" /><Relationship Type="http://schemas.openxmlformats.org/officeDocument/2006/relationships/notesSlide" Target="/ppt/notesSlides/notesSlide6.xml" Id="R4801df165e9e4a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df568788184ef1" /><Relationship Type="http://schemas.openxmlformats.org/officeDocument/2006/relationships/notesSlide" Target="/ppt/notesSlides/notesSlide7.xml" Id="R0804ad2e620d4c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3d798423e7948e8" /><Relationship Type="http://schemas.openxmlformats.org/officeDocument/2006/relationships/notesSlide" Target="/ppt/notesSlides/notesSlide8.xml" Id="R17209cf6857f47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c5f35c36132433d" /><Relationship Type="http://schemas.openxmlformats.org/officeDocument/2006/relationships/notesSlide" Target="/ppt/notesSlides/notesSlide9.xml" Id="R35ac007a58df44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63a65d719f04031" /><Relationship Type="http://schemas.openxmlformats.org/officeDocument/2006/relationships/notesSlide" Target="/ppt/notesSlides/notesSlide10.xml" Id="Rb1faabe56a254d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10ee0f55ce9493e" /><Relationship Type="http://schemas.openxmlformats.org/officeDocument/2006/relationships/notesSlide" Target="/ppt/notesSlides/notesSlide11.xml" Id="R478b3e0192c445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20c3fb49d904b97" /><Relationship Type="http://schemas.openxmlformats.org/officeDocument/2006/relationships/notesSlide" Target="/ppt/notesSlides/notesSlide12.xml" Id="R254178b6123a4f3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b50a02df876480c" /><Relationship Type="http://schemas.openxmlformats.org/officeDocument/2006/relationships/notesSlide" Target="/ppt/notesSlides/notesSlide13.xml" Id="R6f7865818c304f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06c62bc55044304" /><Relationship Type="http://schemas.openxmlformats.org/officeDocument/2006/relationships/notesSlide" Target="/ppt/notesSlides/notesSlide14.xml" Id="Radba121ad76743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0c674c522da42a1" /><Relationship Type="http://schemas.openxmlformats.org/officeDocument/2006/relationships/notesSlide" Target="/ppt/notesSlides/notesSlide15.xml" Id="R56cc1bfed52146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aef42e85dfa4dc0" /><Relationship Type="http://schemas.openxmlformats.org/officeDocument/2006/relationships/notesSlide" Target="/ppt/notesSlides/notesSlide16.xml" Id="R93625b1f186b4d0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78bafcf87994f63" /><Relationship Type="http://schemas.openxmlformats.org/officeDocument/2006/relationships/notesSlide" Target="/ppt/notesSlides/notesSlide17.xml" Id="Rac4a8a7d6e774b0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7ADEF8-AADF-43D1-90C1-50A9B95F509B}"/>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23CSE452 BUSINESS ANALYTICS</a:t>
            </a:r>
          </a:p>
        </p:txBody>
      </p:sp>
      <p:sp>
        <p:nvSpPr>
          <p:cNvPr id="2" name="">
            <a:extLst xmlns:a="http://schemas.openxmlformats.org/drawingml/2006/main">
              <a:ext uri="{FF2B5EF4-FFF2-40B4-BE49-F238E27FC236}">
                <a16:creationId xmlns:a16="http://schemas.microsoft.com/office/drawing/2014/main" id="{09218575-EBAC-4868-A588-E275AEEAF9CE}"/>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[Project title]</a:t>
            </a:r>
          </a:p>
        </p:txBody>
      </p:sp>
      <p:sp>
        <p:nvSpPr>
          <p:cNvPr id="3" name="">
            <a:extLst xmlns:a="http://schemas.openxmlformats.org/drawingml/2006/main">
              <a:ext uri="{FF2B5EF4-FFF2-40B4-BE49-F238E27FC236}">
                <a16:creationId xmlns:a16="http://schemas.microsoft.com/office/drawing/2014/main" id="{6AA5BF02-5CA2-4B87-B873-2B3DCFC07F92}"/>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0A8C83C-B788-4B95-AE05-315E57A05BAB}"/>
              </a:ext>
            </a:extLst>
          </p:cNvPr>
          <p:cNvSpPr>
            <a:spLocks xmlns:a="http://schemas.openxmlformats.org/drawingml/2006/main" noGrp="1"/>
          </p:cNvSpPr>
          <p:nvPr/>
        </p:nvSpPr>
        <p:spPr>
          <a:xfrm xmlns:a="http://schemas.openxmlformats.org/drawingml/2006/main">
            <a:off x="685800" y="2428875"/>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0">
                <a:solidFill>
                  <a:srgbClr val="233247"/>
                </a:solidFill>
                <a:latin typeface="Arial"/>
                <a:ea typeface="Arial"/>
                <a:cs typeface="Arial"/>
              </a:defRPr>
            </a:defPPr>
          </a:lstStyle>
          <a:p xmlns:a="http://schemas.openxmlformats.org/drawingml/2006/main">
            <a:pPr>
              <a:defRPr sz="2850" b="0">
                <a:solidFill>
                  <a:srgbClr val="233247"/>
                </a:solidFill>
                <a:latin typeface="Arial"/>
                <a:ea typeface="Arial"/>
                <a:cs typeface="Arial"/>
              </a:defRPr>
            </a:pPr>
            <a:r>
              <a:rPr sz="2850" b="0">
                <a:solidFill>
                  <a:srgbClr val="233247"/>
                </a:solidFill>
                <a:latin typeface="Arial"/>
                <a:ea typeface="Arial"/>
                <a:cs typeface="Arial"/>
              </a:rPr>
              <a:t>Final Project Presentation</a:t>
            </a:r>
          </a:p>
        </p:txBody>
      </p:sp>
      <p:sp>
        <p:nvSpPr>
          <p:cNvPr id="5" name="">
            <a:extLst xmlns:a="http://schemas.openxmlformats.org/drawingml/2006/main">
              <a:ext uri="{FF2B5EF4-FFF2-40B4-BE49-F238E27FC236}">
                <a16:creationId xmlns:a16="http://schemas.microsoft.com/office/drawing/2014/main" id="{E7D801F1-C77E-469A-8C72-B5012D040C8C}"/>
              </a:ext>
            </a:extLst>
          </p:cNvPr>
          <p:cNvSpPr>
            <a:spLocks xmlns:a="http://schemas.openxmlformats.org/drawingml/2006/main" noGrp="1"/>
          </p:cNvSpPr>
          <p:nvPr/>
        </p:nvSpPr>
        <p:spPr>
          <a:xfrm xmlns:a="http://schemas.openxmlformats.org/drawingml/2006/main">
            <a:off x="685800" y="3476625"/>
            <a:ext cx="1047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875" b="0">
                <a:solidFill>
                  <a:srgbClr val="233247"/>
                </a:solidFill>
                <a:latin typeface="Arial"/>
                <a:ea typeface="Arial"/>
                <a:cs typeface="Arial"/>
              </a:rPr>
              <a:t>[Team number]     [Member names and register numbers]</a:t>
            </a:r>
          </a:p>
        </p:txBody>
      </p:sp>
      <p:sp>
        <p:nvSpPr>
          <p:cNvPr id="6" name="">
            <a:extLst xmlns:a="http://schemas.openxmlformats.org/drawingml/2006/main">
              <a:ext uri="{FF2B5EF4-FFF2-40B4-BE49-F238E27FC236}">
                <a16:creationId xmlns:a16="http://schemas.microsoft.com/office/drawing/2014/main" id="{CFE96CFB-B7A0-4733-A4C1-915426594AEC}"/>
              </a:ext>
            </a:extLst>
          </p:cNvPr>
          <p:cNvSpPr>
            <a:spLocks xmlns:a="http://schemas.openxmlformats.org/drawingml/2006/main" noGrp="1"/>
          </p:cNvSpPr>
          <p:nvPr/>
        </p:nvSpPr>
        <p:spPr>
          <a:xfrm xmlns:a="http://schemas.openxmlformats.org/drawingml/2006/main">
            <a:off x="685800" y="461962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33247"/>
                </a:solidFill>
                <a:latin typeface="Arial"/>
                <a:ea typeface="Arial"/>
                <a:cs typeface="Arial"/>
              </a:defRPr>
            </a:defPPr>
          </a:lstStyle>
          <a:p xmlns:a="http://schemas.openxmlformats.org/drawingml/2006/main">
            <a:pPr>
              <a:defRPr sz="1800" b="0">
                <a:solidFill>
                  <a:srgbClr val="233247"/>
                </a:solidFill>
                <a:latin typeface="Arial"/>
                <a:ea typeface="Arial"/>
                <a:cs typeface="Arial"/>
              </a:defRPr>
            </a:pPr>
            <a:r>
              <a:rPr sz="1800" b="0">
                <a:solidFill>
                  <a:srgbClr val="233247"/>
                </a:solidFill>
                <a:latin typeface="Arial"/>
                <a:ea typeface="Arial"/>
                <a:cs typeface="Arial"/>
              </a:rPr>
              <a:t>[Guide / Faculty]     [Presentation date]</a:t>
            </a:r>
          </a:p>
        </p:txBody>
      </p:sp>
    </p:spTree>
    <p:extLst>
      <p:ext uri="{BB962C8B-B14F-4D97-AF65-F5344CB8AC3E}">
        <p14:creationId xmlns:p14="http://schemas.microsoft.com/office/powerpoint/2010/main" val="13965296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7343E7-897E-4DAC-BDC5-EAE42CCBBA13}"/>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PROJECT OVERVIEW</a:t>
            </a:r>
          </a:p>
        </p:txBody>
      </p:sp>
      <p:sp>
        <p:nvSpPr>
          <p:cNvPr id="2" name="">
            <a:extLst xmlns:a="http://schemas.openxmlformats.org/drawingml/2006/main">
              <a:ext uri="{FF2B5EF4-FFF2-40B4-BE49-F238E27FC236}">
                <a16:creationId xmlns:a16="http://schemas.microsoft.com/office/drawing/2014/main" id="{FED1F470-9F33-4ECE-9801-5FEC2B16012C}"/>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Business problem and objectives</a:t>
            </a:r>
          </a:p>
        </p:txBody>
      </p:sp>
      <p:sp>
        <p:nvSpPr>
          <p:cNvPr id="3" name="">
            <a:extLst xmlns:a="http://schemas.openxmlformats.org/drawingml/2006/main">
              <a:ext uri="{FF2B5EF4-FFF2-40B4-BE49-F238E27FC236}">
                <a16:creationId xmlns:a16="http://schemas.microsoft.com/office/drawing/2014/main" id="{1C59113F-EFA7-4894-9DAC-CFF6316D49B3}"/>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EE0745E4-06FC-4A61-A5EC-5ACBCB04D1A2}"/>
              </a:ext>
            </a:extLst>
          </p:cNvPr>
          <p:cNvSpPr>
            <a:spLocks xmlns:a="http://schemas.openxmlformats.org/drawingml/2006/main" noGrp="1"/>
          </p:cNvSpPr>
          <p:nvPr/>
        </p:nvSpPr>
        <p:spPr>
          <a:xfrm xmlns:a="http://schemas.openxmlformats.org/drawingml/2006/main">
            <a:off x="685800" y="20193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Business problem: [Who faces what problem?]</a:t>
            </a:r>
          </a:p>
        </p:txBody>
      </p:sp>
      <p:sp>
        <p:nvSpPr>
          <p:cNvPr id="5" name="">
            <a:extLst xmlns:a="http://schemas.openxmlformats.org/drawingml/2006/main">
              <a:ext uri="{FF2B5EF4-FFF2-40B4-BE49-F238E27FC236}">
                <a16:creationId xmlns:a16="http://schemas.microsoft.com/office/drawing/2014/main" id="{5B7A7B16-567A-4CE1-8454-F080C301E37C}"/>
              </a:ext>
            </a:extLst>
          </p:cNvPr>
          <p:cNvSpPr>
            <a:spLocks xmlns:a="http://schemas.openxmlformats.org/drawingml/2006/main" noGrp="1"/>
          </p:cNvSpPr>
          <p:nvPr/>
        </p:nvSpPr>
        <p:spPr>
          <a:xfrm xmlns:a="http://schemas.openxmlformats.org/drawingml/2006/main">
            <a:off x="685800" y="2838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Objectives: [Two measurable project objectives]</a:t>
            </a:r>
          </a:p>
        </p:txBody>
      </p:sp>
      <p:sp>
        <p:nvSpPr>
          <p:cNvPr id="6" name="">
            <a:extLst xmlns:a="http://schemas.openxmlformats.org/drawingml/2006/main">
              <a:ext uri="{FF2B5EF4-FFF2-40B4-BE49-F238E27FC236}">
                <a16:creationId xmlns:a16="http://schemas.microsoft.com/office/drawing/2014/main" id="{6A41A58E-E834-43D8-B9AA-B3ECB73E2FE8}"/>
              </a:ext>
            </a:extLst>
          </p:cNvPr>
          <p:cNvSpPr>
            <a:spLocks xmlns:a="http://schemas.openxmlformats.org/drawingml/2006/main" noGrp="1"/>
          </p:cNvSpPr>
          <p:nvPr/>
        </p:nvSpPr>
        <p:spPr>
          <a:xfrm xmlns:a="http://schemas.openxmlformats.org/drawingml/2006/main">
            <a:off x="685800" y="36576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Business decision: [What decision will the analysis support?]</a:t>
            </a:r>
          </a:p>
        </p:txBody>
      </p:sp>
      <p:sp>
        <p:nvSpPr>
          <p:cNvPr id="7" name="">
            <a:extLst xmlns:a="http://schemas.openxmlformats.org/drawingml/2006/main">
              <a:ext uri="{FF2B5EF4-FFF2-40B4-BE49-F238E27FC236}">
                <a16:creationId xmlns:a16="http://schemas.microsoft.com/office/drawing/2014/main" id="{A95CB975-5F85-44EA-9A3E-9E1BBD5AC1A0}"/>
              </a:ext>
            </a:extLst>
          </p:cNvPr>
          <p:cNvSpPr>
            <a:spLocks xmlns:a="http://schemas.openxmlformats.org/drawingml/2006/main" noGrp="1"/>
          </p:cNvSpPr>
          <p:nvPr/>
        </p:nvSpPr>
        <p:spPr>
          <a:xfrm xmlns:a="http://schemas.openxmlformats.org/drawingml/2006/main">
            <a:off x="685800" y="44767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Expected output: [Prediction, insight or recommendation]</a:t>
            </a:r>
          </a:p>
        </p:txBody>
      </p:sp>
    </p:spTree>
    <p:extLst>
      <p:ext uri="{BB962C8B-B14F-4D97-AF65-F5344CB8AC3E}">
        <p14:creationId xmlns:p14="http://schemas.microsoft.com/office/powerpoint/2010/main" val="1207503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68A3F6-EA40-4274-A965-7B5983BD59C4}"/>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UNITS 1 TO 3</a:t>
            </a:r>
          </a:p>
        </p:txBody>
      </p:sp>
      <p:sp>
        <p:nvSpPr>
          <p:cNvPr id="2" name="">
            <a:extLst xmlns:a="http://schemas.openxmlformats.org/drawingml/2006/main">
              <a:ext uri="{FF2B5EF4-FFF2-40B4-BE49-F238E27FC236}">
                <a16:creationId xmlns:a16="http://schemas.microsoft.com/office/drawing/2014/main" id="{240865B3-5019-438A-B46E-CB05F418C0B2}"/>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Complete project workflow</a:t>
            </a:r>
          </a:p>
        </p:txBody>
      </p:sp>
      <p:sp>
        <p:nvSpPr>
          <p:cNvPr id="3" name="">
            <a:extLst xmlns:a="http://schemas.openxmlformats.org/drawingml/2006/main">
              <a:ext uri="{FF2B5EF4-FFF2-40B4-BE49-F238E27FC236}">
                <a16:creationId xmlns:a16="http://schemas.microsoft.com/office/drawing/2014/main" id="{F816DB07-E00A-4260-A0E8-0337A7A73395}"/>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F7216A9A-B30F-435A-B53B-00121FAFC2FC}"/>
              </a:ext>
            </a:extLst>
          </p:cNvPr>
          <p:cNvGraphicFramePr/>
          <p:nvPr/>
        </p:nvGraphicFramePr>
        <p:xfrm>
          <a:off xmlns:a="http://schemas.openxmlformats.org/drawingml/2006/main" x="609600" y="1952625"/>
          <a:ext xmlns:a="http://schemas.openxmlformats.org/drawingml/2006/main" cx="10972800" cy="3333750"/>
        </p:xfrm>
        <a:graphic xmlns:a="http://schemas.openxmlformats.org/drawingml/2006/main">
          <a:graphicData uri="http://schemas.openxmlformats.org/drawingml/2006/table">
            <a:tbl>
              <a:tblPr/>
              <a:tblGrid>
                <a:gridCol w="2476500"/>
                <a:gridCol w="8496300"/>
              </a:tblGrid>
              <a:tr h="666750">
                <a:tc>
                  <a:txBody>
                    <a:bodyPr/>
                    <a:lstStyle/>
                    <a:p>
                      <a:r>
                        <a:rPr sz="1650" b="1">
                          <a:solidFill>
                            <a:srgbClr val="FFFFFF"/>
                          </a:solidFill>
                          <a:latin typeface="Arial"/>
                          <a:ea typeface="Arial"/>
                          <a:cs typeface="Arial"/>
                        </a:rPr>
                        <a:t>Stage</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Your implementation</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666750">
                <a:tc>
                  <a:txBody>
                    <a:bodyPr/>
                    <a:lstStyle/>
                    <a:p>
                      <a:r>
                        <a:rPr sz="1650" b="0">
                          <a:solidFill>
                            <a:srgbClr val="233247"/>
                          </a:solidFill>
                          <a:latin typeface="Arial"/>
                          <a:ea typeface="Arial"/>
                          <a:cs typeface="Arial"/>
                        </a:rPr>
                        <a:t>Unit 1</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[Collection, validation, preprocessing and EDA]</a:t>
                      </a:r>
                    </a:p>
                  </a:txBody>
                  <a:tcPr marL="91440" marR="91440" marT="45720" marB="45720">
                    <a:lnR w="9525">
                      <a:solidFill>
                        <a:srgbClr val="CDD7DF"/>
                      </a:solidFill>
                      <a:prstDash val="solid"/>
                    </a:lnR>
                    <a:lnB w="9525">
                      <a:solidFill>
                        <a:srgbClr val="CDD7DF"/>
                      </a:solidFill>
                      <a:prstDash val="solid"/>
                    </a:lnB>
                    <a:solidFill>
                      <a:srgbClr val="F0F5F7"/>
                    </a:solidFill>
                  </a:tcPr>
                </a:tc>
              </a:tr>
              <a:tr h="666750">
                <a:tc>
                  <a:txBody>
                    <a:bodyPr/>
                    <a:lstStyle/>
                    <a:p>
                      <a:r>
                        <a:rPr sz="1650" b="0">
                          <a:solidFill>
                            <a:srgbClr val="233247"/>
                          </a:solidFill>
                          <a:latin typeface="Arial"/>
                          <a:ea typeface="Arial"/>
                          <a:cs typeface="Arial"/>
                        </a:rPr>
                        <a:t>Unit 2</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[Predictive models and evaluation]</a:t>
                      </a:r>
                    </a:p>
                  </a:txBody>
                  <a:tcPr marL="91440" marR="91440" marT="45720" marB="45720">
                    <a:lnR w="9525">
                      <a:solidFill>
                        <a:srgbClr val="CDD7DF"/>
                      </a:solidFill>
                      <a:prstDash val="solid"/>
                    </a:lnR>
                    <a:lnB w="9525">
                      <a:solidFill>
                        <a:srgbClr val="CDD7DF"/>
                      </a:solidFill>
                      <a:prstDash val="solid"/>
                    </a:lnB>
                    <a:solidFill>
                      <a:srgbClr val="FFFFFF"/>
                    </a:solidFill>
                  </a:tcPr>
                </a:tc>
              </a:tr>
              <a:tr h="666750">
                <a:tc>
                  <a:txBody>
                    <a:bodyPr/>
                    <a:lstStyle/>
                    <a:p>
                      <a:r>
                        <a:rPr sz="1650" b="0">
                          <a:solidFill>
                            <a:srgbClr val="233247"/>
                          </a:solidFill>
                          <a:latin typeface="Arial"/>
                          <a:ea typeface="Arial"/>
                          <a:cs typeface="Arial"/>
                        </a:rPr>
                        <a:t>Unit 3</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[Selected Method 1] and [Selected Method 2]</a:t>
                      </a:r>
                    </a:p>
                  </a:txBody>
                  <a:tcPr marL="91440" marR="91440" marT="45720" marB="45720">
                    <a:lnR w="9525">
                      <a:solidFill>
                        <a:srgbClr val="CDD7DF"/>
                      </a:solidFill>
                      <a:prstDash val="solid"/>
                    </a:lnR>
                    <a:lnB w="9525">
                      <a:solidFill>
                        <a:srgbClr val="CDD7DF"/>
                      </a:solidFill>
                      <a:prstDash val="solid"/>
                    </a:lnB>
                    <a:solidFill>
                      <a:srgbClr val="F0F5F7"/>
                    </a:solidFill>
                  </a:tcPr>
                </a:tc>
              </a:tr>
              <a:tr h="666750">
                <a:tc>
                  <a:txBody>
                    <a:bodyPr/>
                    <a:lstStyle/>
                    <a:p>
                      <a:r>
                        <a:rPr sz="1650" b="0">
                          <a:solidFill>
                            <a:srgbClr val="233247"/>
                          </a:solidFill>
                          <a:latin typeface="Arial"/>
                          <a:ea typeface="Arial"/>
                          <a:cs typeface="Arial"/>
                        </a:rPr>
                        <a:t>Final application</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[Interactive dashboard or website and recommendations]</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252009C-353D-4A25-B9F6-952D21AC77E0}"/>
              </a:ext>
            </a:extLst>
          </p:cNvPr>
          <p:cNvSpPr>
            <a:spLocks xmlns:a="http://schemas.openxmlformats.org/drawingml/2006/main" noGrp="1"/>
          </p:cNvSpPr>
          <p:nvPr/>
        </p:nvSpPr>
        <p:spPr>
          <a:xfrm xmlns:a="http://schemas.openxmlformats.org/drawingml/2006/main">
            <a:off x="685800" y="5619750"/>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57A80"/>
                </a:solidFill>
                <a:latin typeface="Arial"/>
                <a:ea typeface="Arial"/>
                <a:cs typeface="Arial"/>
              </a:defRPr>
            </a:defPPr>
          </a:lstStyle>
          <a:p xmlns:a="http://schemas.openxmlformats.org/drawingml/2006/main">
            <a:pPr>
              <a:defRPr sz="1875" b="1">
                <a:solidFill>
                  <a:srgbClr val="157A80"/>
                </a:solidFill>
                <a:latin typeface="Arial"/>
                <a:ea typeface="Arial"/>
                <a:cs typeface="Arial"/>
              </a:defRPr>
            </a:pPr>
            <a:r>
              <a:rPr sz="1875" b="1">
                <a:solidFill>
                  <a:srgbClr val="157A80"/>
                </a:solidFill>
                <a:latin typeface="Arial"/>
                <a:ea typeface="Arial"/>
                <a:cs typeface="Arial"/>
              </a:rPr>
              <a:t>Completion status: [Confirm 100% implementation and integration]</a:t>
            </a:r>
          </a:p>
        </p:txBody>
      </p:sp>
    </p:spTree>
    <p:extLst>
      <p:ext uri="{BB962C8B-B14F-4D97-AF65-F5344CB8AC3E}">
        <p14:creationId xmlns:p14="http://schemas.microsoft.com/office/powerpoint/2010/main" val="3195337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F767BA-4106-4171-9518-41AD7DFE9F51}"/>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DATASET ACROSS UNITS 1 TO 3</a:t>
            </a:r>
          </a:p>
        </p:txBody>
      </p:sp>
      <p:sp>
        <p:nvSpPr>
          <p:cNvPr id="2" name="">
            <a:extLst xmlns:a="http://schemas.openxmlformats.org/drawingml/2006/main">
              <a:ext uri="{FF2B5EF4-FFF2-40B4-BE49-F238E27FC236}">
                <a16:creationId xmlns:a16="http://schemas.microsoft.com/office/drawing/2014/main" id="{2B57D2C8-8458-4A56-A48E-EEAA5E1BA661}"/>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Overall dataset description</a:t>
            </a:r>
          </a:p>
        </p:txBody>
      </p:sp>
      <p:sp>
        <p:nvSpPr>
          <p:cNvPr id="3" name="">
            <a:extLst xmlns:a="http://schemas.openxmlformats.org/drawingml/2006/main">
              <a:ext uri="{FF2B5EF4-FFF2-40B4-BE49-F238E27FC236}">
                <a16:creationId xmlns:a16="http://schemas.microsoft.com/office/drawing/2014/main" id="{5A624CB5-E55B-4AC3-B472-A4236143CFAE}"/>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B15A6C50-D58A-4A10-9E5B-B82BE80095FC}"/>
              </a:ext>
            </a:extLst>
          </p:cNvPr>
          <p:cNvSpPr>
            <a:spLocks xmlns:a="http://schemas.openxmlformats.org/drawingml/2006/main" noGrp="1"/>
          </p:cNvSpPr>
          <p:nvPr/>
        </p:nvSpPr>
        <p:spPr>
          <a:xfrm xmlns:a="http://schemas.openxmlformats.org/drawingml/2006/main">
            <a:off x="685800" y="20193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Source and collection / generation method: [Details]</a:t>
            </a:r>
          </a:p>
        </p:txBody>
      </p:sp>
      <p:sp>
        <p:nvSpPr>
          <p:cNvPr id="5" name="">
            <a:extLst xmlns:a="http://schemas.openxmlformats.org/drawingml/2006/main">
              <a:ext uri="{FF2B5EF4-FFF2-40B4-BE49-F238E27FC236}">
                <a16:creationId xmlns:a16="http://schemas.microsoft.com/office/drawing/2014/main" id="{AFE523C5-8491-4051-A64A-64EB0356E702}"/>
              </a:ext>
            </a:extLst>
          </p:cNvPr>
          <p:cNvSpPr>
            <a:spLocks xmlns:a="http://schemas.openxmlformats.org/drawingml/2006/main" noGrp="1"/>
          </p:cNvSpPr>
          <p:nvPr/>
        </p:nvSpPr>
        <p:spPr>
          <a:xfrm xmlns:a="http://schemas.openxmlformats.org/drawingml/2006/main">
            <a:off x="685800" y="2838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Final dataset size: [Records] and [Variables]</a:t>
            </a:r>
          </a:p>
        </p:txBody>
      </p:sp>
      <p:sp>
        <p:nvSpPr>
          <p:cNvPr id="6" name="">
            <a:extLst xmlns:a="http://schemas.openxmlformats.org/drawingml/2006/main">
              <a:ext uri="{FF2B5EF4-FFF2-40B4-BE49-F238E27FC236}">
                <a16:creationId xmlns:a16="http://schemas.microsoft.com/office/drawing/2014/main" id="{D7FAD4CC-294E-4C56-92E4-46386B9BF60D}"/>
              </a:ext>
            </a:extLst>
          </p:cNvPr>
          <p:cNvSpPr>
            <a:spLocks xmlns:a="http://schemas.openxmlformats.org/drawingml/2006/main" noGrp="1"/>
          </p:cNvSpPr>
          <p:nvPr/>
        </p:nvSpPr>
        <p:spPr>
          <a:xfrm xmlns:a="http://schemas.openxmlformats.org/drawingml/2006/main">
            <a:off x="685800" y="36576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Coverage: [Dates, population, location or domain]</a:t>
            </a:r>
          </a:p>
        </p:txBody>
      </p:sp>
      <p:sp>
        <p:nvSpPr>
          <p:cNvPr id="7" name="">
            <a:extLst xmlns:a="http://schemas.openxmlformats.org/drawingml/2006/main">
              <a:ext uri="{FF2B5EF4-FFF2-40B4-BE49-F238E27FC236}">
                <a16:creationId xmlns:a16="http://schemas.microsoft.com/office/drawing/2014/main" id="{8BBB0E34-8821-4A79-AD8A-1D9A400F831C}"/>
              </a:ext>
            </a:extLst>
          </p:cNvPr>
          <p:cNvSpPr>
            <a:spLocks xmlns:a="http://schemas.openxmlformats.org/drawingml/2006/main" noGrp="1"/>
          </p:cNvSpPr>
          <p:nvPr/>
        </p:nvSpPr>
        <p:spPr>
          <a:xfrm xmlns:a="http://schemas.openxmlformats.org/drawingml/2006/main">
            <a:off x="685800" y="44767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Unit mapping: [Variables / linked data used by each unit]</a:t>
            </a:r>
          </a:p>
        </p:txBody>
      </p:sp>
    </p:spTree>
    <p:extLst>
      <p:ext uri="{BB962C8B-B14F-4D97-AF65-F5344CB8AC3E}">
        <p14:creationId xmlns:p14="http://schemas.microsoft.com/office/powerpoint/2010/main" val="13779009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36271E-B87B-40A7-B145-EFA4C3557C35}"/>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FINAL PROJECT DATA</a:t>
            </a:r>
          </a:p>
        </p:txBody>
      </p:sp>
      <p:sp>
        <p:nvSpPr>
          <p:cNvPr id="2" name="">
            <a:extLst xmlns:a="http://schemas.openxmlformats.org/drawingml/2006/main">
              <a:ext uri="{FF2B5EF4-FFF2-40B4-BE49-F238E27FC236}">
                <a16:creationId xmlns:a16="http://schemas.microsoft.com/office/drawing/2014/main" id="{B25BE530-386D-40FD-AF96-351BB2335BF4}"/>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Sample dataset and key variables</a:t>
            </a:r>
          </a:p>
        </p:txBody>
      </p:sp>
      <p:sp>
        <p:nvSpPr>
          <p:cNvPr id="3" name="">
            <a:extLst xmlns:a="http://schemas.openxmlformats.org/drawingml/2006/main">
              <a:ext uri="{FF2B5EF4-FFF2-40B4-BE49-F238E27FC236}">
                <a16:creationId xmlns:a16="http://schemas.microsoft.com/office/drawing/2014/main" id="{C33460FC-E867-4CD3-BCE0-2261783CA6CE}"/>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5BB7FB6C-F550-44F2-8608-EFA2F74D0F59}"/>
              </a:ext>
            </a:extLst>
          </p:cNvPr>
          <p:cNvGraphicFramePr/>
          <p:nvPr/>
        </p:nvGraphicFramePr>
        <p:xfrm>
          <a:off xmlns:a="http://schemas.openxmlformats.org/drawingml/2006/main" x="609600" y="2047875"/>
          <a:ext xmlns:a="http://schemas.openxmlformats.org/drawingml/2006/main" cx="10972800" cy="2571750"/>
        </p:xfrm>
        <a:graphic xmlns:a="http://schemas.openxmlformats.org/drawingml/2006/main">
          <a:graphicData uri="http://schemas.openxmlformats.org/drawingml/2006/table">
            <a:tbl>
              <a:tblPr/>
              <a:tblGrid>
                <a:gridCol w="2743200"/>
                <a:gridCol w="2743200"/>
                <a:gridCol w="2743200"/>
                <a:gridCol w="2743200"/>
              </a:tblGrid>
              <a:tr h="642938">
                <a:tc>
                  <a:txBody>
                    <a:bodyPr/>
                    <a:lstStyle/>
                    <a:p>
                      <a:r>
                        <a:rPr sz="1650" b="1">
                          <a:solidFill>
                            <a:srgbClr val="FFFFFF"/>
                          </a:solidFill>
                          <a:latin typeface="Arial"/>
                          <a:ea typeface="Arial"/>
                          <a:cs typeface="Arial"/>
                        </a:rPr>
                        <a:t>[Variable 1]</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[Variable 2]</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[Variable 3]</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[Target / outcome]</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642938">
                <a:tc>
                  <a:txBody>
                    <a:bodyPr/>
                    <a:lstStyle/>
                    <a:p>
                      <a:r>
                        <a:rPr sz="1650" b="0">
                          <a:solidFill>
                            <a:srgbClr val="233247"/>
                          </a:solidFill>
                          <a:latin typeface="Arial"/>
                          <a:ea typeface="Arial"/>
                          <a:cs typeface="Arial"/>
                        </a:rPr>
                        <a:t>[Actual row 1]</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[Value]</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[Value]</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[Value]</a:t>
                      </a:r>
                    </a:p>
                  </a:txBody>
                  <a:tcPr marL="91440" marR="91440" marT="45720" marB="45720">
                    <a:lnR w="9525">
                      <a:solidFill>
                        <a:srgbClr val="CDD7DF"/>
                      </a:solidFill>
                      <a:prstDash val="solid"/>
                    </a:lnR>
                    <a:lnB w="9525">
                      <a:solidFill>
                        <a:srgbClr val="CDD7DF"/>
                      </a:solidFill>
                      <a:prstDash val="solid"/>
                    </a:lnB>
                    <a:solidFill>
                      <a:srgbClr val="F0F5F7"/>
                    </a:solidFill>
                  </a:tcPr>
                </a:tc>
              </a:tr>
              <a:tr h="642938">
                <a:tc>
                  <a:txBody>
                    <a:bodyPr/>
                    <a:lstStyle/>
                    <a:p>
                      <a:r>
                        <a:rPr sz="1650" b="0">
                          <a:solidFill>
                            <a:srgbClr val="233247"/>
                          </a:solidFill>
                          <a:latin typeface="Arial"/>
                          <a:ea typeface="Arial"/>
                          <a:cs typeface="Arial"/>
                        </a:rPr>
                        <a:t>[Actual row 2]</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[Value]</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[Value]</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[Value]</a:t>
                      </a:r>
                    </a:p>
                  </a:txBody>
                  <a:tcPr marL="91440" marR="91440" marT="45720" marB="45720">
                    <a:lnR w="9525">
                      <a:solidFill>
                        <a:srgbClr val="CDD7DF"/>
                      </a:solidFill>
                      <a:prstDash val="solid"/>
                    </a:lnR>
                    <a:lnB w="9525">
                      <a:solidFill>
                        <a:srgbClr val="CDD7DF"/>
                      </a:solidFill>
                      <a:prstDash val="solid"/>
                    </a:lnB>
                    <a:solidFill>
                      <a:srgbClr val="FFFFFF"/>
                    </a:solidFill>
                  </a:tcPr>
                </a:tc>
              </a:tr>
              <a:tr h="642938">
                <a:tc>
                  <a:txBody>
                    <a:bodyPr/>
                    <a:lstStyle/>
                    <a:p>
                      <a:r>
                        <a:rPr sz="1650" b="0">
                          <a:solidFill>
                            <a:srgbClr val="233247"/>
                          </a:solidFill>
                          <a:latin typeface="Arial"/>
                          <a:ea typeface="Arial"/>
                          <a:cs typeface="Arial"/>
                        </a:rPr>
                        <a:t>[Actual row 3]</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[Value]</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[Value]</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[Value]</a:t>
                      </a:r>
                    </a:p>
                  </a:txBody>
                  <a:tcPr marL="91440" marR="91440" marT="45720" marB="45720">
                    <a:lnR w="9525">
                      <a:solidFill>
                        <a:srgbClr val="CDD7DF"/>
                      </a:solidFill>
                      <a:prstDash val="solid"/>
                    </a:lnR>
                    <a:lnB w="9525">
                      <a:solidFill>
                        <a:srgbClr val="CDD7DF"/>
                      </a:solidFill>
                      <a:prstDash val="solid"/>
                    </a:lnB>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E0B9EDCC-2CBB-4C64-AF5F-48DEDA996D9B}"/>
              </a:ext>
            </a:extLst>
          </p:cNvPr>
          <p:cNvSpPr>
            <a:spLocks xmlns:a="http://schemas.openxmlformats.org/drawingml/2006/main" noGrp="1"/>
          </p:cNvSpPr>
          <p:nvPr/>
        </p:nvSpPr>
        <p:spPr>
          <a:xfrm xmlns:a="http://schemas.openxmlformats.org/drawingml/2006/main">
            <a:off x="685800" y="50482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233247"/>
                </a:solidFill>
                <a:latin typeface="Arial"/>
                <a:ea typeface="Arial"/>
                <a:cs typeface="Arial"/>
              </a:defRPr>
            </a:defPPr>
          </a:lstStyle>
          <a:p xmlns:a="http://schemas.openxmlformats.org/drawingml/2006/main">
            <a:pPr>
              <a:defRPr sz="1950" b="0">
                <a:solidFill>
                  <a:srgbClr val="233247"/>
                </a:solidFill>
                <a:latin typeface="Arial"/>
                <a:ea typeface="Arial"/>
                <a:cs typeface="Arial"/>
              </a:defRPr>
            </a:pPr>
            <a:r>
              <a:rPr sz="1950" b="0">
                <a:solidFill>
                  <a:srgbClr val="233247"/>
                </a:solidFill>
                <a:latin typeface="Arial"/>
                <a:ea typeface="Arial"/>
                <a:cs typeface="Arial"/>
              </a:rPr>
              <a:t>Key variables: [Meaning, data types and units]</a:t>
            </a:r>
          </a:p>
        </p:txBody>
      </p:sp>
      <p:sp>
        <p:nvSpPr>
          <p:cNvPr id="6" name="">
            <a:extLst xmlns:a="http://schemas.openxmlformats.org/drawingml/2006/main">
              <a:ext uri="{FF2B5EF4-FFF2-40B4-BE49-F238E27FC236}">
                <a16:creationId xmlns:a16="http://schemas.microsoft.com/office/drawing/2014/main" id="{AF628CDC-22BC-40DC-8AC3-B989D8B9467C}"/>
              </a:ext>
            </a:extLst>
          </p:cNvPr>
          <p:cNvSpPr>
            <a:spLocks xmlns:a="http://schemas.openxmlformats.org/drawingml/2006/main" noGrp="1"/>
          </p:cNvSpPr>
          <p:nvPr/>
        </p:nvSpPr>
        <p:spPr>
          <a:xfrm xmlns:a="http://schemas.openxmlformats.org/drawingml/2006/main">
            <a:off x="685800" y="5762625"/>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233247"/>
                </a:solidFill>
                <a:latin typeface="Arial"/>
                <a:ea typeface="Arial"/>
                <a:cs typeface="Arial"/>
              </a:defRPr>
            </a:defPPr>
          </a:lstStyle>
          <a:p xmlns:a="http://schemas.openxmlformats.org/drawingml/2006/main">
            <a:pPr>
              <a:defRPr sz="1725" b="0">
                <a:solidFill>
                  <a:srgbClr val="233247"/>
                </a:solidFill>
                <a:latin typeface="Arial"/>
                <a:ea typeface="Arial"/>
                <a:cs typeface="Arial"/>
              </a:defRPr>
            </a:pPr>
            <a:r>
              <a:rPr sz="1725" b="0">
                <a:solidFill>
                  <a:srgbClr val="233247"/>
                </a:solidFill>
                <a:latin typeface="Arial"/>
                <a:ea typeface="Arial"/>
                <a:cs typeface="Arial"/>
              </a:rPr>
              <a:t>[Explain linked datasets or method-specific subsets, if used]</a:t>
            </a:r>
          </a:p>
        </p:txBody>
      </p:sp>
    </p:spTree>
    <p:extLst>
      <p:ext uri="{BB962C8B-B14F-4D97-AF65-F5344CB8AC3E}">
        <p14:creationId xmlns:p14="http://schemas.microsoft.com/office/powerpoint/2010/main" val="7425259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BE5F2A-720E-4573-878E-C101B5918DDE}"/>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OVERALL VALIDATION FOR UNITS 1 TO 3</a:t>
            </a:r>
          </a:p>
        </p:txBody>
      </p:sp>
      <p:sp>
        <p:nvSpPr>
          <p:cNvPr id="2" name="">
            <a:extLst xmlns:a="http://schemas.openxmlformats.org/drawingml/2006/main">
              <a:ext uri="{FF2B5EF4-FFF2-40B4-BE49-F238E27FC236}">
                <a16:creationId xmlns:a16="http://schemas.microsoft.com/office/drawing/2014/main" id="{43A84140-130B-46E5-9F90-51059CE2CD97}"/>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Dataset validation and preparation</a:t>
            </a:r>
          </a:p>
        </p:txBody>
      </p:sp>
      <p:sp>
        <p:nvSpPr>
          <p:cNvPr id="3" name="">
            <a:extLst xmlns:a="http://schemas.openxmlformats.org/drawingml/2006/main">
              <a:ext uri="{FF2B5EF4-FFF2-40B4-BE49-F238E27FC236}">
                <a16:creationId xmlns:a16="http://schemas.microsoft.com/office/drawing/2014/main" id="{795FDD72-885C-4289-AFCE-70C8027D4E33}"/>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B037A3E9-91B6-48BF-AF9D-CCCB5E4C264B}"/>
              </a:ext>
            </a:extLst>
          </p:cNvPr>
          <p:cNvGraphicFramePr/>
          <p:nvPr/>
        </p:nvGraphicFramePr>
        <p:xfrm>
          <a:off xmlns:a="http://schemas.openxmlformats.org/drawingml/2006/main" x="609600" y="1952625"/>
          <a:ext xmlns:a="http://schemas.openxmlformats.org/drawingml/2006/main" cx="10972800" cy="3238500"/>
        </p:xfrm>
        <a:graphic xmlns:a="http://schemas.openxmlformats.org/drawingml/2006/main">
          <a:graphicData uri="http://schemas.openxmlformats.org/drawingml/2006/table">
            <a:tbl>
              <a:tblPr/>
              <a:tblGrid>
                <a:gridCol w="3143250"/>
                <a:gridCol w="3143250"/>
                <a:gridCol w="4686300"/>
              </a:tblGrid>
              <a:tr h="647700">
                <a:tc>
                  <a:txBody>
                    <a:bodyPr/>
                    <a:lstStyle/>
                    <a:p>
                      <a:r>
                        <a:rPr sz="1650" b="1">
                          <a:solidFill>
                            <a:srgbClr val="FFFFFF"/>
                          </a:solidFill>
                          <a:latin typeface="Arial"/>
                          <a:ea typeface="Arial"/>
                          <a:cs typeface="Arial"/>
                        </a:rPr>
                        <a:t>Check</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Finding</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Correction / evidence</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647700">
                <a:tc>
                  <a:txBody>
                    <a:bodyPr/>
                    <a:lstStyle/>
                    <a:p>
                      <a:r>
                        <a:rPr sz="1650" b="0">
                          <a:solidFill>
                            <a:srgbClr val="233247"/>
                          </a:solidFill>
                          <a:latin typeface="Arial"/>
                          <a:ea typeface="Arial"/>
                          <a:cs typeface="Arial"/>
                        </a:rPr>
                        <a:t>Missing values and duplicates</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[Counts]</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[Action and final count]</a:t>
                      </a:r>
                    </a:p>
                  </a:txBody>
                  <a:tcPr marL="91440" marR="91440" marT="45720" marB="45720">
                    <a:lnR w="9525">
                      <a:solidFill>
                        <a:srgbClr val="CDD7DF"/>
                      </a:solidFill>
                      <a:prstDash val="solid"/>
                    </a:lnR>
                    <a:lnB w="9525">
                      <a:solidFill>
                        <a:srgbClr val="CDD7DF"/>
                      </a:solidFill>
                      <a:prstDash val="solid"/>
                    </a:lnB>
                    <a:solidFill>
                      <a:srgbClr val="F0F5F7"/>
                    </a:solidFill>
                  </a:tcPr>
                </a:tc>
              </a:tr>
              <a:tr h="647700">
                <a:tc>
                  <a:txBody>
                    <a:bodyPr/>
                    <a:lstStyle/>
                    <a:p>
                      <a:r>
                        <a:rPr sz="1650" b="0">
                          <a:solidFill>
                            <a:srgbClr val="233247"/>
                          </a:solidFill>
                          <a:latin typeface="Arial"/>
                          <a:ea typeface="Arial"/>
                          <a:cs typeface="Arial"/>
                        </a:rPr>
                        <a:t>Types, ranges and consistency</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[Issues found]</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[Correction / source check]</a:t>
                      </a:r>
                    </a:p>
                  </a:txBody>
                  <a:tcPr marL="91440" marR="91440" marT="45720" marB="45720">
                    <a:lnR w="9525">
                      <a:solidFill>
                        <a:srgbClr val="CDD7DF"/>
                      </a:solidFill>
                      <a:prstDash val="solid"/>
                    </a:lnR>
                    <a:lnB w="9525">
                      <a:solidFill>
                        <a:srgbClr val="CDD7DF"/>
                      </a:solidFill>
                      <a:prstDash val="solid"/>
                    </a:lnB>
                    <a:solidFill>
                      <a:srgbClr val="FFFFFF"/>
                    </a:solidFill>
                  </a:tcPr>
                </a:tc>
              </a:tr>
              <a:tr h="647700">
                <a:tc>
                  <a:txBody>
                    <a:bodyPr/>
                    <a:lstStyle/>
                    <a:p>
                      <a:r>
                        <a:rPr sz="1650" b="0">
                          <a:solidFill>
                            <a:srgbClr val="233247"/>
                          </a:solidFill>
                          <a:latin typeface="Arial"/>
                          <a:ea typeface="Arial"/>
                          <a:cs typeface="Arial"/>
                        </a:rPr>
                        <a:t>Suitability across all units</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[Required fields and coverage]</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[Evidence for each analysis]</a:t>
                      </a:r>
                    </a:p>
                  </a:txBody>
                  <a:tcPr marL="91440" marR="91440" marT="45720" marB="45720">
                    <a:lnR w="9525">
                      <a:solidFill>
                        <a:srgbClr val="CDD7DF"/>
                      </a:solidFill>
                      <a:prstDash val="solid"/>
                    </a:lnR>
                    <a:lnB w="9525">
                      <a:solidFill>
                        <a:srgbClr val="CDD7DF"/>
                      </a:solidFill>
                      <a:prstDash val="solid"/>
                    </a:lnB>
                    <a:solidFill>
                      <a:srgbClr val="F0F5F7"/>
                    </a:solidFill>
                  </a:tcPr>
                </a:tc>
              </a:tr>
              <a:tr h="647700">
                <a:tc>
                  <a:txBody>
                    <a:bodyPr/>
                    <a:lstStyle/>
                    <a:p>
                      <a:r>
                        <a:rPr sz="1650" b="0">
                          <a:solidFill>
                            <a:srgbClr val="233247"/>
                          </a:solidFill>
                          <a:latin typeface="Arial"/>
                          <a:ea typeface="Arial"/>
                          <a:cs typeface="Arial"/>
                        </a:rPr>
                        <a:t>Synthetic data, if applicable</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[Rules and assumptions]</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[Realism checks / Not applicable]</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A3E419D-441D-4E1D-AEDE-31B45199FD91}"/>
              </a:ext>
            </a:extLst>
          </p:cNvPr>
          <p:cNvSpPr>
            <a:spLocks xmlns:a="http://schemas.openxmlformats.org/drawingml/2006/main" noGrp="1"/>
          </p:cNvSpPr>
          <p:nvPr/>
        </p:nvSpPr>
        <p:spPr>
          <a:xfrm xmlns:a="http://schemas.openxmlformats.org/drawingml/2006/main">
            <a:off x="685800" y="5619750"/>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57A80"/>
                </a:solidFill>
                <a:latin typeface="Arial"/>
                <a:ea typeface="Arial"/>
                <a:cs typeface="Arial"/>
              </a:defRPr>
            </a:defPPr>
          </a:lstStyle>
          <a:p xmlns:a="http://schemas.openxmlformats.org/drawingml/2006/main">
            <a:pPr>
              <a:defRPr sz="1875" b="1">
                <a:solidFill>
                  <a:srgbClr val="157A80"/>
                </a:solidFill>
                <a:latin typeface="Arial"/>
                <a:ea typeface="Arial"/>
                <a:cs typeface="Arial"/>
              </a:defRPr>
            </a:pPr>
            <a:r>
              <a:rPr sz="1875" b="1">
                <a:solidFill>
                  <a:srgbClr val="157A80"/>
                </a:solidFill>
                <a:latin typeface="Arial"/>
                <a:ea typeface="Arial"/>
                <a:cs typeface="Arial"/>
              </a:rPr>
              <a:t>Final validated dataset: [Records retained and version / filename]</a:t>
            </a:r>
          </a:p>
        </p:txBody>
      </p:sp>
    </p:spTree>
    <p:extLst>
      <p:ext uri="{BB962C8B-B14F-4D97-AF65-F5344CB8AC3E}">
        <p14:creationId xmlns:p14="http://schemas.microsoft.com/office/powerpoint/2010/main" val="5814248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CE5281-5814-4291-B8DE-FB11715A86D4}"/>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1</a:t>
            </a:r>
          </a:p>
        </p:txBody>
      </p:sp>
      <p:sp>
        <p:nvSpPr>
          <p:cNvPr id="2" name="">
            <a:extLst xmlns:a="http://schemas.openxmlformats.org/drawingml/2006/main">
              <a:ext uri="{FF2B5EF4-FFF2-40B4-BE49-F238E27FC236}">
                <a16:creationId xmlns:a16="http://schemas.microsoft.com/office/drawing/2014/main" id="{F2D70B92-C245-446F-A6B2-954E4F469C2A}"/>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Exploratory analysis and preprocessing</a:t>
            </a:r>
          </a:p>
        </p:txBody>
      </p:sp>
      <p:sp>
        <p:nvSpPr>
          <p:cNvPr id="3" name="">
            <a:extLst xmlns:a="http://schemas.openxmlformats.org/drawingml/2006/main">
              <a:ext uri="{FF2B5EF4-FFF2-40B4-BE49-F238E27FC236}">
                <a16:creationId xmlns:a16="http://schemas.microsoft.com/office/drawing/2014/main" id="{8A76EF40-5FAD-4E83-9187-5FE9CC845698}"/>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4149DDBC-39BF-41E1-B551-F5CECC85BF99}"/>
              </a:ext>
            </a:extLst>
          </p:cNvPr>
          <p:cNvSpPr>
            <a:spLocks xmlns:a="http://schemas.openxmlformats.org/drawingml/2006/main" noGrp="1"/>
          </p:cNvSpPr>
          <p:nvPr/>
        </p:nvSpPr>
        <p:spPr>
          <a:xfrm xmlns:a="http://schemas.openxmlformats.org/drawingml/2006/main">
            <a:off x="685800" y="2095500"/>
            <a:ext cx="10477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66758A"/>
                </a:solidFill>
                <a:latin typeface="Arial"/>
                <a:ea typeface="Arial"/>
                <a:cs typeface="Arial"/>
              </a:defRPr>
            </a:defPPr>
          </a:lstStyle>
          <a:p xmlns:a="http://schemas.openxmlformats.org/drawingml/2006/main">
            <a:pPr>
              <a:defRPr sz="2400" b="0">
                <a:solidFill>
                  <a:srgbClr val="66758A"/>
                </a:solidFill>
                <a:latin typeface="Arial"/>
                <a:ea typeface="Arial"/>
                <a:cs typeface="Arial"/>
              </a:defRPr>
            </a:pPr>
            <a:r>
              <a:rPr sz="2400" b="0">
                <a:solidFill>
                  <a:srgbClr val="66758A"/>
                </a:solidFill>
                <a:latin typeface="Arial"/>
                <a:ea typeface="Arial"/>
                <a:cs typeface="Arial"/>
              </a:rPr>
              <a:t>[Insert two readable final-data charts with labels and units]</a:t>
            </a:r>
          </a:p>
        </p:txBody>
      </p:sp>
      <p:sp>
        <p:nvSpPr>
          <p:cNvPr id="5" name="">
            <a:extLst xmlns:a="http://schemas.openxmlformats.org/drawingml/2006/main">
              <a:ext uri="{FF2B5EF4-FFF2-40B4-BE49-F238E27FC236}">
                <a16:creationId xmlns:a16="http://schemas.microsoft.com/office/drawing/2014/main" id="{B775F0BD-DAEF-4688-97F4-0C8CC4593B56}"/>
              </a:ext>
            </a:extLst>
          </p:cNvPr>
          <p:cNvSpPr>
            <a:spLocks xmlns:a="http://schemas.openxmlformats.org/drawingml/2006/main" noGrp="1"/>
          </p:cNvSpPr>
          <p:nvPr/>
        </p:nvSpPr>
        <p:spPr>
          <a:xfrm xmlns:a="http://schemas.openxmlformats.org/drawingml/2006/main">
            <a:off x="685800" y="40005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Key findings: [Two patterns relevant to the objectives]</a:t>
            </a:r>
          </a:p>
        </p:txBody>
      </p:sp>
      <p:sp>
        <p:nvSpPr>
          <p:cNvPr id="6" name="">
            <a:extLst xmlns:a="http://schemas.openxmlformats.org/drawingml/2006/main">
              <a:ext uri="{FF2B5EF4-FFF2-40B4-BE49-F238E27FC236}">
                <a16:creationId xmlns:a16="http://schemas.microsoft.com/office/drawing/2014/main" id="{CD68E0AF-687D-43C3-AA48-711AD2792F7A}"/>
              </a:ext>
            </a:extLst>
          </p:cNvPr>
          <p:cNvSpPr>
            <a:spLocks xmlns:a="http://schemas.openxmlformats.org/drawingml/2006/main" noGrp="1"/>
          </p:cNvSpPr>
          <p:nvPr/>
        </p:nvSpPr>
        <p:spPr>
          <a:xfrm xmlns:a="http://schemas.openxmlformats.org/drawingml/2006/main">
            <a:off x="685800" y="48196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Preparation: [Cleaning, encoding, scaling or feature selection]</a:t>
            </a:r>
          </a:p>
        </p:txBody>
      </p:sp>
    </p:spTree>
    <p:extLst>
      <p:ext uri="{BB962C8B-B14F-4D97-AF65-F5344CB8AC3E}">
        <p14:creationId xmlns:p14="http://schemas.microsoft.com/office/powerpoint/2010/main" val="2028986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D34040-A608-4A4D-9436-08E9A32AB30D}"/>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2</a:t>
            </a:r>
          </a:p>
        </p:txBody>
      </p:sp>
      <p:sp>
        <p:nvSpPr>
          <p:cNvPr id="2" name="">
            <a:extLst xmlns:a="http://schemas.openxmlformats.org/drawingml/2006/main">
              <a:ext uri="{FF2B5EF4-FFF2-40B4-BE49-F238E27FC236}">
                <a16:creationId xmlns:a16="http://schemas.microsoft.com/office/drawing/2014/main" id="{897D50C3-2951-437D-9286-819C0AD2206D}"/>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Predictive modelling and final evaluation</a:t>
            </a:r>
          </a:p>
        </p:txBody>
      </p:sp>
      <p:sp>
        <p:nvSpPr>
          <p:cNvPr id="3" name="">
            <a:extLst xmlns:a="http://schemas.openxmlformats.org/drawingml/2006/main">
              <a:ext uri="{FF2B5EF4-FFF2-40B4-BE49-F238E27FC236}">
                <a16:creationId xmlns:a16="http://schemas.microsoft.com/office/drawing/2014/main" id="{0D4E2AA2-04B0-4D08-98E4-3A8D9DD5E6B7}"/>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EB38B4C9-2252-4576-AC7F-097E251FCA5B}"/>
              </a:ext>
            </a:extLst>
          </p:cNvPr>
          <p:cNvGraphicFramePr/>
          <p:nvPr/>
        </p:nvGraphicFramePr>
        <p:xfrm>
          <a:off xmlns:a="http://schemas.openxmlformats.org/drawingml/2006/main" x="609600" y="2047875"/>
          <a:ext xmlns:a="http://schemas.openxmlformats.org/drawingml/2006/main" cx="10972800" cy="2095500"/>
        </p:xfrm>
        <a:graphic xmlns:a="http://schemas.openxmlformats.org/drawingml/2006/main">
          <a:graphicData uri="http://schemas.openxmlformats.org/drawingml/2006/table">
            <a:tbl>
              <a:tblPr/>
              <a:tblGrid>
                <a:gridCol w="3429000"/>
                <a:gridCol w="2514600"/>
                <a:gridCol w="2514600"/>
                <a:gridCol w="2514600"/>
              </a:tblGrid>
              <a:tr h="698500">
                <a:tc>
                  <a:txBody>
                    <a:bodyPr/>
                    <a:lstStyle/>
                    <a:p>
                      <a:r>
                        <a:rPr sz="1650" b="1">
                          <a:solidFill>
                            <a:srgbClr val="FFFFFF"/>
                          </a:solidFill>
                          <a:latin typeface="Arial"/>
                          <a:ea typeface="Arial"/>
                          <a:cs typeface="Arial"/>
                        </a:rPr>
                        <a:t>Model</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1]</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2]</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3]</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698500">
                <a:tc>
                  <a:txBody>
                    <a:bodyPr/>
                    <a:lstStyle/>
                    <a:p>
                      <a:r>
                        <a:rPr sz="1650" b="0">
                          <a:solidFill>
                            <a:srgbClr val="233247"/>
                          </a:solidFill>
                          <a:latin typeface="Arial"/>
                          <a:ea typeface="Arial"/>
                          <a:cs typeface="Arial"/>
                        </a:rPr>
                        <a:t>[Baseline / Model A]</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[Result]</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[Result]</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[Result]</a:t>
                      </a:r>
                    </a:p>
                  </a:txBody>
                  <a:tcPr marL="91440" marR="91440" marT="45720" marB="45720">
                    <a:lnR w="9525">
                      <a:solidFill>
                        <a:srgbClr val="CDD7DF"/>
                      </a:solidFill>
                      <a:prstDash val="solid"/>
                    </a:lnR>
                    <a:lnB w="9525">
                      <a:solidFill>
                        <a:srgbClr val="CDD7DF"/>
                      </a:solidFill>
                      <a:prstDash val="solid"/>
                    </a:lnB>
                    <a:solidFill>
                      <a:srgbClr val="F0F5F7"/>
                    </a:solidFill>
                  </a:tcPr>
                </a:tc>
              </a:tr>
              <a:tr h="698500">
                <a:tc>
                  <a:txBody>
                    <a:bodyPr/>
                    <a:lstStyle/>
                    <a:p>
                      <a:r>
                        <a:rPr sz="1650" b="0">
                          <a:solidFill>
                            <a:srgbClr val="233247"/>
                          </a:solidFill>
                          <a:latin typeface="Arial"/>
                          <a:ea typeface="Arial"/>
                          <a:cs typeface="Arial"/>
                        </a:rPr>
                        <a:t>[Model B]</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[Result]</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[Result]</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[Result]</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FDA00C4-C299-46D2-926D-D007DABEEB54}"/>
              </a:ext>
            </a:extLst>
          </p:cNvPr>
          <p:cNvSpPr>
            <a:spLocks xmlns:a="http://schemas.openxmlformats.org/drawingml/2006/main" noGrp="1"/>
          </p:cNvSpPr>
          <p:nvPr/>
        </p:nvSpPr>
        <p:spPr>
          <a:xfrm xmlns:a="http://schemas.openxmlformats.org/drawingml/2006/main">
            <a:off x="685800" y="4476750"/>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875" b="0">
                <a:solidFill>
                  <a:srgbClr val="233247"/>
                </a:solidFill>
                <a:latin typeface="Arial"/>
                <a:ea typeface="Arial"/>
                <a:cs typeface="Arial"/>
              </a:rPr>
              <a:t>Evaluation setup: [Target, inputs, split and test record count]</a:t>
            </a:r>
          </a:p>
        </p:txBody>
      </p:sp>
      <p:sp>
        <p:nvSpPr>
          <p:cNvPr id="6" name="">
            <a:extLst xmlns:a="http://schemas.openxmlformats.org/drawingml/2006/main">
              <a:ext uri="{FF2B5EF4-FFF2-40B4-BE49-F238E27FC236}">
                <a16:creationId xmlns:a16="http://schemas.microsoft.com/office/drawing/2014/main" id="{C2AB3FF8-F154-49D7-A7C7-108D021980FD}"/>
              </a:ext>
            </a:extLst>
          </p:cNvPr>
          <p:cNvSpPr>
            <a:spLocks xmlns:a="http://schemas.openxmlformats.org/drawingml/2006/main" noGrp="1"/>
          </p:cNvSpPr>
          <p:nvPr/>
        </p:nvSpPr>
        <p:spPr>
          <a:xfrm xmlns:a="http://schemas.openxmlformats.org/drawingml/2006/main">
            <a:off x="685800" y="5286375"/>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875" b="0">
                <a:solidFill>
                  <a:srgbClr val="233247"/>
                </a:solidFill>
                <a:latin typeface="Arial"/>
                <a:ea typeface="Arial"/>
                <a:cs typeface="Arial"/>
              </a:rPr>
              <a:t>Selected model and interpretation: [Choice, evidence and limitation]</a:t>
            </a:r>
          </a:p>
        </p:txBody>
      </p:sp>
    </p:spTree>
    <p:extLst>
      <p:ext uri="{BB962C8B-B14F-4D97-AF65-F5344CB8AC3E}">
        <p14:creationId xmlns:p14="http://schemas.microsoft.com/office/powerpoint/2010/main" val="1190559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0A2372-5E66-42DE-8B53-9300E5035622}"/>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22EAF5FB-AC58-4E29-9EA6-A0EA2B8A645E}"/>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Selected advanced analytics methods</a:t>
            </a:r>
          </a:p>
        </p:txBody>
      </p:sp>
      <p:sp>
        <p:nvSpPr>
          <p:cNvPr id="3" name="">
            <a:extLst xmlns:a="http://schemas.openxmlformats.org/drawingml/2006/main">
              <a:ext uri="{FF2B5EF4-FFF2-40B4-BE49-F238E27FC236}">
                <a16:creationId xmlns:a16="http://schemas.microsoft.com/office/drawing/2014/main" id="{AF2A2B95-75AB-4A68-84B4-6C002BEFE498}"/>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36A543E7-13D8-4126-84D0-9539E1F5455E}"/>
              </a:ext>
            </a:extLst>
          </p:cNvPr>
          <p:cNvGraphicFramePr/>
          <p:nvPr/>
        </p:nvGraphicFramePr>
        <p:xfrm>
          <a:off xmlns:a="http://schemas.openxmlformats.org/drawingml/2006/main" x="609600" y="2238375"/>
          <a:ext xmlns:a="http://schemas.openxmlformats.org/drawingml/2006/main" cx="10972800" cy="2381250"/>
        </p:xfrm>
        <a:graphic xmlns:a="http://schemas.openxmlformats.org/drawingml/2006/main">
          <a:graphicData uri="http://schemas.openxmlformats.org/drawingml/2006/table">
            <a:tbl>
              <a:tblPr/>
              <a:tblGrid>
                <a:gridCol w="3238500"/>
                <a:gridCol w="4000500"/>
                <a:gridCol w="3733800"/>
              </a:tblGrid>
              <a:tr h="793750">
                <a:tc>
                  <a:txBody>
                    <a:bodyPr/>
                    <a:lstStyle/>
                    <a:p>
                      <a:r>
                        <a:rPr sz="1650" b="1">
                          <a:solidFill>
                            <a:srgbClr val="FFFFFF"/>
                          </a:solidFill>
                          <a:latin typeface="Arial"/>
                          <a:ea typeface="Arial"/>
                          <a:cs typeface="Arial"/>
                        </a:rPr>
                        <a:t>Selected method</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Business question</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Data used</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793750">
                <a:tc>
                  <a:txBody>
                    <a:bodyPr/>
                    <a:lstStyle/>
                    <a:p>
                      <a:r>
                        <a:rPr sz="1650" b="0">
                          <a:solidFill>
                            <a:srgbClr val="233247"/>
                          </a:solidFill>
                          <a:latin typeface="Arial"/>
                          <a:ea typeface="Arial"/>
                          <a:cs typeface="Arial"/>
                        </a:rPr>
                        <a:t>Method 1: [Name]</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[Question it answers]</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[Final-data fields / subset]</a:t>
                      </a:r>
                    </a:p>
                  </a:txBody>
                  <a:tcPr marL="91440" marR="91440" marT="45720" marB="45720">
                    <a:lnR w="9525">
                      <a:solidFill>
                        <a:srgbClr val="CDD7DF"/>
                      </a:solidFill>
                      <a:prstDash val="solid"/>
                    </a:lnR>
                    <a:lnB w="9525">
                      <a:solidFill>
                        <a:srgbClr val="CDD7DF"/>
                      </a:solidFill>
                      <a:prstDash val="solid"/>
                    </a:lnB>
                    <a:solidFill>
                      <a:srgbClr val="F0F5F7"/>
                    </a:solidFill>
                  </a:tcPr>
                </a:tc>
              </a:tr>
              <a:tr h="793750">
                <a:tc>
                  <a:txBody>
                    <a:bodyPr/>
                    <a:lstStyle/>
                    <a:p>
                      <a:r>
                        <a:rPr sz="1650" b="0">
                          <a:solidFill>
                            <a:srgbClr val="233247"/>
                          </a:solidFill>
                          <a:latin typeface="Arial"/>
                          <a:ea typeface="Arial"/>
                          <a:cs typeface="Arial"/>
                        </a:rPr>
                        <a:t>Method 2: [Name]</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[Question it answers]</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[Final-data fields / subset]</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36D661E-F7DF-42DC-BD9B-EDE438C1C04A}"/>
              </a:ext>
            </a:extLst>
          </p:cNvPr>
          <p:cNvSpPr>
            <a:spLocks xmlns:a="http://schemas.openxmlformats.org/drawingml/2006/main" noGrp="1"/>
          </p:cNvSpPr>
          <p:nvPr/>
        </p:nvSpPr>
        <p:spPr>
          <a:xfrm xmlns:a="http://schemas.openxmlformats.org/drawingml/2006/main">
            <a:off x="685800" y="5238750"/>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57A80"/>
                </a:solidFill>
                <a:latin typeface="Arial"/>
                <a:ea typeface="Arial"/>
                <a:cs typeface="Arial"/>
              </a:defRPr>
            </a:defPPr>
          </a:lstStyle>
          <a:p xmlns:a="http://schemas.openxmlformats.org/drawingml/2006/main">
            <a:pPr>
              <a:defRPr sz="1875" b="1">
                <a:solidFill>
                  <a:srgbClr val="157A80"/>
                </a:solidFill>
                <a:latin typeface="Arial"/>
                <a:ea typeface="Arial"/>
                <a:cs typeface="Arial"/>
              </a:defRPr>
            </a:pPr>
            <a:r>
              <a:rPr sz="1875" b="1">
                <a:solidFill>
                  <a:srgbClr val="157A80"/>
                </a:solidFill>
                <a:latin typeface="Arial"/>
                <a:ea typeface="Arial"/>
                <a:cs typeface="Arial"/>
              </a:rPr>
              <a:t>Select any two: Time-Series Analysis, Text Mining, Association Rule Mining</a:t>
            </a:r>
          </a:p>
        </p:txBody>
      </p:sp>
    </p:spTree>
    <p:extLst>
      <p:ext uri="{BB962C8B-B14F-4D97-AF65-F5344CB8AC3E}">
        <p14:creationId xmlns:p14="http://schemas.microsoft.com/office/powerpoint/2010/main" val="12370993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69BBDF-8FEE-4A35-9821-C8CF275E3863}"/>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FD2BBE01-1719-4C72-B8A4-45DC27F96536}"/>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Method 1 implementation</a:t>
            </a:r>
          </a:p>
        </p:txBody>
      </p:sp>
      <p:sp>
        <p:nvSpPr>
          <p:cNvPr id="3" name="">
            <a:extLst xmlns:a="http://schemas.openxmlformats.org/drawingml/2006/main">
              <a:ext uri="{FF2B5EF4-FFF2-40B4-BE49-F238E27FC236}">
                <a16:creationId xmlns:a16="http://schemas.microsoft.com/office/drawing/2014/main" id="{0FA7164B-B878-4DBD-809C-47ABFBDCAF5D}"/>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6B13C200-B169-49BC-BF61-D922B846709E}"/>
              </a:ext>
            </a:extLst>
          </p:cNvPr>
          <p:cNvSpPr>
            <a:spLocks xmlns:a="http://schemas.openxmlformats.org/drawingml/2006/main" noGrp="1"/>
          </p:cNvSpPr>
          <p:nvPr/>
        </p:nvSpPr>
        <p:spPr>
          <a:xfrm xmlns:a="http://schemas.openxmlformats.org/drawingml/2006/main">
            <a:off x="685800" y="20193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Selected method: [Method 1 name and purpose]</a:t>
            </a:r>
          </a:p>
        </p:txBody>
      </p:sp>
      <p:sp>
        <p:nvSpPr>
          <p:cNvPr id="5" name="">
            <a:extLst xmlns:a="http://schemas.openxmlformats.org/drawingml/2006/main">
              <a:ext uri="{FF2B5EF4-FFF2-40B4-BE49-F238E27FC236}">
                <a16:creationId xmlns:a16="http://schemas.microsoft.com/office/drawing/2014/main" id="{54E5F75A-D3D1-435A-BCBD-8F48202A6F65}"/>
              </a:ext>
            </a:extLst>
          </p:cNvPr>
          <p:cNvSpPr>
            <a:spLocks xmlns:a="http://schemas.openxmlformats.org/drawingml/2006/main" noGrp="1"/>
          </p:cNvSpPr>
          <p:nvPr/>
        </p:nvSpPr>
        <p:spPr>
          <a:xfrm xmlns:a="http://schemas.openxmlformats.org/drawingml/2006/main">
            <a:off x="685800" y="2838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Input and preparation: [Final-data subset and transformations]</a:t>
            </a:r>
          </a:p>
        </p:txBody>
      </p:sp>
      <p:sp>
        <p:nvSpPr>
          <p:cNvPr id="6" name="">
            <a:extLst xmlns:a="http://schemas.openxmlformats.org/drawingml/2006/main">
              <a:ext uri="{FF2B5EF4-FFF2-40B4-BE49-F238E27FC236}">
                <a16:creationId xmlns:a16="http://schemas.microsoft.com/office/drawing/2014/main" id="{4695D477-8E18-4ECE-A35E-8096C2E64517}"/>
              </a:ext>
            </a:extLst>
          </p:cNvPr>
          <p:cNvSpPr>
            <a:spLocks xmlns:a="http://schemas.openxmlformats.org/drawingml/2006/main" noGrp="1"/>
          </p:cNvSpPr>
          <p:nvPr/>
        </p:nvSpPr>
        <p:spPr>
          <a:xfrm xmlns:a="http://schemas.openxmlformats.org/drawingml/2006/main">
            <a:off x="685800" y="36576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Implementation: [Algorithm, parameters and tools]</a:t>
            </a:r>
          </a:p>
        </p:txBody>
      </p:sp>
      <p:sp>
        <p:nvSpPr>
          <p:cNvPr id="7" name="">
            <a:extLst xmlns:a="http://schemas.openxmlformats.org/drawingml/2006/main">
              <a:ext uri="{FF2B5EF4-FFF2-40B4-BE49-F238E27FC236}">
                <a16:creationId xmlns:a16="http://schemas.microsoft.com/office/drawing/2014/main" id="{CFE21DF4-4D18-4483-A88C-629FCF536B12}"/>
              </a:ext>
            </a:extLst>
          </p:cNvPr>
          <p:cNvSpPr>
            <a:spLocks xmlns:a="http://schemas.openxmlformats.org/drawingml/2006/main" noGrp="1"/>
          </p:cNvSpPr>
          <p:nvPr/>
        </p:nvSpPr>
        <p:spPr>
          <a:xfrm xmlns:a="http://schemas.openxmlformats.org/drawingml/2006/main">
            <a:off x="685800" y="44767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Output: [Actual forecast, text result or association rules]</a:t>
            </a:r>
          </a:p>
        </p:txBody>
      </p:sp>
    </p:spTree>
    <p:extLst>
      <p:ext uri="{BB962C8B-B14F-4D97-AF65-F5344CB8AC3E}">
        <p14:creationId xmlns:p14="http://schemas.microsoft.com/office/powerpoint/2010/main" val="680234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A0D3AE-4AF7-4CC4-8F37-1474DB9B9BA5}"/>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78BB2EEA-EA2C-4AF7-AF01-C4956469B876}"/>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Method 1 evaluation and comparison</a:t>
            </a:r>
          </a:p>
        </p:txBody>
      </p:sp>
      <p:sp>
        <p:nvSpPr>
          <p:cNvPr id="3" name="">
            <a:extLst xmlns:a="http://schemas.openxmlformats.org/drawingml/2006/main">
              <a:ext uri="{FF2B5EF4-FFF2-40B4-BE49-F238E27FC236}">
                <a16:creationId xmlns:a16="http://schemas.microsoft.com/office/drawing/2014/main" id="{8695F8C2-A08E-4AA5-A111-378AE00DBA0C}"/>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664F9693-7496-4F1A-816E-0D86D969D454}"/>
              </a:ext>
            </a:extLst>
          </p:cNvPr>
          <p:cNvGraphicFramePr/>
          <p:nvPr/>
        </p:nvGraphicFramePr>
        <p:xfrm>
          <a:off xmlns:a="http://schemas.openxmlformats.org/drawingml/2006/main" x="609600" y="2047875"/>
          <a:ext xmlns:a="http://schemas.openxmlformats.org/drawingml/2006/main" cx="10972800" cy="2095500"/>
        </p:xfrm>
        <a:graphic xmlns:a="http://schemas.openxmlformats.org/drawingml/2006/main">
          <a:graphicData uri="http://schemas.openxmlformats.org/drawingml/2006/table">
            <a:tbl>
              <a:tblPr/>
              <a:tblGrid>
                <a:gridCol w="4000500"/>
                <a:gridCol w="2324100"/>
                <a:gridCol w="2324100"/>
                <a:gridCol w="2324100"/>
              </a:tblGrid>
              <a:tr h="698500">
                <a:tc>
                  <a:txBody>
                    <a:bodyPr/>
                    <a:lstStyle/>
                    <a:p>
                      <a:r>
                        <a:rPr sz="1650" b="1">
                          <a:solidFill>
                            <a:srgbClr val="FFFFFF"/>
                          </a:solidFill>
                          <a:latin typeface="Arial"/>
                          <a:ea typeface="Arial"/>
                          <a:cs typeface="Arial"/>
                        </a:rPr>
                        <a:t>Approach / configuration</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1]</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2]</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3]</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698500">
                <a:tc>
                  <a:txBody>
                    <a:bodyPr/>
                    <a:lstStyle/>
                    <a:p>
                      <a:r>
                        <a:rPr sz="1650" b="0">
                          <a:solidFill>
                            <a:srgbClr val="233247"/>
                          </a:solidFill>
                          <a:latin typeface="Arial"/>
                          <a:ea typeface="Arial"/>
                          <a:cs typeface="Arial"/>
                        </a:rPr>
                        <a:t>[Approach A]</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 result]</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 result]</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 result]</a:t>
                      </a:r>
                    </a:p>
                  </a:txBody>
                  <a:tcPr marL="91440" marR="91440" marT="45720" marB="45720">
                    <a:lnR w="9525">
                      <a:solidFill>
                        <a:srgbClr val="CDD7DF"/>
                      </a:solidFill>
                      <a:prstDash val="solid"/>
                    </a:lnR>
                    <a:lnB w="9525">
                      <a:solidFill>
                        <a:srgbClr val="CDD7DF"/>
                      </a:solidFill>
                      <a:prstDash val="solid"/>
                    </a:lnB>
                    <a:solidFill>
                      <a:srgbClr val="F0F5F7"/>
                    </a:solidFill>
                  </a:tcPr>
                </a:tc>
              </a:tr>
              <a:tr h="698500">
                <a:tc>
                  <a:txBody>
                    <a:bodyPr/>
                    <a:lstStyle/>
                    <a:p>
                      <a:r>
                        <a:rPr sz="1650" b="0">
                          <a:solidFill>
                            <a:srgbClr val="233247"/>
                          </a:solidFill>
                          <a:latin typeface="Arial"/>
                          <a:ea typeface="Arial"/>
                          <a:cs typeface="Arial"/>
                        </a:rPr>
                        <a:t>[Approach B]</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 result]</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 result]</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 result]</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7D322C2-0A52-4759-AAEB-4AE4EA38E33E}"/>
              </a:ext>
            </a:extLst>
          </p:cNvPr>
          <p:cNvSpPr>
            <a:spLocks xmlns:a="http://schemas.openxmlformats.org/drawingml/2006/main" noGrp="1"/>
          </p:cNvSpPr>
          <p:nvPr/>
        </p:nvSpPr>
        <p:spPr>
          <a:xfrm xmlns:a="http://schemas.openxmlformats.org/drawingml/2006/main">
            <a:off x="685800" y="4429125"/>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875" b="0">
                <a:solidFill>
                  <a:srgbClr val="233247"/>
                </a:solidFill>
                <a:latin typeface="Arial"/>
                <a:ea typeface="Arial"/>
                <a:cs typeface="Arial"/>
              </a:rPr>
              <a:t>Evaluation data: [Final-data records, subset and evaluation setup]</a:t>
            </a:r>
          </a:p>
        </p:txBody>
      </p:sp>
      <p:sp>
        <p:nvSpPr>
          <p:cNvPr id="6" name="">
            <a:extLst xmlns:a="http://schemas.openxmlformats.org/drawingml/2006/main">
              <a:ext uri="{FF2B5EF4-FFF2-40B4-BE49-F238E27FC236}">
                <a16:creationId xmlns:a16="http://schemas.microsoft.com/office/drawing/2014/main" id="{55789FB3-CBB4-4A8A-A567-D7BA9CB667B9}"/>
              </a:ext>
            </a:extLst>
          </p:cNvPr>
          <p:cNvSpPr>
            <a:spLocks xmlns:a="http://schemas.openxmlformats.org/drawingml/2006/main" noGrp="1"/>
          </p:cNvSpPr>
          <p:nvPr/>
        </p:nvSpPr>
        <p:spPr>
          <a:xfrm xmlns:a="http://schemas.openxmlformats.org/drawingml/2006/main">
            <a:off x="685800" y="5286375"/>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875" b="0">
                <a:solidFill>
                  <a:srgbClr val="233247"/>
                </a:solidFill>
                <a:latin typeface="Arial"/>
                <a:ea typeface="Arial"/>
                <a:cs typeface="Arial"/>
              </a:rPr>
              <a:t>Interpretation: [Selected approach, business meaning and limitation]</a:t>
            </a:r>
          </a:p>
        </p:txBody>
      </p:sp>
    </p:spTree>
    <p:extLst>
      <p:ext uri="{BB962C8B-B14F-4D97-AF65-F5344CB8AC3E}">
        <p14:creationId xmlns:p14="http://schemas.microsoft.com/office/powerpoint/2010/main" val="20558782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0E9F37-639D-4246-AF3B-4C040AF937E8}"/>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7B39A008-B14A-400A-B17C-5ACE4BE13EFD}"/>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Method 2 implementation</a:t>
            </a:r>
          </a:p>
        </p:txBody>
      </p:sp>
      <p:sp>
        <p:nvSpPr>
          <p:cNvPr id="3" name="">
            <a:extLst xmlns:a="http://schemas.openxmlformats.org/drawingml/2006/main">
              <a:ext uri="{FF2B5EF4-FFF2-40B4-BE49-F238E27FC236}">
                <a16:creationId xmlns:a16="http://schemas.microsoft.com/office/drawing/2014/main" id="{400AEDA9-D1EF-49B0-8EC7-EB9C731CAF80}"/>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E6D144C8-4E31-4C1F-8148-17B4DBCE0DA2}"/>
              </a:ext>
            </a:extLst>
          </p:cNvPr>
          <p:cNvSpPr>
            <a:spLocks xmlns:a="http://schemas.openxmlformats.org/drawingml/2006/main" noGrp="1"/>
          </p:cNvSpPr>
          <p:nvPr/>
        </p:nvSpPr>
        <p:spPr>
          <a:xfrm xmlns:a="http://schemas.openxmlformats.org/drawingml/2006/main">
            <a:off x="685800" y="20193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Selected method: [Method 2 name and purpose]</a:t>
            </a:r>
          </a:p>
        </p:txBody>
      </p:sp>
      <p:sp>
        <p:nvSpPr>
          <p:cNvPr id="5" name="">
            <a:extLst xmlns:a="http://schemas.openxmlformats.org/drawingml/2006/main">
              <a:ext uri="{FF2B5EF4-FFF2-40B4-BE49-F238E27FC236}">
                <a16:creationId xmlns:a16="http://schemas.microsoft.com/office/drawing/2014/main" id="{0C0900EB-1B60-44F0-8102-7BBACAA3517F}"/>
              </a:ext>
            </a:extLst>
          </p:cNvPr>
          <p:cNvSpPr>
            <a:spLocks xmlns:a="http://schemas.openxmlformats.org/drawingml/2006/main" noGrp="1"/>
          </p:cNvSpPr>
          <p:nvPr/>
        </p:nvSpPr>
        <p:spPr>
          <a:xfrm xmlns:a="http://schemas.openxmlformats.org/drawingml/2006/main">
            <a:off x="685800" y="2838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Input and preparation: [Final-data subset and transformations]</a:t>
            </a:r>
          </a:p>
        </p:txBody>
      </p:sp>
      <p:sp>
        <p:nvSpPr>
          <p:cNvPr id="6" name="">
            <a:extLst xmlns:a="http://schemas.openxmlformats.org/drawingml/2006/main">
              <a:ext uri="{FF2B5EF4-FFF2-40B4-BE49-F238E27FC236}">
                <a16:creationId xmlns:a16="http://schemas.microsoft.com/office/drawing/2014/main" id="{878C613F-0AE4-461E-A735-039F81AECD9D}"/>
              </a:ext>
            </a:extLst>
          </p:cNvPr>
          <p:cNvSpPr>
            <a:spLocks xmlns:a="http://schemas.openxmlformats.org/drawingml/2006/main" noGrp="1"/>
          </p:cNvSpPr>
          <p:nvPr/>
        </p:nvSpPr>
        <p:spPr>
          <a:xfrm xmlns:a="http://schemas.openxmlformats.org/drawingml/2006/main">
            <a:off x="685800" y="36576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Implementation: [Algorithm, parameters and tools]</a:t>
            </a:r>
          </a:p>
        </p:txBody>
      </p:sp>
      <p:sp>
        <p:nvSpPr>
          <p:cNvPr id="7" name="">
            <a:extLst xmlns:a="http://schemas.openxmlformats.org/drawingml/2006/main">
              <a:ext uri="{FF2B5EF4-FFF2-40B4-BE49-F238E27FC236}">
                <a16:creationId xmlns:a16="http://schemas.microsoft.com/office/drawing/2014/main" id="{8204A492-FAC6-4974-8483-659032AA8362}"/>
              </a:ext>
            </a:extLst>
          </p:cNvPr>
          <p:cNvSpPr>
            <a:spLocks xmlns:a="http://schemas.openxmlformats.org/drawingml/2006/main" noGrp="1"/>
          </p:cNvSpPr>
          <p:nvPr/>
        </p:nvSpPr>
        <p:spPr>
          <a:xfrm xmlns:a="http://schemas.openxmlformats.org/drawingml/2006/main">
            <a:off x="685800" y="44767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Output: [Actual forecast, text result or association rules]</a:t>
            </a:r>
          </a:p>
        </p:txBody>
      </p:sp>
    </p:spTree>
    <p:extLst>
      <p:ext uri="{BB962C8B-B14F-4D97-AF65-F5344CB8AC3E}">
        <p14:creationId xmlns:p14="http://schemas.microsoft.com/office/powerpoint/2010/main" val="144301345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058891-18A5-414B-856B-FE11F25A696B}"/>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
            <a:extLst xmlns:a="http://schemas.openxmlformats.org/drawingml/2006/main">
              <a:ext uri="{FF2B5EF4-FFF2-40B4-BE49-F238E27FC236}">
                <a16:creationId xmlns:a16="http://schemas.microsoft.com/office/drawing/2014/main" id="{783AB2B7-C380-4333-8683-F6BBF01123FD}"/>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Method 2 evaluation and comparison</a:t>
            </a:r>
          </a:p>
        </p:txBody>
      </p:sp>
      <p:sp>
        <p:nvSpPr>
          <p:cNvPr id="3" name="">
            <a:extLst xmlns:a="http://schemas.openxmlformats.org/drawingml/2006/main">
              <a:ext uri="{FF2B5EF4-FFF2-40B4-BE49-F238E27FC236}">
                <a16:creationId xmlns:a16="http://schemas.microsoft.com/office/drawing/2014/main" id="{5260EA7B-3BBC-4C86-9EB4-FC754B5614C4}"/>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E7A23880-1490-47B2-AD56-821CBFA136CC}"/>
              </a:ext>
            </a:extLst>
          </p:cNvPr>
          <p:cNvGraphicFramePr/>
          <p:nvPr/>
        </p:nvGraphicFramePr>
        <p:xfrm>
          <a:off xmlns:a="http://schemas.openxmlformats.org/drawingml/2006/main" x="609600" y="2047875"/>
          <a:ext xmlns:a="http://schemas.openxmlformats.org/drawingml/2006/main" cx="10972800" cy="2095500"/>
        </p:xfrm>
        <a:graphic xmlns:a="http://schemas.openxmlformats.org/drawingml/2006/main">
          <a:graphicData uri="http://schemas.openxmlformats.org/drawingml/2006/table">
            <a:tbl>
              <a:tblPr/>
              <a:tblGrid>
                <a:gridCol w="4000500"/>
                <a:gridCol w="2324100"/>
                <a:gridCol w="2324100"/>
                <a:gridCol w="2324100"/>
              </a:tblGrid>
              <a:tr h="698500">
                <a:tc>
                  <a:txBody>
                    <a:bodyPr/>
                    <a:lstStyle/>
                    <a:p>
                      <a:r>
                        <a:rPr sz="1650" b="1">
                          <a:solidFill>
                            <a:srgbClr val="FFFFFF"/>
                          </a:solidFill>
                          <a:latin typeface="Arial"/>
                          <a:ea typeface="Arial"/>
                          <a:cs typeface="Arial"/>
                        </a:rPr>
                        <a:t>Approach / configuration</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1]</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2]</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3]</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698500">
                <a:tc>
                  <a:txBody>
                    <a:bodyPr/>
                    <a:lstStyle/>
                    <a:p>
                      <a:r>
                        <a:rPr sz="1650" b="0">
                          <a:solidFill>
                            <a:srgbClr val="233247"/>
                          </a:solidFill>
                          <a:latin typeface="Arial"/>
                          <a:ea typeface="Arial"/>
                          <a:cs typeface="Arial"/>
                        </a:rPr>
                        <a:t>[Approach A]</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 result]</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 result]</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 result]</a:t>
                      </a:r>
                    </a:p>
                  </a:txBody>
                  <a:tcPr marL="91440" marR="91440" marT="45720" marB="45720">
                    <a:lnR w="9525">
                      <a:solidFill>
                        <a:srgbClr val="CDD7DF"/>
                      </a:solidFill>
                      <a:prstDash val="solid"/>
                    </a:lnR>
                    <a:lnB w="9525">
                      <a:solidFill>
                        <a:srgbClr val="CDD7DF"/>
                      </a:solidFill>
                      <a:prstDash val="solid"/>
                    </a:lnB>
                    <a:solidFill>
                      <a:srgbClr val="F0F5F7"/>
                    </a:solidFill>
                  </a:tcPr>
                </a:tc>
              </a:tr>
              <a:tr h="698500">
                <a:tc>
                  <a:txBody>
                    <a:bodyPr/>
                    <a:lstStyle/>
                    <a:p>
                      <a:r>
                        <a:rPr sz="1650" b="0">
                          <a:solidFill>
                            <a:srgbClr val="233247"/>
                          </a:solidFill>
                          <a:latin typeface="Arial"/>
                          <a:ea typeface="Arial"/>
                          <a:cs typeface="Arial"/>
                        </a:rPr>
                        <a:t>[Approach B]</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 result]</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 result]</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 result]</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FBBCF54-64EE-45B6-BD01-F09AAEC5E7AF}"/>
              </a:ext>
            </a:extLst>
          </p:cNvPr>
          <p:cNvSpPr>
            <a:spLocks xmlns:a="http://schemas.openxmlformats.org/drawingml/2006/main" noGrp="1"/>
          </p:cNvSpPr>
          <p:nvPr/>
        </p:nvSpPr>
        <p:spPr>
          <a:xfrm xmlns:a="http://schemas.openxmlformats.org/drawingml/2006/main">
            <a:off x="685800" y="4429125"/>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875" b="0">
                <a:solidFill>
                  <a:srgbClr val="233247"/>
                </a:solidFill>
                <a:latin typeface="Arial"/>
                <a:ea typeface="Arial"/>
                <a:cs typeface="Arial"/>
              </a:rPr>
              <a:t>Evaluation data: [Final-data records, subset and evaluation setup]</a:t>
            </a:r>
          </a:p>
        </p:txBody>
      </p:sp>
      <p:sp>
        <p:nvSpPr>
          <p:cNvPr id="6" name="">
            <a:extLst xmlns:a="http://schemas.openxmlformats.org/drawingml/2006/main">
              <a:ext uri="{FF2B5EF4-FFF2-40B4-BE49-F238E27FC236}">
                <a16:creationId xmlns:a16="http://schemas.microsoft.com/office/drawing/2014/main" id="{5191BCC3-0A13-4EAB-B38D-D4450625F4BE}"/>
              </a:ext>
            </a:extLst>
          </p:cNvPr>
          <p:cNvSpPr>
            <a:spLocks xmlns:a="http://schemas.openxmlformats.org/drawingml/2006/main" noGrp="1"/>
          </p:cNvSpPr>
          <p:nvPr/>
        </p:nvSpPr>
        <p:spPr>
          <a:xfrm xmlns:a="http://schemas.openxmlformats.org/drawingml/2006/main">
            <a:off x="685800" y="5286375"/>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33247"/>
                </a:solidFill>
                <a:latin typeface="Arial"/>
                <a:ea typeface="Arial"/>
                <a:cs typeface="Arial"/>
              </a:defRPr>
            </a:defPPr>
          </a:lstStyle>
          <a:p xmlns:a="http://schemas.openxmlformats.org/drawingml/2006/main">
            <a:pPr>
              <a:defRPr sz="1875" b="0">
                <a:solidFill>
                  <a:srgbClr val="233247"/>
                </a:solidFill>
                <a:latin typeface="Arial"/>
                <a:ea typeface="Arial"/>
                <a:cs typeface="Arial"/>
              </a:defRPr>
            </a:pPr>
            <a:r>
              <a:rPr sz="1875" b="0">
                <a:solidFill>
                  <a:srgbClr val="233247"/>
                </a:solidFill>
                <a:latin typeface="Arial"/>
                <a:ea typeface="Arial"/>
                <a:cs typeface="Arial"/>
              </a:rPr>
              <a:t>Interpretation: [Selected approach, business meaning and limitation]</a:t>
            </a:r>
          </a:p>
        </p:txBody>
      </p:sp>
    </p:spTree>
    <p:extLst>
      <p:ext uri="{BB962C8B-B14F-4D97-AF65-F5344CB8AC3E}">
        <p14:creationId xmlns:p14="http://schemas.microsoft.com/office/powerpoint/2010/main" val="136146687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2DBF9C-744E-492C-A7E5-BDEFF7589C7B}"/>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BUSINESS OUTCOMES</a:t>
            </a:r>
          </a:p>
        </p:txBody>
      </p:sp>
      <p:sp>
        <p:nvSpPr>
          <p:cNvPr id="2" name="">
            <a:extLst xmlns:a="http://schemas.openxmlformats.org/drawingml/2006/main">
              <a:ext uri="{FF2B5EF4-FFF2-40B4-BE49-F238E27FC236}">
                <a16:creationId xmlns:a16="http://schemas.microsoft.com/office/drawing/2014/main" id="{2DABD7BE-F155-4E5B-8B7C-CEB00E6CAB55}"/>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Combined insights and recommendations</a:t>
            </a:r>
          </a:p>
        </p:txBody>
      </p:sp>
      <p:sp>
        <p:nvSpPr>
          <p:cNvPr id="3" name="">
            <a:extLst xmlns:a="http://schemas.openxmlformats.org/drawingml/2006/main">
              <a:ext uri="{FF2B5EF4-FFF2-40B4-BE49-F238E27FC236}">
                <a16:creationId xmlns:a16="http://schemas.microsoft.com/office/drawing/2014/main" id="{8EB3C204-9B86-4425-8ACC-1F35AFE39C73}"/>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E302BA3C-6A30-4CD9-AEDE-C59CC09F7462}"/>
              </a:ext>
            </a:extLst>
          </p:cNvPr>
          <p:cNvGraphicFramePr/>
          <p:nvPr/>
        </p:nvGraphicFramePr>
        <p:xfrm>
          <a:off xmlns:a="http://schemas.openxmlformats.org/drawingml/2006/main" x="609600" y="2143125"/>
          <a:ext xmlns:a="http://schemas.openxmlformats.org/drawingml/2006/main" cx="10972800" cy="2857500"/>
        </p:xfrm>
        <a:graphic xmlns:a="http://schemas.openxmlformats.org/drawingml/2006/main">
          <a:graphicData uri="http://schemas.openxmlformats.org/drawingml/2006/table">
            <a:tbl>
              <a:tblPr/>
              <a:tblGrid>
                <a:gridCol w="4000500"/>
                <a:gridCol w="3619500"/>
                <a:gridCol w="3352800"/>
              </a:tblGrid>
              <a:tr h="952500">
                <a:tc>
                  <a:txBody>
                    <a:bodyPr/>
                    <a:lstStyle/>
                    <a:p>
                      <a:r>
                        <a:rPr sz="1650" b="1">
                          <a:solidFill>
                            <a:srgbClr val="FFFFFF"/>
                          </a:solidFill>
                          <a:latin typeface="Arial"/>
                          <a:ea typeface="Arial"/>
                          <a:cs typeface="Arial"/>
                        </a:rPr>
                        <a:t>Evidence from the project</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Recommended action</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Expected benefit / limitation</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952500">
                <a:tc>
                  <a:txBody>
                    <a:bodyPr/>
                    <a:lstStyle/>
                    <a:p>
                      <a:r>
                        <a:rPr sz="1650" b="0">
                          <a:solidFill>
                            <a:srgbClr val="233247"/>
                          </a:solidFill>
                          <a:latin typeface="Arial"/>
                          <a:ea typeface="Arial"/>
                          <a:cs typeface="Arial"/>
                        </a:rPr>
                        <a:t>[Unit 2 + Unit 3 finding]</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[Specific business action]</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[Benefit and assumption]</a:t>
                      </a:r>
                    </a:p>
                  </a:txBody>
                  <a:tcPr marL="91440" marR="91440" marT="45720" marB="45720">
                    <a:lnR w="9525">
                      <a:solidFill>
                        <a:srgbClr val="CDD7DF"/>
                      </a:solidFill>
                      <a:prstDash val="solid"/>
                    </a:lnR>
                    <a:lnB w="9525">
                      <a:solidFill>
                        <a:srgbClr val="CDD7DF"/>
                      </a:solidFill>
                      <a:prstDash val="solid"/>
                    </a:lnB>
                    <a:solidFill>
                      <a:srgbClr val="F0F5F7"/>
                    </a:solidFill>
                  </a:tcPr>
                </a:tc>
              </a:tr>
              <a:tr h="952500">
                <a:tc>
                  <a:txBody>
                    <a:bodyPr/>
                    <a:lstStyle/>
                    <a:p>
                      <a:r>
                        <a:rPr sz="1650" b="0">
                          <a:solidFill>
                            <a:srgbClr val="233247"/>
                          </a:solidFill>
                          <a:latin typeface="Arial"/>
                          <a:ea typeface="Arial"/>
                          <a:cs typeface="Arial"/>
                        </a:rPr>
                        <a:t>[Finding across both Unit 3 methods]</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[Specific business action]</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[Benefit and limitation]</a:t>
                      </a:r>
                    </a:p>
                  </a:txBody>
                  <a:tcPr marL="91440" marR="91440" marT="45720" marB="45720">
                    <a:lnR w="9525">
                      <a:solidFill>
                        <a:srgbClr val="CDD7DF"/>
                      </a:solidFill>
                      <a:prstDash val="solid"/>
                    </a:lnR>
                    <a:lnB w="9525">
                      <a:solidFill>
                        <a:srgbClr val="CDD7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427B3EC-740C-4640-BB6D-A6F13A67A394}"/>
              </a:ext>
            </a:extLst>
          </p:cNvPr>
          <p:cNvSpPr>
            <a:spLocks xmlns:a="http://schemas.openxmlformats.org/drawingml/2006/main" noGrp="1"/>
          </p:cNvSpPr>
          <p:nvPr/>
        </p:nvSpPr>
        <p:spPr>
          <a:xfrm xmlns:a="http://schemas.openxmlformats.org/drawingml/2006/main">
            <a:off x="685800" y="5476875"/>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233247"/>
                </a:solidFill>
                <a:latin typeface="Arial"/>
                <a:ea typeface="Arial"/>
                <a:cs typeface="Arial"/>
              </a:defRPr>
            </a:defPPr>
          </a:lstStyle>
          <a:p xmlns:a="http://schemas.openxmlformats.org/drawingml/2006/main">
            <a:pPr>
              <a:defRPr sz="1950" b="0">
                <a:solidFill>
                  <a:srgbClr val="233247"/>
                </a:solidFill>
                <a:latin typeface="Arial"/>
                <a:ea typeface="Arial"/>
                <a:cs typeface="Arial"/>
              </a:defRPr>
            </a:pPr>
            <a:r>
              <a:rPr sz="1950" b="0">
                <a:solidFill>
                  <a:srgbClr val="233247"/>
                </a:solidFill>
                <a:latin typeface="Arial"/>
                <a:ea typeface="Arial"/>
                <a:cs typeface="Arial"/>
              </a:rPr>
              <a:t>Business objective addressed: [Explain the overall outcome]</a:t>
            </a:r>
          </a:p>
        </p:txBody>
      </p:sp>
    </p:spTree>
    <p:extLst>
      <p:ext uri="{BB962C8B-B14F-4D97-AF65-F5344CB8AC3E}">
        <p14:creationId xmlns:p14="http://schemas.microsoft.com/office/powerpoint/2010/main" val="19362603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3E0F18-477D-4762-971E-5CA6A560D37E}"/>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MANDATORY LIVE DEMONSTRATION</a:t>
            </a:r>
          </a:p>
        </p:txBody>
      </p:sp>
      <p:sp>
        <p:nvSpPr>
          <p:cNvPr id="2" name="">
            <a:extLst xmlns:a="http://schemas.openxmlformats.org/drawingml/2006/main">
              <a:ext uri="{FF2B5EF4-FFF2-40B4-BE49-F238E27FC236}">
                <a16:creationId xmlns:a16="http://schemas.microsoft.com/office/drawing/2014/main" id="{8C0E321D-DD7C-40A2-8CD0-AAF7C8D32984}"/>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Interactive dashboard or website</a:t>
            </a:r>
          </a:p>
        </p:txBody>
      </p:sp>
      <p:sp>
        <p:nvSpPr>
          <p:cNvPr id="3" name="">
            <a:extLst xmlns:a="http://schemas.openxmlformats.org/drawingml/2006/main">
              <a:ext uri="{FF2B5EF4-FFF2-40B4-BE49-F238E27FC236}">
                <a16:creationId xmlns:a16="http://schemas.microsoft.com/office/drawing/2014/main" id="{740C65A0-85F7-48CD-A9F0-1A88D47161BA}"/>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0880743C-0EA1-46B2-9CF4-F59562FB79C8}"/>
              </a:ext>
            </a:extLst>
          </p:cNvPr>
          <p:cNvSpPr>
            <a:spLocks xmlns:a="http://schemas.openxmlformats.org/drawingml/2006/main" noGrp="1"/>
          </p:cNvSpPr>
          <p:nvPr/>
        </p:nvSpPr>
        <p:spPr>
          <a:xfrm xmlns:a="http://schemas.openxmlformats.org/drawingml/2006/main">
            <a:off x="685800" y="20193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Application: [Name and clickable URL / local launch details]</a:t>
            </a:r>
          </a:p>
        </p:txBody>
      </p:sp>
      <p:sp>
        <p:nvSpPr>
          <p:cNvPr id="5" name="">
            <a:extLst xmlns:a="http://schemas.openxmlformats.org/drawingml/2006/main">
              <a:ext uri="{FF2B5EF4-FFF2-40B4-BE49-F238E27FC236}">
                <a16:creationId xmlns:a16="http://schemas.microsoft.com/office/drawing/2014/main" id="{27A83C2B-91B9-4C74-A867-C6B158403C13}"/>
              </a:ext>
            </a:extLst>
          </p:cNvPr>
          <p:cNvSpPr>
            <a:spLocks xmlns:a="http://schemas.openxmlformats.org/drawingml/2006/main" noGrp="1"/>
          </p:cNvSpPr>
          <p:nvPr/>
        </p:nvSpPr>
        <p:spPr>
          <a:xfrm xmlns:a="http://schemas.openxmlformats.org/drawingml/2006/main">
            <a:off x="685800" y="2838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[Insert one clear screenshot of the final application]</a:t>
            </a:r>
          </a:p>
        </p:txBody>
      </p:sp>
      <p:sp>
        <p:nvSpPr>
          <p:cNvPr id="6" name="">
            <a:extLst xmlns:a="http://schemas.openxmlformats.org/drawingml/2006/main">
              <a:ext uri="{FF2B5EF4-FFF2-40B4-BE49-F238E27FC236}">
                <a16:creationId xmlns:a16="http://schemas.microsoft.com/office/drawing/2014/main" id="{93497154-6AB2-4230-8A48-5CCF86C6154E}"/>
              </a:ext>
            </a:extLst>
          </p:cNvPr>
          <p:cNvSpPr>
            <a:spLocks xmlns:a="http://schemas.openxmlformats.org/drawingml/2006/main" noGrp="1"/>
          </p:cNvSpPr>
          <p:nvPr/>
        </p:nvSpPr>
        <p:spPr>
          <a:xfrm xmlns:a="http://schemas.openxmlformats.org/drawingml/2006/main">
            <a:off x="685800" y="36576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Live demo: [Change a filter / selector and show updated results]</a:t>
            </a:r>
          </a:p>
        </p:txBody>
      </p:sp>
      <p:sp>
        <p:nvSpPr>
          <p:cNvPr id="7" name="">
            <a:extLst xmlns:a="http://schemas.openxmlformats.org/drawingml/2006/main">
              <a:ext uri="{FF2B5EF4-FFF2-40B4-BE49-F238E27FC236}">
                <a16:creationId xmlns:a16="http://schemas.microsoft.com/office/drawing/2014/main" id="{9A38DA68-B5B4-4369-B709-940A40FCC51E}"/>
              </a:ext>
            </a:extLst>
          </p:cNvPr>
          <p:cNvSpPr>
            <a:spLocks xmlns:a="http://schemas.openxmlformats.org/drawingml/2006/main" noGrp="1"/>
          </p:cNvSpPr>
          <p:nvPr/>
        </p:nvSpPr>
        <p:spPr>
          <a:xfrm xmlns:a="http://schemas.openxmlformats.org/drawingml/2006/main">
            <a:off x="685800" y="44767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Business scenario: [Use the application to answer a real question]</a:t>
            </a:r>
          </a:p>
        </p:txBody>
      </p:sp>
    </p:spTree>
    <p:extLst>
      <p:ext uri="{BB962C8B-B14F-4D97-AF65-F5344CB8AC3E}">
        <p14:creationId xmlns:p14="http://schemas.microsoft.com/office/powerpoint/2010/main" val="147810379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E938C6-860B-4635-A66D-4DF17DF3BAD0}"/>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100% PROJECT IMPLEMENTATION</a:t>
            </a:r>
          </a:p>
        </p:txBody>
      </p:sp>
      <p:sp>
        <p:nvSpPr>
          <p:cNvPr id="2" name="">
            <a:extLst xmlns:a="http://schemas.openxmlformats.org/drawingml/2006/main">
              <a:ext uri="{FF2B5EF4-FFF2-40B4-BE49-F238E27FC236}">
                <a16:creationId xmlns:a16="http://schemas.microsoft.com/office/drawing/2014/main" id="{53E8BDEE-51BC-4EB0-9606-BE325A7B9E2E}"/>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Completion and individual contribution</a:t>
            </a:r>
          </a:p>
        </p:txBody>
      </p:sp>
      <p:sp>
        <p:nvSpPr>
          <p:cNvPr id="3" name="">
            <a:extLst xmlns:a="http://schemas.openxmlformats.org/drawingml/2006/main">
              <a:ext uri="{FF2B5EF4-FFF2-40B4-BE49-F238E27FC236}">
                <a16:creationId xmlns:a16="http://schemas.microsoft.com/office/drawing/2014/main" id="{2CE01CEC-B3F6-4B79-ABAA-76237ECB70C5}"/>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5C96931B-A7B7-41CA-AFD9-EBB6170071EC}"/>
              </a:ext>
            </a:extLst>
          </p:cNvPr>
          <p:cNvGraphicFramePr/>
          <p:nvPr/>
        </p:nvGraphicFramePr>
        <p:xfrm>
          <a:off xmlns:a="http://schemas.openxmlformats.org/drawingml/2006/main" x="609600" y="2047875"/>
          <a:ext xmlns:a="http://schemas.openxmlformats.org/drawingml/2006/main" cx="10972800" cy="3238500"/>
        </p:xfrm>
        <a:graphic xmlns:a="http://schemas.openxmlformats.org/drawingml/2006/main">
          <a:graphicData uri="http://schemas.openxmlformats.org/drawingml/2006/table">
            <a:tbl>
              <a:tblPr/>
              <a:tblGrid>
                <a:gridCol w="3143250"/>
                <a:gridCol w="4095750"/>
                <a:gridCol w="3733800"/>
              </a:tblGrid>
              <a:tr h="539750">
                <a:tc>
                  <a:txBody>
                    <a:bodyPr/>
                    <a:lstStyle/>
                    <a:p>
                      <a:r>
                        <a:rPr sz="1650" b="1">
                          <a:solidFill>
                            <a:srgbClr val="FFFFFF"/>
                          </a:solidFill>
                          <a:latin typeface="Arial"/>
                          <a:ea typeface="Arial"/>
                          <a:cs typeface="Arial"/>
                        </a:rPr>
                        <a:t>Team member</a:t>
                      </a:r>
                    </a:p>
                  </a:txBody>
                  <a:tcPr marL="91440" marR="91440" marT="45720" marB="45720">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Completed responsibility</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Evidence / project-board task</a:t>
                      </a:r>
                    </a:p>
                  </a:txBody>
                  <a:tcPr marL="91440" marR="91440" marT="45720" marB="45720">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r>
              <a:tr h="539750">
                <a:tc>
                  <a:txBody>
                    <a:bodyPr/>
                    <a:lstStyle/>
                    <a:p>
                      <a:r>
                        <a:rPr sz="1650" b="0">
                          <a:solidFill>
                            <a:srgbClr val="233247"/>
                          </a:solidFill>
                          <a:latin typeface="Arial"/>
                          <a:ea typeface="Arial"/>
                          <a:cs typeface="Arial"/>
                        </a:rPr>
                        <a:t>[Name and register no.]</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[Specific work completed]</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[Task / file / link]</a:t>
                      </a:r>
                    </a:p>
                  </a:txBody>
                  <a:tcPr marL="91440" marR="91440" marT="45720" marB="45720">
                    <a:lnR w="9525">
                      <a:solidFill>
                        <a:srgbClr val="CDD7DF"/>
                      </a:solidFill>
                      <a:prstDash val="solid"/>
                    </a:lnR>
                    <a:lnB w="9525">
                      <a:solidFill>
                        <a:srgbClr val="CDD7DF"/>
                      </a:solidFill>
                      <a:prstDash val="solid"/>
                    </a:lnB>
                    <a:solidFill>
                      <a:srgbClr val="F0F5F7"/>
                    </a:solidFill>
                  </a:tcPr>
                </a:tc>
              </a:tr>
              <a:tr h="539750">
                <a:tc>
                  <a:txBody>
                    <a:bodyPr/>
                    <a:lstStyle/>
                    <a:p>
                      <a:r>
                        <a:rPr sz="1650" b="0">
                          <a:solidFill>
                            <a:srgbClr val="233247"/>
                          </a:solidFill>
                          <a:latin typeface="Arial"/>
                          <a:ea typeface="Arial"/>
                          <a:cs typeface="Arial"/>
                        </a:rPr>
                        <a:t>[Name and register no.]</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[Specific work completed]</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[Task / file / link]</a:t>
                      </a:r>
                    </a:p>
                  </a:txBody>
                  <a:tcPr marL="91440" marR="91440" marT="45720" marB="45720">
                    <a:lnR w="9525">
                      <a:solidFill>
                        <a:srgbClr val="CDD7DF"/>
                      </a:solidFill>
                      <a:prstDash val="solid"/>
                    </a:lnR>
                    <a:lnB w="9525">
                      <a:solidFill>
                        <a:srgbClr val="CDD7DF"/>
                      </a:solidFill>
                      <a:prstDash val="solid"/>
                    </a:lnB>
                    <a:solidFill>
                      <a:srgbClr val="FFFFFF"/>
                    </a:solidFill>
                  </a:tcPr>
                </a:tc>
              </a:tr>
              <a:tr h="539750">
                <a:tc>
                  <a:txBody>
                    <a:bodyPr/>
                    <a:lstStyle/>
                    <a:p>
                      <a:r>
                        <a:rPr sz="1650" b="0">
                          <a:solidFill>
                            <a:srgbClr val="233247"/>
                          </a:solidFill>
                          <a:latin typeface="Arial"/>
                          <a:ea typeface="Arial"/>
                          <a:cs typeface="Arial"/>
                        </a:rPr>
                        <a:t>[Name and register no.]</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[Specific work completed]</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[Task / file / link]</a:t>
                      </a:r>
                    </a:p>
                  </a:txBody>
                  <a:tcPr marL="91440" marR="91440" marT="45720" marB="45720">
                    <a:lnR w="9525">
                      <a:solidFill>
                        <a:srgbClr val="CDD7DF"/>
                      </a:solidFill>
                      <a:prstDash val="solid"/>
                    </a:lnR>
                    <a:lnB w="9525">
                      <a:solidFill>
                        <a:srgbClr val="CDD7DF"/>
                      </a:solidFill>
                      <a:prstDash val="solid"/>
                    </a:lnB>
                    <a:solidFill>
                      <a:srgbClr val="F0F5F7"/>
                    </a:solidFill>
                  </a:tcPr>
                </a:tc>
              </a:tr>
              <a:tr h="539750">
                <a:tc>
                  <a:txBody>
                    <a:bodyPr/>
                    <a:lstStyle/>
                    <a:p>
                      <a:r>
                        <a:rPr sz="1650" b="0">
                          <a:solidFill>
                            <a:srgbClr val="233247"/>
                          </a:solidFill>
                          <a:latin typeface="Arial"/>
                          <a:ea typeface="Arial"/>
                          <a:cs typeface="Arial"/>
                        </a:rPr>
                        <a:t>[Name and register no.]</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[Specific work completed]</a:t>
                      </a:r>
                    </a:p>
                  </a:txBody>
                  <a:tcPr marL="91440" marR="91440" marT="45720" marB="45720">
                    <a:lnR w="9525">
                      <a:solidFill>
                        <a:srgbClr val="CDD7DF"/>
                      </a:solidFill>
                      <a:prstDash val="solid"/>
                    </a:lnR>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[Task / file / link]</a:t>
                      </a:r>
                    </a:p>
                  </a:txBody>
                  <a:tcPr marL="91440" marR="91440" marT="45720" marB="45720">
                    <a:lnR w="9525">
                      <a:solidFill>
                        <a:srgbClr val="CDD7DF"/>
                      </a:solidFill>
                      <a:prstDash val="solid"/>
                    </a:lnR>
                    <a:lnB w="9525">
                      <a:solidFill>
                        <a:srgbClr val="CDD7DF"/>
                      </a:solidFill>
                      <a:prstDash val="solid"/>
                    </a:lnB>
                    <a:solidFill>
                      <a:srgbClr val="FFFFFF"/>
                    </a:solidFill>
                  </a:tcPr>
                </a:tc>
              </a:tr>
              <a:tr h="539750">
                <a:tc>
                  <a:txBody>
                    <a:bodyPr/>
                    <a:lstStyle/>
                    <a:p>
                      <a:r>
                        <a:rPr sz="1650" b="0">
                          <a:solidFill>
                            <a:srgbClr val="233247"/>
                          </a:solidFill>
                          <a:latin typeface="Arial"/>
                          <a:ea typeface="Arial"/>
                          <a:cs typeface="Arial"/>
                        </a:rPr>
                        <a:t>[Name and register no.]</a:t>
                      </a:r>
                    </a:p>
                  </a:txBody>
                  <a:tcPr marL="91440" marR="91440" marT="45720" marB="45720">
                    <a:lnL w="9525">
                      <a:solidFill>
                        <a:srgbClr val="CDD7DF"/>
                      </a:solidFill>
                      <a:prstDash val="solid"/>
                    </a:lnL>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[Specific work completed]</a:t>
                      </a:r>
                    </a:p>
                  </a:txBody>
                  <a:tcPr marL="91440" marR="91440" marT="45720" marB="45720">
                    <a:lnR w="9525">
                      <a:solidFill>
                        <a:srgbClr val="CDD7DF"/>
                      </a:solidFill>
                      <a:prstDash val="solid"/>
                    </a:lnR>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[Task / file / link]</a:t>
                      </a:r>
                    </a:p>
                  </a:txBody>
                  <a:tcPr marL="91440" marR="91440" marT="45720" marB="45720">
                    <a:lnR w="9525">
                      <a:solidFill>
                        <a:srgbClr val="CDD7DF"/>
                      </a:solidFill>
                      <a:prstDash val="solid"/>
                    </a:lnR>
                    <a:lnB w="9525">
                      <a:solidFill>
                        <a:srgbClr val="CDD7DF"/>
                      </a:solidFill>
                      <a:prstDash val="solid"/>
                    </a:lnB>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32CF6CB9-3CF9-4DC7-906F-7E9CEC23CFA8}"/>
              </a:ext>
            </a:extLst>
          </p:cNvPr>
          <p:cNvSpPr>
            <a:spLocks xmlns:a="http://schemas.openxmlformats.org/drawingml/2006/main" noGrp="1"/>
          </p:cNvSpPr>
          <p:nvPr/>
        </p:nvSpPr>
        <p:spPr>
          <a:xfrm xmlns:a="http://schemas.openxmlformats.org/drawingml/2006/main">
            <a:off x="685800" y="5619750"/>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33247"/>
                </a:solidFill>
                <a:latin typeface="Arial"/>
                <a:ea typeface="Arial"/>
                <a:cs typeface="Arial"/>
              </a:defRPr>
            </a:defPPr>
          </a:lstStyle>
          <a:p xmlns:a="http://schemas.openxmlformats.org/drawingml/2006/main">
            <a:pPr>
              <a:defRPr sz="1800" b="0">
                <a:solidFill>
                  <a:srgbClr val="233247"/>
                </a:solidFill>
                <a:latin typeface="Arial"/>
                <a:ea typeface="Arial"/>
                <a:cs typeface="Arial"/>
              </a:defRPr>
            </a:pPr>
            <a:r>
              <a:rPr sz="1800" b="0">
                <a:solidFill>
                  <a:srgbClr val="233247"/>
                </a:solidFill>
                <a:latin typeface="Arial"/>
                <a:ea typeface="Arial"/>
                <a:cs typeface="Arial"/>
              </a:rPr>
              <a:t>Project board: [Link]     Repository / deliverables: [Link]</a:t>
            </a:r>
          </a:p>
        </p:txBody>
      </p:sp>
    </p:spTree>
    <p:extLst>
      <p:ext uri="{BB962C8B-B14F-4D97-AF65-F5344CB8AC3E}">
        <p14:creationId xmlns:p14="http://schemas.microsoft.com/office/powerpoint/2010/main" val="15339769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6803CC-FC81-4DB3-867E-9169406E566E}"/>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57A80"/>
                </a:solidFill>
                <a:latin typeface="Arial"/>
                <a:ea typeface="Arial"/>
                <a:cs typeface="Arial"/>
              </a:defRPr>
            </a:defPPr>
          </a:lstStyle>
          <a:p xmlns:a="http://schemas.openxmlformats.org/drawingml/2006/main">
            <a:pPr>
              <a:defRPr sz="1350" b="1">
                <a:solidFill>
                  <a:srgbClr val="157A80"/>
                </a:solidFill>
                <a:latin typeface="Arial"/>
                <a:ea typeface="Arial"/>
                <a:cs typeface="Arial"/>
              </a:defRPr>
            </a:pPr>
            <a:r>
              <a:rPr sz="1350" b="1">
                <a:solidFill>
                  <a:srgbClr val="157A80"/>
                </a:solidFill>
                <a:latin typeface="Arial"/>
                <a:ea typeface="Arial"/>
                <a:cs typeface="Arial"/>
              </a:rPr>
              <a:t>FINAL PROJECT OUTCOME</a:t>
            </a:r>
          </a:p>
        </p:txBody>
      </p:sp>
      <p:sp>
        <p:nvSpPr>
          <p:cNvPr id="2" name="">
            <a:extLst xmlns:a="http://schemas.openxmlformats.org/drawingml/2006/main">
              <a:ext uri="{FF2B5EF4-FFF2-40B4-BE49-F238E27FC236}">
                <a16:creationId xmlns:a16="http://schemas.microsoft.com/office/drawing/2014/main" id="{D8153AE4-85B4-4AC7-8DCC-765143766944}"/>
              </a:ext>
            </a:extLst>
          </p:cNvPr>
          <p:cNvSpPr>
            <a:spLocks xmlns:a="http://schemas.openxmlformats.org/drawingml/2006/main" noGrp="1"/>
          </p:cNvSpPr>
          <p:nvPr/>
        </p:nvSpPr>
        <p:spPr>
          <a:xfrm xmlns:a="http://schemas.openxmlformats.org/drawingml/2006/main">
            <a:off x="609600" y="838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D4E"/>
                </a:solidFill>
                <a:latin typeface="Arial"/>
                <a:ea typeface="Arial"/>
                <a:cs typeface="Arial"/>
              </a:defRPr>
            </a:defPPr>
          </a:lstStyle>
          <a:p xmlns:a="http://schemas.openxmlformats.org/drawingml/2006/main">
            <a:pPr>
              <a:defRPr sz="3150" b="1">
                <a:solidFill>
                  <a:srgbClr val="142D4E"/>
                </a:solidFill>
                <a:latin typeface="Arial"/>
                <a:ea typeface="Arial"/>
                <a:cs typeface="Arial"/>
              </a:defRPr>
            </a:pPr>
            <a:r>
              <a:rPr sz="3150" b="1">
                <a:solidFill>
                  <a:srgbClr val="142D4E"/>
                </a:solidFill>
                <a:latin typeface="Arial"/>
                <a:ea typeface="Arial"/>
                <a:cs typeface="Arial"/>
              </a:rPr>
              <a:t>Conclusion and limitations</a:t>
            </a:r>
          </a:p>
        </p:txBody>
      </p:sp>
      <p:sp>
        <p:nvSpPr>
          <p:cNvPr id="3" name="">
            <a:extLst xmlns:a="http://schemas.openxmlformats.org/drawingml/2006/main">
              <a:ext uri="{FF2B5EF4-FFF2-40B4-BE49-F238E27FC236}">
                <a16:creationId xmlns:a16="http://schemas.microsoft.com/office/drawing/2014/main" id="{EF2C747F-EA61-439C-89A8-AD7274EEF46E}"/>
              </a:ext>
            </a:extLst>
          </p:cNvPr>
          <p:cNvSpPr>
            <a:spLocks xmlns:a="http://schemas.openxmlformats.org/drawingml/2006/main" noGrp="1"/>
          </p:cNvSpPr>
          <p:nvPr/>
        </p:nvSpPr>
        <p:spPr>
          <a:xfrm xmlns:a="http://schemas.openxmlformats.org/drawingml/2006/main">
            <a:off x="10953750" y="634365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6758A"/>
                </a:solidFill>
                <a:latin typeface="Arial"/>
                <a:ea typeface="Arial"/>
                <a:cs typeface="Arial"/>
              </a:defRPr>
            </a:defPPr>
          </a:lstStyle>
          <a:p xmlns:a="http://schemas.openxmlformats.org/drawingml/2006/main">
            <a:pPr>
              <a:defRPr sz="1200" b="0">
                <a:solidFill>
                  <a:srgbClr val="66758A"/>
                </a:solidFill>
                <a:latin typeface="Arial"/>
                <a:ea typeface="Arial"/>
                <a:cs typeface="Arial"/>
              </a:defRPr>
            </a:pPr>
            <a:r>
              <a:rPr sz="1200" b="0">
                <a:solidFill>
                  <a:srgbClr val="66758A"/>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A090B09B-3D22-4D3D-9291-CD42A174B0F2}"/>
              </a:ext>
            </a:extLst>
          </p:cNvPr>
          <p:cNvSpPr>
            <a:spLocks xmlns:a="http://schemas.openxmlformats.org/drawingml/2006/main" noGrp="1"/>
          </p:cNvSpPr>
          <p:nvPr/>
        </p:nvSpPr>
        <p:spPr>
          <a:xfrm xmlns:a="http://schemas.openxmlformats.org/drawingml/2006/main">
            <a:off x="685800" y="20193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Main outcome: [What the completed project achieved]</a:t>
            </a:r>
          </a:p>
        </p:txBody>
      </p:sp>
      <p:sp>
        <p:nvSpPr>
          <p:cNvPr id="5" name="">
            <a:extLst xmlns:a="http://schemas.openxmlformats.org/drawingml/2006/main">
              <a:ext uri="{FF2B5EF4-FFF2-40B4-BE49-F238E27FC236}">
                <a16:creationId xmlns:a16="http://schemas.microsoft.com/office/drawing/2014/main" id="{7F33CED7-ECE6-4436-B3FC-9B1FEB2006FC}"/>
              </a:ext>
            </a:extLst>
          </p:cNvPr>
          <p:cNvSpPr>
            <a:spLocks xmlns:a="http://schemas.openxmlformats.org/drawingml/2006/main" noGrp="1"/>
          </p:cNvSpPr>
          <p:nvPr/>
        </p:nvSpPr>
        <p:spPr>
          <a:xfrm xmlns:a="http://schemas.openxmlformats.org/drawingml/2006/main">
            <a:off x="685800" y="2838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Business value: [What the evidence supports]</a:t>
            </a:r>
          </a:p>
        </p:txBody>
      </p:sp>
      <p:sp>
        <p:nvSpPr>
          <p:cNvPr id="6" name="">
            <a:extLst xmlns:a="http://schemas.openxmlformats.org/drawingml/2006/main">
              <a:ext uri="{FF2B5EF4-FFF2-40B4-BE49-F238E27FC236}">
                <a16:creationId xmlns:a16="http://schemas.microsoft.com/office/drawing/2014/main" id="{62C3EDBE-8DDB-4748-8A2E-63915D6FAF3E}"/>
              </a:ext>
            </a:extLst>
          </p:cNvPr>
          <p:cNvSpPr>
            <a:spLocks xmlns:a="http://schemas.openxmlformats.org/drawingml/2006/main" noGrp="1"/>
          </p:cNvSpPr>
          <p:nvPr/>
        </p:nvSpPr>
        <p:spPr>
          <a:xfrm xmlns:a="http://schemas.openxmlformats.org/drawingml/2006/main">
            <a:off x="685800" y="36576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Limitations: [Data, model or application limitations]</a:t>
            </a:r>
          </a:p>
        </p:txBody>
      </p:sp>
      <p:sp>
        <p:nvSpPr>
          <p:cNvPr id="7" name="">
            <a:extLst xmlns:a="http://schemas.openxmlformats.org/drawingml/2006/main">
              <a:ext uri="{FF2B5EF4-FFF2-40B4-BE49-F238E27FC236}">
                <a16:creationId xmlns:a16="http://schemas.microsoft.com/office/drawing/2014/main" id="{267F9F37-67EA-4B36-8737-F205DB4ECA6F}"/>
              </a:ext>
            </a:extLst>
          </p:cNvPr>
          <p:cNvSpPr>
            <a:spLocks xmlns:a="http://schemas.openxmlformats.org/drawingml/2006/main" noGrp="1"/>
          </p:cNvSpPr>
          <p:nvPr/>
        </p:nvSpPr>
        <p:spPr>
          <a:xfrm xmlns:a="http://schemas.openxmlformats.org/drawingml/2006/main">
            <a:off x="685800" y="44767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33247"/>
                </a:solidFill>
                <a:latin typeface="Arial"/>
                <a:ea typeface="Arial"/>
                <a:cs typeface="Arial"/>
              </a:defRPr>
            </a:defPPr>
          </a:lstStyle>
          <a:p xmlns:a="http://schemas.openxmlformats.org/drawingml/2006/main">
            <a:pPr>
              <a:defRPr sz="2025" b="0">
                <a:solidFill>
                  <a:srgbClr val="233247"/>
                </a:solidFill>
                <a:latin typeface="Arial"/>
                <a:ea typeface="Arial"/>
                <a:cs typeface="Arial"/>
              </a:defRPr>
            </a:pPr>
            <a:r>
              <a:rPr sz="2025" b="0">
                <a:solidFill>
                  <a:srgbClr val="233247"/>
                </a:solidFill>
                <a:latin typeface="Arial"/>
                <a:ea typeface="Arial"/>
                <a:cs typeface="Arial"/>
              </a:rPr>
              <a:t>Future scope: [Extension beyond the completed project]</a:t>
            </a:r>
          </a:p>
        </p:txBody>
      </p:sp>
    </p:spTree>
    <p:extLst>
      <p:ext uri="{BB962C8B-B14F-4D97-AF65-F5344CB8AC3E}">
        <p14:creationId xmlns:p14="http://schemas.microsoft.com/office/powerpoint/2010/main" val="1957275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2026-10-16T08:19:46.1960000Z</dcterms:created>
  <dcterms:modified xsi:type="dcterms:W3CDTF">2026-10-16T08:19:46.1960000Z</dcterms:modified>
</coreProperties>
</file>